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46"/>
  </p:notesMasterIdLst>
  <p:handoutMasterIdLst>
    <p:handoutMasterId r:id="rId47"/>
  </p:handoutMasterIdLst>
  <p:sldIdLst>
    <p:sldId id="256" r:id="rId2"/>
    <p:sldId id="304" r:id="rId55"/>
    <p:sldId id="257" r:id="rId3"/>
    <p:sldId id="305" r:id="rId56"/>
    <p:sldId id="258" r:id="rId4"/>
    <p:sldId id="259" r:id="rId5"/>
    <p:sldId id="306" r:id="rId57"/>
    <p:sldId id="260" r:id="rId6"/>
    <p:sldId id="261" r:id="rId7"/>
    <p:sldId id="307" r:id="rId58"/>
    <p:sldId id="262" r:id="rId8"/>
    <p:sldId id="263" r:id="rId9"/>
    <p:sldId id="264" r:id="rId10"/>
    <p:sldId id="308" r:id="rId59"/>
    <p:sldId id="300" r:id="rId11"/>
    <p:sldId id="265" r:id="rId12"/>
    <p:sldId id="267" r:id="rId13"/>
    <p:sldId id="268" r:id="rId14"/>
    <p:sldId id="269" r:id="rId15"/>
    <p:sldId id="270" r:id="rId16"/>
    <p:sldId id="271" r:id="rId17"/>
    <p:sldId id="272" r:id="rId18"/>
    <p:sldId id="278" r:id="rId19"/>
    <p:sldId id="279" r:id="rId20"/>
    <p:sldId id="280" r:id="rId21"/>
    <p:sldId id="273" r:id="rId22"/>
    <p:sldId id="274" r:id="rId23"/>
    <p:sldId id="275" r:id="rId24"/>
    <p:sldId id="276" r:id="rId25"/>
    <p:sldId id="277" r:id="rId26"/>
    <p:sldId id="281" r:id="rId27"/>
    <p:sldId id="282" r:id="rId28"/>
    <p:sldId id="283" r:id="rId29"/>
    <p:sldId id="284" r:id="rId30"/>
    <p:sldId id="301" r:id="rId31"/>
    <p:sldId id="302" r:id="rId32"/>
    <p:sldId id="303" r:id="rId33"/>
    <p:sldId id="285" r:id="rId34"/>
    <p:sldId id="286" r:id="rId35"/>
    <p:sldId id="287" r:id="rId36"/>
    <p:sldId id="288" r:id="rId37"/>
    <p:sldId id="289" r:id="rId38"/>
    <p:sldId id="290" r:id="rId39"/>
    <p:sldId id="299" r:id="rId40"/>
    <p:sldId id="291" r:id="rId41"/>
    <p:sldId id="292" r:id="rId42"/>
    <p:sldId id="293" r:id="rId43"/>
    <p:sldId id="294" r:id="rId44"/>
    <p:sldId id="295" r:id="rId45"/>
  </p:sldIdLst>
  <p:sldSz cx="9144000" cy="6858000" type="screen4x3"/>
  <p:notesSz cx="6997700" cy="9283700"/>
  <p:custShowLst>
    <p:custShow name="Custom Show 1" id="0">
      <p:sldLst>
        <p:sld r:id="rId21"/>
        <p:sld r:id="rId4"/>
        <p:sld r:id="rId26"/>
        <p:sld r:id="rId7"/>
        <p:sld r:id="rId9"/>
        <p:sld r:id="rId36"/>
        <p:sld r:id="rId35"/>
        <p:sld r:id="rId12"/>
        <p:sld r:id="rId20"/>
        <p:sld r:id="rId20"/>
        <p:sld r:id="rId38"/>
        <p:sld r:id="rId15"/>
        <p:sld r:id="rId37"/>
      </p:sldLst>
    </p:custShow>
  </p:custShow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504020202030204" pitchFamily="34" charset="0"/>
        <a:ea typeface="ＭＳ Ｐゴシック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504020202030204" pitchFamily="34" charset="0"/>
        <a:ea typeface="ＭＳ Ｐゴシック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504020202030204" pitchFamily="34" charset="0"/>
        <a:ea typeface="ＭＳ Ｐゴシック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504020202030204" pitchFamily="34" charset="0"/>
        <a:ea typeface="ＭＳ Ｐゴシック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504020202030204" pitchFamily="34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sz="1600" kern="1200">
        <a:solidFill>
          <a:schemeClr val="tx1"/>
        </a:solidFill>
        <a:latin typeface="Helvetica" panose="020B0504020202030204" pitchFamily="34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sz="1600" kern="1200">
        <a:solidFill>
          <a:schemeClr val="tx1"/>
        </a:solidFill>
        <a:latin typeface="Helvetica" panose="020B0504020202030204" pitchFamily="34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sz="1600" kern="1200">
        <a:solidFill>
          <a:schemeClr val="tx1"/>
        </a:solidFill>
        <a:latin typeface="Helvetica" panose="020B0504020202030204" pitchFamily="34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sz="1600" kern="1200">
        <a:solidFill>
          <a:schemeClr val="tx1"/>
        </a:solidFill>
        <a:latin typeface="Helvetica" panose="020B0504020202030204" pitchFamily="34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679">
          <p15:clr>
            <a:srgbClr val="A4A3A4"/>
          </p15:clr>
        </p15:guide>
        <p15:guide id="2" pos="52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99"/>
    <a:srgbClr val="0066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-1445" y="-72"/>
      </p:cViewPr>
      <p:guideLst>
        <p:guide orient="horz" pos="679"/>
        <p:guide pos="52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notesMaster" Target="notesMasters/notesMaster1.xml"/><Relationship Id="rId47" Type="http://schemas.openxmlformats.org/officeDocument/2006/relationships/handoutMaster" Target="handoutMasters/handoutMaster1.xml"/><Relationship Id="rId48" Type="http://schemas.openxmlformats.org/officeDocument/2006/relationships/presProps" Target="presProps.xml"/><Relationship Id="rId49" Type="http://schemas.openxmlformats.org/officeDocument/2006/relationships/viewProps" Target="viewProps.xml"/><Relationship Id="rId50" Type="http://schemas.openxmlformats.org/officeDocument/2006/relationships/theme" Target="theme/theme1.xml"/><Relationship Id="rId51" Type="http://schemas.openxmlformats.org/officeDocument/2006/relationships/tableStyles" Target="tableStyles.xml"/><Relationship Id="rId52" Type="http://schemas.openxmlformats.org/officeDocument/2006/relationships/customXml" Target="../customXml/item1.xml"/><Relationship Id="rId53" Type="http://schemas.openxmlformats.org/officeDocument/2006/relationships/customXml" Target="../customXml/item2.xml"/><Relationship Id="rId54" Type="http://schemas.openxmlformats.org/officeDocument/2006/relationships/customXml" Target="../customXml/item3.xml"/><Relationship Id="rId55" Type="http://schemas.openxmlformats.org/officeDocument/2006/relationships/slide" Target="slides/slide45.xml"/><Relationship Id="rId56" Type="http://schemas.openxmlformats.org/officeDocument/2006/relationships/slide" Target="slides/slide46.xml"/><Relationship Id="rId57" Type="http://schemas.openxmlformats.org/officeDocument/2006/relationships/slide" Target="slides/slide47.xml"/><Relationship Id="rId58" Type="http://schemas.openxmlformats.org/officeDocument/2006/relationships/slide" Target="slides/slide48.xml"/><Relationship Id="rId59" Type="http://schemas.openxmlformats.org/officeDocument/2006/relationships/slide" Target="slides/slide49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031" tIns="46516" rIns="93031" bIns="46516" numCol="1" anchor="t" anchorCtr="0" compatLnSpc="1">
            <a:prstTxWarp prst="textNoShape">
              <a:avLst/>
            </a:prstTxWarp>
          </a:bodyPr>
          <a:lstStyle>
            <a:lvl1pPr defTabSz="930275">
              <a:defRPr sz="1200">
                <a:latin typeface="Helvetica" charset="0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837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65575" y="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031" tIns="46516" rIns="93031" bIns="46516" numCol="1" anchor="t" anchorCtr="0" compatLnSpc="1">
            <a:prstTxWarp prst="textNoShape">
              <a:avLst/>
            </a:prstTxWarp>
          </a:bodyPr>
          <a:lstStyle>
            <a:lvl1pPr algn="r" defTabSz="930275">
              <a:defRPr sz="1200">
                <a:latin typeface="Helvetica" charset="0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837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2015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031" tIns="46516" rIns="93031" bIns="46516" numCol="1" anchor="b" anchorCtr="0" compatLnSpc="1">
            <a:prstTxWarp prst="textNoShape">
              <a:avLst/>
            </a:prstTxWarp>
          </a:bodyPr>
          <a:lstStyle>
            <a:lvl1pPr defTabSz="930275">
              <a:defRPr sz="1200">
                <a:latin typeface="Helvetica" charset="0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837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65575" y="882015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031" tIns="46516" rIns="93031" bIns="46516" numCol="1" anchor="b" anchorCtr="0" compatLnSpc="1">
            <a:prstTxWarp prst="textNoShape">
              <a:avLst/>
            </a:prstTxWarp>
          </a:bodyPr>
          <a:lstStyle>
            <a:lvl1pPr algn="r" defTabSz="930275">
              <a:defRPr sz="1200"/>
            </a:lvl1pPr>
          </a:lstStyle>
          <a:p>
            <a:fld id="{6093175E-3A27-4151-B0F5-6F6483726E0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0033646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031" tIns="46516" rIns="93031" bIns="46516" numCol="1" anchor="t" anchorCtr="0" compatLnSpc="1">
            <a:prstTxWarp prst="textNoShape">
              <a:avLst/>
            </a:prstTxWarp>
          </a:bodyPr>
          <a:lstStyle>
            <a:lvl1pPr defTabSz="930275">
              <a:defRPr sz="1200">
                <a:latin typeface="Helvetica" charset="0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222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65575" y="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031" tIns="46516" rIns="93031" bIns="46516" numCol="1" anchor="t" anchorCtr="0" compatLnSpc="1">
            <a:prstTxWarp prst="textNoShape">
              <a:avLst/>
            </a:prstTxWarp>
          </a:bodyPr>
          <a:lstStyle>
            <a:lvl1pPr algn="r" defTabSz="930275">
              <a:defRPr sz="1200">
                <a:latin typeface="Helvetica" charset="0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34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77925" y="696913"/>
            <a:ext cx="4641850" cy="34813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222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3450" y="4410075"/>
            <a:ext cx="5130800" cy="417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031" tIns="46516" rIns="93031" bIns="4651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223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2015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031" tIns="46516" rIns="93031" bIns="46516" numCol="1" anchor="b" anchorCtr="0" compatLnSpc="1">
            <a:prstTxWarp prst="textNoShape">
              <a:avLst/>
            </a:prstTxWarp>
          </a:bodyPr>
          <a:lstStyle>
            <a:lvl1pPr defTabSz="930275">
              <a:defRPr sz="1200">
                <a:latin typeface="Helvetica" charset="0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223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65575" y="882015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031" tIns="46516" rIns="93031" bIns="46516" numCol="1" anchor="b" anchorCtr="0" compatLnSpc="1">
            <a:prstTxWarp prst="textNoShape">
              <a:avLst/>
            </a:prstTxWarp>
          </a:bodyPr>
          <a:lstStyle>
            <a:lvl1pPr algn="r" defTabSz="930275">
              <a:defRPr sz="1200"/>
            </a:lvl1pPr>
          </a:lstStyle>
          <a:p>
            <a:fld id="{340A5788-2E57-4B5E-A216-71568141C84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558693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ＭＳ Ｐゴシック" panose="020B0600070205080204" pitchFamily="34" charset="-128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ＭＳ Ｐゴシック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ＭＳ Ｐゴシック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ＭＳ Ｐゴシック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ＭＳ Ｐゴシック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504020202030204" pitchFamily="34" charset="0"/>
                <a:ea typeface="ＭＳ Ｐゴシック" panose="020B0600070205080204" pitchFamily="34" charset="-128"/>
              </a:defRPr>
            </a:lvl1pPr>
            <a:lvl2pPr marL="37931725" indent="-37474525" defTabSz="930275">
              <a:defRPr sz="1600">
                <a:solidFill>
                  <a:schemeClr val="tx1"/>
                </a:solidFill>
                <a:latin typeface="Helvetica" panose="020B0504020202030204" pitchFamily="34" charset="0"/>
                <a:ea typeface="ＭＳ Ｐゴシック" panose="020B0600070205080204" pitchFamily="34" charset="-128"/>
              </a:defRPr>
            </a:lvl2pPr>
            <a:lvl3pPr>
              <a:defRPr sz="1600">
                <a:solidFill>
                  <a:schemeClr val="tx1"/>
                </a:solidFill>
                <a:latin typeface="Helvetica" panose="020B0504020202030204" pitchFamily="34" charset="0"/>
                <a:ea typeface="ＭＳ Ｐゴシック" panose="020B0600070205080204" pitchFamily="34" charset="-128"/>
              </a:defRPr>
            </a:lvl3pPr>
            <a:lvl4pPr>
              <a:defRPr sz="1600">
                <a:solidFill>
                  <a:schemeClr val="tx1"/>
                </a:solidFill>
                <a:latin typeface="Helvetica" panose="020B0504020202030204" pitchFamily="34" charset="0"/>
                <a:ea typeface="ＭＳ Ｐゴシック" panose="020B0600070205080204" pitchFamily="34" charset="-128"/>
              </a:defRPr>
            </a:lvl4pPr>
            <a:lvl5pPr>
              <a:defRPr sz="1600">
                <a:solidFill>
                  <a:schemeClr val="tx1"/>
                </a:solidFill>
                <a:latin typeface="Helvetica" panose="020B050402020203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50402020203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50402020203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50402020203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504020202030204" pitchFamily="34" charset="0"/>
                <a:ea typeface="ＭＳ Ｐゴシック" panose="020B0600070205080204" pitchFamily="34" charset="-128"/>
              </a:defRPr>
            </a:lvl9pPr>
          </a:lstStyle>
          <a:p>
            <a:fld id="{75334B2E-B179-4A4A-A00A-6A81AC67B7B9}" type="slidenum">
              <a:rPr lang="en-US" altLang="en-US" sz="1200"/>
              <a:pPr/>
              <a:t>1</a:t>
            </a:fld>
            <a:endParaRPr lang="en-US" altLang="en-US" sz="1200"/>
          </a:p>
        </p:txBody>
      </p:sp>
      <p:sp>
        <p:nvSpPr>
          <p:cNvPr id="163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504020202030204" pitchFamily="34" charset="0"/>
                <a:ea typeface="ＭＳ Ｐゴシック" panose="020B0600070205080204" pitchFamily="34" charset="-128"/>
              </a:defRPr>
            </a:lvl1pPr>
            <a:lvl2pPr marL="37931725" indent="-37474525" defTabSz="930275">
              <a:defRPr sz="1600">
                <a:solidFill>
                  <a:schemeClr val="tx1"/>
                </a:solidFill>
                <a:latin typeface="Helvetica" panose="020B0504020202030204" pitchFamily="34" charset="0"/>
                <a:ea typeface="ＭＳ Ｐゴシック" panose="020B0600070205080204" pitchFamily="34" charset="-128"/>
              </a:defRPr>
            </a:lvl2pPr>
            <a:lvl3pPr>
              <a:defRPr sz="1600">
                <a:solidFill>
                  <a:schemeClr val="tx1"/>
                </a:solidFill>
                <a:latin typeface="Helvetica" panose="020B0504020202030204" pitchFamily="34" charset="0"/>
                <a:ea typeface="ＭＳ Ｐゴシック" panose="020B0600070205080204" pitchFamily="34" charset="-128"/>
              </a:defRPr>
            </a:lvl3pPr>
            <a:lvl4pPr>
              <a:defRPr sz="1600">
                <a:solidFill>
                  <a:schemeClr val="tx1"/>
                </a:solidFill>
                <a:latin typeface="Helvetica" panose="020B0504020202030204" pitchFamily="34" charset="0"/>
                <a:ea typeface="ＭＳ Ｐゴシック" panose="020B0600070205080204" pitchFamily="34" charset="-128"/>
              </a:defRPr>
            </a:lvl4pPr>
            <a:lvl5pPr>
              <a:defRPr sz="1600">
                <a:solidFill>
                  <a:schemeClr val="tx1"/>
                </a:solidFill>
                <a:latin typeface="Helvetica" panose="020B050402020203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50402020203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50402020203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50402020203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504020202030204" pitchFamily="34" charset="0"/>
                <a:ea typeface="ＭＳ Ｐゴシック" panose="020B0600070205080204" pitchFamily="34" charset="-128"/>
              </a:defRPr>
            </a:lvl9pPr>
          </a:lstStyle>
          <a:p>
            <a:fld id="{C80D61B6-A897-4A0C-9F53-0987F0263916}" type="slidenum">
              <a:rPr lang="en-US" altLang="en-US" sz="1200"/>
              <a:pPr/>
              <a:t>2</a:t>
            </a:fld>
            <a:endParaRPr lang="en-US" altLang="en-US" sz="1200"/>
          </a:p>
        </p:txBody>
      </p:sp>
      <p:sp>
        <p:nvSpPr>
          <p:cNvPr id="184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504020202030204" pitchFamily="34" charset="0"/>
                <a:ea typeface="ＭＳ Ｐゴシック" panose="020B0600070205080204" pitchFamily="34" charset="-128"/>
              </a:defRPr>
            </a:lvl1pPr>
            <a:lvl2pPr marL="37931725" indent="-37474525" defTabSz="930275">
              <a:defRPr sz="1600">
                <a:solidFill>
                  <a:schemeClr val="tx1"/>
                </a:solidFill>
                <a:latin typeface="Helvetica" panose="020B0504020202030204" pitchFamily="34" charset="0"/>
                <a:ea typeface="ＭＳ Ｐゴシック" panose="020B0600070205080204" pitchFamily="34" charset="-128"/>
              </a:defRPr>
            </a:lvl2pPr>
            <a:lvl3pPr>
              <a:defRPr sz="1600">
                <a:solidFill>
                  <a:schemeClr val="tx1"/>
                </a:solidFill>
                <a:latin typeface="Helvetica" panose="020B0504020202030204" pitchFamily="34" charset="0"/>
                <a:ea typeface="ＭＳ Ｐゴシック" panose="020B0600070205080204" pitchFamily="34" charset="-128"/>
              </a:defRPr>
            </a:lvl3pPr>
            <a:lvl4pPr>
              <a:defRPr sz="1600">
                <a:solidFill>
                  <a:schemeClr val="tx1"/>
                </a:solidFill>
                <a:latin typeface="Helvetica" panose="020B0504020202030204" pitchFamily="34" charset="0"/>
                <a:ea typeface="ＭＳ Ｐゴシック" panose="020B0600070205080204" pitchFamily="34" charset="-128"/>
              </a:defRPr>
            </a:lvl4pPr>
            <a:lvl5pPr>
              <a:defRPr sz="1600">
                <a:solidFill>
                  <a:schemeClr val="tx1"/>
                </a:solidFill>
                <a:latin typeface="Helvetica" panose="020B050402020203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50402020203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50402020203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50402020203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504020202030204" pitchFamily="34" charset="0"/>
                <a:ea typeface="ＭＳ Ｐゴシック" panose="020B0600070205080204" pitchFamily="34" charset="-128"/>
              </a:defRPr>
            </a:lvl9pPr>
          </a:lstStyle>
          <a:p>
            <a:fld id="{5A890B12-9A7F-4E60-A99F-4829EAA7D3EA}" type="slidenum">
              <a:rPr lang="en-US" altLang="en-US" sz="1200"/>
              <a:pPr/>
              <a:t>3</a:t>
            </a:fld>
            <a:endParaRPr lang="en-US" altLang="en-US" sz="1200"/>
          </a:p>
        </p:txBody>
      </p:sp>
      <p:sp>
        <p:nvSpPr>
          <p:cNvPr id="204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504020202030204" pitchFamily="34" charset="0"/>
                <a:ea typeface="ＭＳ Ｐゴシック" panose="020B0600070205080204" pitchFamily="34" charset="-128"/>
              </a:defRPr>
            </a:lvl1pPr>
            <a:lvl2pPr marL="37931725" indent="-37474525" defTabSz="930275">
              <a:defRPr sz="1600">
                <a:solidFill>
                  <a:schemeClr val="tx1"/>
                </a:solidFill>
                <a:latin typeface="Helvetica" panose="020B0504020202030204" pitchFamily="34" charset="0"/>
                <a:ea typeface="ＭＳ Ｐゴシック" panose="020B0600070205080204" pitchFamily="34" charset="-128"/>
              </a:defRPr>
            </a:lvl2pPr>
            <a:lvl3pPr>
              <a:defRPr sz="1600">
                <a:solidFill>
                  <a:schemeClr val="tx1"/>
                </a:solidFill>
                <a:latin typeface="Helvetica" panose="020B0504020202030204" pitchFamily="34" charset="0"/>
                <a:ea typeface="ＭＳ Ｐゴシック" panose="020B0600070205080204" pitchFamily="34" charset="-128"/>
              </a:defRPr>
            </a:lvl3pPr>
            <a:lvl4pPr>
              <a:defRPr sz="1600">
                <a:solidFill>
                  <a:schemeClr val="tx1"/>
                </a:solidFill>
                <a:latin typeface="Helvetica" panose="020B0504020202030204" pitchFamily="34" charset="0"/>
                <a:ea typeface="ＭＳ Ｐゴシック" panose="020B0600070205080204" pitchFamily="34" charset="-128"/>
              </a:defRPr>
            </a:lvl4pPr>
            <a:lvl5pPr>
              <a:defRPr sz="1600">
                <a:solidFill>
                  <a:schemeClr val="tx1"/>
                </a:solidFill>
                <a:latin typeface="Helvetica" panose="020B050402020203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50402020203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50402020203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50402020203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504020202030204" pitchFamily="34" charset="0"/>
                <a:ea typeface="ＭＳ Ｐゴシック" panose="020B0600070205080204" pitchFamily="34" charset="-128"/>
              </a:defRPr>
            </a:lvl9pPr>
          </a:lstStyle>
          <a:p>
            <a:fld id="{690E2E88-DFBD-49F8-962B-4110BED725A0}" type="slidenum">
              <a:rPr lang="en-US" altLang="en-US" sz="1200"/>
              <a:pPr/>
              <a:t>4</a:t>
            </a:fld>
            <a:endParaRPr lang="en-US" altLang="en-US" sz="1200"/>
          </a:p>
        </p:txBody>
      </p:sp>
      <p:sp>
        <p:nvSpPr>
          <p:cNvPr id="225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504020202030204" pitchFamily="34" charset="0"/>
                <a:ea typeface="ＭＳ Ｐゴシック" panose="020B0600070205080204" pitchFamily="34" charset="-128"/>
              </a:defRPr>
            </a:lvl1pPr>
            <a:lvl2pPr marL="37931725" indent="-37474525" defTabSz="930275">
              <a:defRPr sz="1600">
                <a:solidFill>
                  <a:schemeClr val="tx1"/>
                </a:solidFill>
                <a:latin typeface="Helvetica" panose="020B0504020202030204" pitchFamily="34" charset="0"/>
                <a:ea typeface="ＭＳ Ｐゴシック" panose="020B0600070205080204" pitchFamily="34" charset="-128"/>
              </a:defRPr>
            </a:lvl2pPr>
            <a:lvl3pPr>
              <a:defRPr sz="1600">
                <a:solidFill>
                  <a:schemeClr val="tx1"/>
                </a:solidFill>
                <a:latin typeface="Helvetica" panose="020B0504020202030204" pitchFamily="34" charset="0"/>
                <a:ea typeface="ＭＳ Ｐゴシック" panose="020B0600070205080204" pitchFamily="34" charset="-128"/>
              </a:defRPr>
            </a:lvl3pPr>
            <a:lvl4pPr>
              <a:defRPr sz="1600">
                <a:solidFill>
                  <a:schemeClr val="tx1"/>
                </a:solidFill>
                <a:latin typeface="Helvetica" panose="020B0504020202030204" pitchFamily="34" charset="0"/>
                <a:ea typeface="ＭＳ Ｐゴシック" panose="020B0600070205080204" pitchFamily="34" charset="-128"/>
              </a:defRPr>
            </a:lvl4pPr>
            <a:lvl5pPr>
              <a:defRPr sz="1600">
                <a:solidFill>
                  <a:schemeClr val="tx1"/>
                </a:solidFill>
                <a:latin typeface="Helvetica" panose="020B050402020203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50402020203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50402020203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50402020203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504020202030204" pitchFamily="34" charset="0"/>
                <a:ea typeface="ＭＳ Ｐゴシック" panose="020B0600070205080204" pitchFamily="34" charset="-128"/>
              </a:defRPr>
            </a:lvl9pPr>
          </a:lstStyle>
          <a:p>
            <a:fld id="{C5C13855-2712-48EF-A09A-34EC21636321}" type="slidenum">
              <a:rPr lang="en-US" altLang="en-US" sz="1200"/>
              <a:pPr/>
              <a:t>5</a:t>
            </a:fld>
            <a:endParaRPr lang="en-US" altLang="en-US" sz="1200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504020202030204" pitchFamily="34" charset="0"/>
                <a:ea typeface="ＭＳ Ｐゴシック" panose="020B0600070205080204" pitchFamily="34" charset="-128"/>
              </a:defRPr>
            </a:lvl1pPr>
            <a:lvl2pPr marL="37931725" indent="-37474525" defTabSz="930275">
              <a:defRPr sz="1600">
                <a:solidFill>
                  <a:schemeClr val="tx1"/>
                </a:solidFill>
                <a:latin typeface="Helvetica" panose="020B0504020202030204" pitchFamily="34" charset="0"/>
                <a:ea typeface="ＭＳ Ｐゴシック" panose="020B0600070205080204" pitchFamily="34" charset="-128"/>
              </a:defRPr>
            </a:lvl2pPr>
            <a:lvl3pPr>
              <a:defRPr sz="1600">
                <a:solidFill>
                  <a:schemeClr val="tx1"/>
                </a:solidFill>
                <a:latin typeface="Helvetica" panose="020B0504020202030204" pitchFamily="34" charset="0"/>
                <a:ea typeface="ＭＳ Ｐゴシック" panose="020B0600070205080204" pitchFamily="34" charset="-128"/>
              </a:defRPr>
            </a:lvl3pPr>
            <a:lvl4pPr>
              <a:defRPr sz="1600">
                <a:solidFill>
                  <a:schemeClr val="tx1"/>
                </a:solidFill>
                <a:latin typeface="Helvetica" panose="020B0504020202030204" pitchFamily="34" charset="0"/>
                <a:ea typeface="ＭＳ Ｐゴシック" panose="020B0600070205080204" pitchFamily="34" charset="-128"/>
              </a:defRPr>
            </a:lvl4pPr>
            <a:lvl5pPr>
              <a:defRPr sz="1600">
                <a:solidFill>
                  <a:schemeClr val="tx1"/>
                </a:solidFill>
                <a:latin typeface="Helvetica" panose="020B050402020203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50402020203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50402020203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50402020203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504020202030204" pitchFamily="34" charset="0"/>
                <a:ea typeface="ＭＳ Ｐゴシック" panose="020B0600070205080204" pitchFamily="34" charset="-128"/>
              </a:defRPr>
            </a:lvl9pPr>
          </a:lstStyle>
          <a:p>
            <a:fld id="{5E75896F-A551-4459-92C3-69948F8B4C2B}" type="slidenum">
              <a:rPr lang="en-US" altLang="en-US" sz="1200"/>
              <a:pPr/>
              <a:t>6</a:t>
            </a:fld>
            <a:endParaRPr lang="en-US" altLang="en-US" sz="120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504020202030204" pitchFamily="34" charset="0"/>
                <a:ea typeface="ＭＳ Ｐゴシック" panose="020B0600070205080204" pitchFamily="34" charset="-128"/>
              </a:defRPr>
            </a:lvl1pPr>
            <a:lvl2pPr marL="37931725" indent="-37474525" defTabSz="930275">
              <a:defRPr sz="1600">
                <a:solidFill>
                  <a:schemeClr val="tx1"/>
                </a:solidFill>
                <a:latin typeface="Helvetica" panose="020B0504020202030204" pitchFamily="34" charset="0"/>
                <a:ea typeface="ＭＳ Ｐゴシック" panose="020B0600070205080204" pitchFamily="34" charset="-128"/>
              </a:defRPr>
            </a:lvl2pPr>
            <a:lvl3pPr>
              <a:defRPr sz="1600">
                <a:solidFill>
                  <a:schemeClr val="tx1"/>
                </a:solidFill>
                <a:latin typeface="Helvetica" panose="020B0504020202030204" pitchFamily="34" charset="0"/>
                <a:ea typeface="ＭＳ Ｐゴシック" panose="020B0600070205080204" pitchFamily="34" charset="-128"/>
              </a:defRPr>
            </a:lvl3pPr>
            <a:lvl4pPr>
              <a:defRPr sz="1600">
                <a:solidFill>
                  <a:schemeClr val="tx1"/>
                </a:solidFill>
                <a:latin typeface="Helvetica" panose="020B0504020202030204" pitchFamily="34" charset="0"/>
                <a:ea typeface="ＭＳ Ｐゴシック" panose="020B0600070205080204" pitchFamily="34" charset="-128"/>
              </a:defRPr>
            </a:lvl4pPr>
            <a:lvl5pPr>
              <a:defRPr sz="1600">
                <a:solidFill>
                  <a:schemeClr val="tx1"/>
                </a:solidFill>
                <a:latin typeface="Helvetica" panose="020B050402020203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50402020203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50402020203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50402020203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504020202030204" pitchFamily="34" charset="0"/>
                <a:ea typeface="ＭＳ Ｐゴシック" panose="020B0600070205080204" pitchFamily="34" charset="-128"/>
              </a:defRPr>
            </a:lvl9pPr>
          </a:lstStyle>
          <a:p>
            <a:fld id="{EC6EF55C-B8EA-4C22-BA9F-F8565ED495F0}" type="slidenum">
              <a:rPr lang="en-US" altLang="en-US" sz="1200"/>
              <a:pPr/>
              <a:t>7</a:t>
            </a:fld>
            <a:endParaRPr lang="en-US" altLang="en-US" sz="1200"/>
          </a:p>
        </p:txBody>
      </p:sp>
      <p:sp>
        <p:nvSpPr>
          <p:cNvPr id="286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E166324-A988-4441-8A09-079169575B4E}" type="slidenum">
              <a:rPr lang="en-US" altLang="en-US"/>
              <a:pPr/>
              <a:t>11</a:t>
            </a:fld>
            <a:endParaRPr lang="en-US" altLang="en-US"/>
          </a:p>
        </p:txBody>
      </p:sp>
      <p:sp>
        <p:nvSpPr>
          <p:cNvPr id="3788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3788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3" y="4410075"/>
            <a:ext cx="5133975" cy="4176713"/>
          </a:xfrm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589004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D1D3319-7E32-4557-9052-BDE6FC87FBD6}" type="slidenum">
              <a:rPr lang="en-US" altLang="en-US"/>
              <a:pPr/>
              <a:t>12</a:t>
            </a:fld>
            <a:endParaRPr lang="en-US" altLang="en-US"/>
          </a:p>
        </p:txBody>
      </p:sp>
      <p:sp>
        <p:nvSpPr>
          <p:cNvPr id="389122" name="Rectangle 2"/>
          <p:cNvSpPr>
            <a:spLocks noChangeArrowheads="1"/>
          </p:cNvSpPr>
          <p:nvPr/>
        </p:nvSpPr>
        <p:spPr bwMode="auto">
          <a:xfrm>
            <a:off x="3965575" y="0"/>
            <a:ext cx="3032125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89123" name="Rectangle 3"/>
          <p:cNvSpPr>
            <a:spLocks noChangeArrowheads="1"/>
          </p:cNvSpPr>
          <p:nvPr/>
        </p:nvSpPr>
        <p:spPr bwMode="auto">
          <a:xfrm>
            <a:off x="3965575" y="8820150"/>
            <a:ext cx="3032125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58" tIns="45221" rIns="92058" bIns="45221" anchor="b"/>
          <a:lstStyle>
            <a:lvl1pPr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465138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930275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395413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186055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31775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77495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23215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68935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/>
            <a:r>
              <a:rPr lang="en-US" altLang="en-US" sz="1300"/>
              <a:t>2</a:t>
            </a:r>
          </a:p>
        </p:txBody>
      </p:sp>
      <p:sp>
        <p:nvSpPr>
          <p:cNvPr id="389124" name="Rectangle 4"/>
          <p:cNvSpPr>
            <a:spLocks noChangeArrowheads="1"/>
          </p:cNvSpPr>
          <p:nvPr/>
        </p:nvSpPr>
        <p:spPr bwMode="auto">
          <a:xfrm>
            <a:off x="0" y="8820150"/>
            <a:ext cx="3032125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89125" name="Rectangle 5"/>
          <p:cNvSpPr>
            <a:spLocks noChangeArrowheads="1"/>
          </p:cNvSpPr>
          <p:nvPr/>
        </p:nvSpPr>
        <p:spPr bwMode="auto">
          <a:xfrm>
            <a:off x="0" y="0"/>
            <a:ext cx="3032125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89126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 w="12700" cap="flat"/>
        </p:spPr>
      </p:sp>
      <p:sp>
        <p:nvSpPr>
          <p:cNvPr id="389127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931863" y="4410075"/>
            <a:ext cx="5133975" cy="4176713"/>
          </a:xfrm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2058" tIns="45221" rIns="92058" bIns="45221" anchor="ctr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7246124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D1667E7-A23D-4B3A-B6AA-0288538D319C}" type="slidenum">
              <a:rPr lang="en-US" altLang="en-US"/>
              <a:pPr/>
              <a:t>13</a:t>
            </a:fld>
            <a:endParaRPr lang="en-US" altLang="en-US"/>
          </a:p>
        </p:txBody>
      </p:sp>
      <p:sp>
        <p:nvSpPr>
          <p:cNvPr id="391170" name="Rectangle 2"/>
          <p:cNvSpPr>
            <a:spLocks noChangeArrowheads="1"/>
          </p:cNvSpPr>
          <p:nvPr/>
        </p:nvSpPr>
        <p:spPr bwMode="auto">
          <a:xfrm>
            <a:off x="3965575" y="0"/>
            <a:ext cx="3032125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91171" name="Rectangle 3"/>
          <p:cNvSpPr>
            <a:spLocks noChangeArrowheads="1"/>
          </p:cNvSpPr>
          <p:nvPr/>
        </p:nvSpPr>
        <p:spPr bwMode="auto">
          <a:xfrm>
            <a:off x="3965575" y="8820150"/>
            <a:ext cx="3032125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58" tIns="45221" rIns="92058" bIns="45221" anchor="b"/>
          <a:lstStyle>
            <a:lvl1pPr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465138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930275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395413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186055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31775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77495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23215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68935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/>
            <a:r>
              <a:rPr lang="en-US" altLang="en-US" sz="1300"/>
              <a:t>3</a:t>
            </a:r>
          </a:p>
        </p:txBody>
      </p:sp>
      <p:sp>
        <p:nvSpPr>
          <p:cNvPr id="391172" name="Rectangle 4"/>
          <p:cNvSpPr>
            <a:spLocks noChangeArrowheads="1"/>
          </p:cNvSpPr>
          <p:nvPr/>
        </p:nvSpPr>
        <p:spPr bwMode="auto">
          <a:xfrm>
            <a:off x="0" y="8820150"/>
            <a:ext cx="3032125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91173" name="Rectangle 5"/>
          <p:cNvSpPr>
            <a:spLocks noChangeArrowheads="1"/>
          </p:cNvSpPr>
          <p:nvPr/>
        </p:nvSpPr>
        <p:spPr bwMode="auto">
          <a:xfrm>
            <a:off x="0" y="0"/>
            <a:ext cx="3032125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91174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 w="12700" cap="flat"/>
        </p:spPr>
      </p:sp>
      <p:sp>
        <p:nvSpPr>
          <p:cNvPr id="391175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931863" y="4410075"/>
            <a:ext cx="5133975" cy="4176713"/>
          </a:xfrm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2058" tIns="45221" rIns="92058" bIns="45221" anchor="ctr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5336140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C410037-381B-4141-B0B7-16B93E105D4B}" type="slidenum">
              <a:rPr lang="en-US" altLang="en-US"/>
              <a:pPr/>
              <a:t>14</a:t>
            </a:fld>
            <a:endParaRPr lang="en-US" altLang="en-US"/>
          </a:p>
        </p:txBody>
      </p:sp>
      <p:sp>
        <p:nvSpPr>
          <p:cNvPr id="393218" name="Rectangle 2"/>
          <p:cNvSpPr>
            <a:spLocks noChangeArrowheads="1"/>
          </p:cNvSpPr>
          <p:nvPr/>
        </p:nvSpPr>
        <p:spPr bwMode="auto">
          <a:xfrm>
            <a:off x="3965575" y="0"/>
            <a:ext cx="3032125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93219" name="Rectangle 3"/>
          <p:cNvSpPr>
            <a:spLocks noChangeArrowheads="1"/>
          </p:cNvSpPr>
          <p:nvPr/>
        </p:nvSpPr>
        <p:spPr bwMode="auto">
          <a:xfrm>
            <a:off x="3965575" y="8820150"/>
            <a:ext cx="3032125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58" tIns="45221" rIns="92058" bIns="45221" anchor="b"/>
          <a:lstStyle>
            <a:lvl1pPr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465138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930275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395413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186055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31775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77495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23215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68935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/>
            <a:r>
              <a:rPr lang="en-US" altLang="en-US" sz="1300"/>
              <a:t>4</a:t>
            </a:r>
          </a:p>
        </p:txBody>
      </p:sp>
      <p:sp>
        <p:nvSpPr>
          <p:cNvPr id="393220" name="Rectangle 4"/>
          <p:cNvSpPr>
            <a:spLocks noChangeArrowheads="1"/>
          </p:cNvSpPr>
          <p:nvPr/>
        </p:nvSpPr>
        <p:spPr bwMode="auto">
          <a:xfrm>
            <a:off x="0" y="8820150"/>
            <a:ext cx="3032125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93221" name="Rectangle 5"/>
          <p:cNvSpPr>
            <a:spLocks noChangeArrowheads="1"/>
          </p:cNvSpPr>
          <p:nvPr/>
        </p:nvSpPr>
        <p:spPr bwMode="auto">
          <a:xfrm>
            <a:off x="0" y="0"/>
            <a:ext cx="3032125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93222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 w="12700" cap="flat"/>
        </p:spPr>
      </p:sp>
      <p:sp>
        <p:nvSpPr>
          <p:cNvPr id="393223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931863" y="4410075"/>
            <a:ext cx="5133975" cy="4176713"/>
          </a:xfrm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2058" tIns="45221" rIns="92058" bIns="45221" anchor="ctr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468652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FED62CC-6D55-452D-8958-59B34C08B130}" type="slidenum">
              <a:rPr lang="en-US" altLang="en-US"/>
              <a:pPr/>
              <a:t>15</a:t>
            </a:fld>
            <a:endParaRPr lang="en-US" altLang="en-US"/>
          </a:p>
        </p:txBody>
      </p:sp>
      <p:sp>
        <p:nvSpPr>
          <p:cNvPr id="395266" name="Rectangle 2"/>
          <p:cNvSpPr>
            <a:spLocks noChangeArrowheads="1"/>
          </p:cNvSpPr>
          <p:nvPr/>
        </p:nvSpPr>
        <p:spPr bwMode="auto">
          <a:xfrm>
            <a:off x="3965575" y="0"/>
            <a:ext cx="3032125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95267" name="Rectangle 3"/>
          <p:cNvSpPr>
            <a:spLocks noChangeArrowheads="1"/>
          </p:cNvSpPr>
          <p:nvPr/>
        </p:nvSpPr>
        <p:spPr bwMode="auto">
          <a:xfrm>
            <a:off x="3965575" y="8820150"/>
            <a:ext cx="3032125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58" tIns="45221" rIns="92058" bIns="45221" anchor="b"/>
          <a:lstStyle>
            <a:lvl1pPr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465138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930275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395413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186055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31775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77495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23215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68935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/>
            <a:r>
              <a:rPr lang="en-US" altLang="en-US" sz="1300"/>
              <a:t>5</a:t>
            </a:r>
          </a:p>
        </p:txBody>
      </p:sp>
      <p:sp>
        <p:nvSpPr>
          <p:cNvPr id="395268" name="Rectangle 4"/>
          <p:cNvSpPr>
            <a:spLocks noChangeArrowheads="1"/>
          </p:cNvSpPr>
          <p:nvPr/>
        </p:nvSpPr>
        <p:spPr bwMode="auto">
          <a:xfrm>
            <a:off x="0" y="8820150"/>
            <a:ext cx="3032125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95269" name="Rectangle 5"/>
          <p:cNvSpPr>
            <a:spLocks noChangeArrowheads="1"/>
          </p:cNvSpPr>
          <p:nvPr/>
        </p:nvSpPr>
        <p:spPr bwMode="auto">
          <a:xfrm>
            <a:off x="0" y="0"/>
            <a:ext cx="3032125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95270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 w="12700" cap="flat"/>
        </p:spPr>
      </p:sp>
      <p:sp>
        <p:nvSpPr>
          <p:cNvPr id="395271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931863" y="4410075"/>
            <a:ext cx="5133975" cy="4176713"/>
          </a:xfrm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2058" tIns="45221" rIns="92058" bIns="45221" anchor="ctr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7836902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AA0D366-CF12-4ACD-9E94-681974F0C458}" type="slidenum">
              <a:rPr lang="en-US" altLang="en-US"/>
              <a:pPr/>
              <a:t>16</a:t>
            </a:fld>
            <a:endParaRPr lang="en-US" altLang="en-US"/>
          </a:p>
        </p:txBody>
      </p:sp>
      <p:sp>
        <p:nvSpPr>
          <p:cNvPr id="397314" name="Rectangle 2"/>
          <p:cNvSpPr>
            <a:spLocks noChangeArrowheads="1"/>
          </p:cNvSpPr>
          <p:nvPr/>
        </p:nvSpPr>
        <p:spPr bwMode="auto">
          <a:xfrm>
            <a:off x="3965575" y="0"/>
            <a:ext cx="3032125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97315" name="Rectangle 3"/>
          <p:cNvSpPr>
            <a:spLocks noChangeArrowheads="1"/>
          </p:cNvSpPr>
          <p:nvPr/>
        </p:nvSpPr>
        <p:spPr bwMode="auto">
          <a:xfrm>
            <a:off x="3965575" y="8820150"/>
            <a:ext cx="3032125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58" tIns="45221" rIns="92058" bIns="45221" anchor="b"/>
          <a:lstStyle>
            <a:lvl1pPr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465138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930275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395413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186055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31775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77495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23215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68935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/>
            <a:r>
              <a:rPr lang="en-US" altLang="en-US" sz="1300"/>
              <a:t>6</a:t>
            </a:r>
          </a:p>
        </p:txBody>
      </p:sp>
      <p:sp>
        <p:nvSpPr>
          <p:cNvPr id="397316" name="Rectangle 4"/>
          <p:cNvSpPr>
            <a:spLocks noChangeArrowheads="1"/>
          </p:cNvSpPr>
          <p:nvPr/>
        </p:nvSpPr>
        <p:spPr bwMode="auto">
          <a:xfrm>
            <a:off x="0" y="8820150"/>
            <a:ext cx="3032125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97317" name="Rectangle 5"/>
          <p:cNvSpPr>
            <a:spLocks noChangeArrowheads="1"/>
          </p:cNvSpPr>
          <p:nvPr/>
        </p:nvSpPr>
        <p:spPr bwMode="auto">
          <a:xfrm>
            <a:off x="0" y="0"/>
            <a:ext cx="3032125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97318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 w="12700" cap="flat"/>
        </p:spPr>
      </p:sp>
      <p:sp>
        <p:nvSpPr>
          <p:cNvPr id="397319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931863" y="4410075"/>
            <a:ext cx="5133975" cy="4176713"/>
          </a:xfrm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2058" tIns="45221" rIns="92058" bIns="45221" anchor="ctr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4866148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C2CC9A9-0218-4D3C-BFCB-DE7AC7DB70B5}" type="slidenum">
              <a:rPr lang="en-US" altLang="en-US"/>
              <a:pPr/>
              <a:t>17</a:t>
            </a:fld>
            <a:endParaRPr lang="en-US" altLang="en-US"/>
          </a:p>
        </p:txBody>
      </p:sp>
      <p:sp>
        <p:nvSpPr>
          <p:cNvPr id="399362" name="Rectangle 2"/>
          <p:cNvSpPr>
            <a:spLocks noChangeArrowheads="1"/>
          </p:cNvSpPr>
          <p:nvPr/>
        </p:nvSpPr>
        <p:spPr bwMode="auto">
          <a:xfrm>
            <a:off x="3965575" y="0"/>
            <a:ext cx="3032125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99363" name="Rectangle 3"/>
          <p:cNvSpPr>
            <a:spLocks noChangeArrowheads="1"/>
          </p:cNvSpPr>
          <p:nvPr/>
        </p:nvSpPr>
        <p:spPr bwMode="auto">
          <a:xfrm>
            <a:off x="3965575" y="8820150"/>
            <a:ext cx="3032125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58" tIns="45221" rIns="92058" bIns="45221" anchor="b"/>
          <a:lstStyle>
            <a:lvl1pPr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465138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930275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395413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186055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31775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77495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23215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68935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/>
            <a:r>
              <a:rPr lang="en-US" altLang="en-US" sz="1300"/>
              <a:t>8</a:t>
            </a:r>
          </a:p>
        </p:txBody>
      </p:sp>
      <p:sp>
        <p:nvSpPr>
          <p:cNvPr id="399364" name="Rectangle 4"/>
          <p:cNvSpPr>
            <a:spLocks noChangeArrowheads="1"/>
          </p:cNvSpPr>
          <p:nvPr/>
        </p:nvSpPr>
        <p:spPr bwMode="auto">
          <a:xfrm>
            <a:off x="0" y="8820150"/>
            <a:ext cx="3032125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99365" name="Rectangle 5"/>
          <p:cNvSpPr>
            <a:spLocks noChangeArrowheads="1"/>
          </p:cNvSpPr>
          <p:nvPr/>
        </p:nvSpPr>
        <p:spPr bwMode="auto">
          <a:xfrm>
            <a:off x="0" y="0"/>
            <a:ext cx="3032125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99366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 w="12700" cap="flat"/>
        </p:spPr>
      </p:sp>
      <p:sp>
        <p:nvSpPr>
          <p:cNvPr id="399367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931863" y="4410075"/>
            <a:ext cx="5133975" cy="4176713"/>
          </a:xfrm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2058" tIns="45221" rIns="92058" bIns="45221" anchor="ctr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5196275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45624A4-029C-4662-AF7E-0A181D5867FB}" type="slidenum">
              <a:rPr lang="en-US" altLang="en-US"/>
              <a:pPr/>
              <a:t>18</a:t>
            </a:fld>
            <a:endParaRPr lang="en-US" altLang="en-US"/>
          </a:p>
        </p:txBody>
      </p:sp>
      <p:sp>
        <p:nvSpPr>
          <p:cNvPr id="4085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4085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3" y="4410075"/>
            <a:ext cx="5133975" cy="4176713"/>
          </a:xfrm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7588932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409DAB7-2DC8-4FDC-842F-5559CB2EA1E4}" type="slidenum">
              <a:rPr lang="en-US" altLang="en-US"/>
              <a:pPr/>
              <a:t>19</a:t>
            </a:fld>
            <a:endParaRPr lang="en-US" altLang="en-US"/>
          </a:p>
        </p:txBody>
      </p:sp>
      <p:sp>
        <p:nvSpPr>
          <p:cNvPr id="4106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4106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3" y="4410075"/>
            <a:ext cx="5133975" cy="4176713"/>
          </a:xfrm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7115440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3F9D9E2-0A6F-44A9-8E45-A75AB1F65704}" type="slidenum">
              <a:rPr lang="en-US" altLang="en-US"/>
              <a:pPr/>
              <a:t>20</a:t>
            </a:fld>
            <a:endParaRPr lang="en-US" altLang="en-US"/>
          </a:p>
        </p:txBody>
      </p:sp>
      <p:sp>
        <p:nvSpPr>
          <p:cNvPr id="412674" name="Rectangle 2"/>
          <p:cNvSpPr>
            <a:spLocks noChangeArrowheads="1"/>
          </p:cNvSpPr>
          <p:nvPr/>
        </p:nvSpPr>
        <p:spPr bwMode="auto">
          <a:xfrm>
            <a:off x="3965575" y="0"/>
            <a:ext cx="3032125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2675" name="Rectangle 3"/>
          <p:cNvSpPr>
            <a:spLocks noChangeArrowheads="1"/>
          </p:cNvSpPr>
          <p:nvPr/>
        </p:nvSpPr>
        <p:spPr bwMode="auto">
          <a:xfrm>
            <a:off x="3965575" y="8820150"/>
            <a:ext cx="3032125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58" tIns="45221" rIns="92058" bIns="45221" anchor="b"/>
          <a:lstStyle>
            <a:lvl1pPr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465138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930275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395413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186055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31775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77495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23215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68935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/>
            <a:r>
              <a:rPr lang="en-US" altLang="en-US" sz="1300"/>
              <a:t>7</a:t>
            </a:r>
          </a:p>
        </p:txBody>
      </p:sp>
      <p:sp>
        <p:nvSpPr>
          <p:cNvPr id="412676" name="Rectangle 4"/>
          <p:cNvSpPr>
            <a:spLocks noChangeArrowheads="1"/>
          </p:cNvSpPr>
          <p:nvPr/>
        </p:nvSpPr>
        <p:spPr bwMode="auto">
          <a:xfrm>
            <a:off x="0" y="8820150"/>
            <a:ext cx="3032125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2677" name="Rectangle 5"/>
          <p:cNvSpPr>
            <a:spLocks noChangeArrowheads="1"/>
          </p:cNvSpPr>
          <p:nvPr/>
        </p:nvSpPr>
        <p:spPr bwMode="auto">
          <a:xfrm>
            <a:off x="0" y="0"/>
            <a:ext cx="3032125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2678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 w="12700" cap="flat"/>
        </p:spPr>
      </p:sp>
      <p:sp>
        <p:nvSpPr>
          <p:cNvPr id="412679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931863" y="4410075"/>
            <a:ext cx="5133975" cy="4176713"/>
          </a:xfrm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2058" tIns="45221" rIns="92058" bIns="45221" anchor="ctr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6748954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A167D61-1299-4738-998E-B7598F52B3BA}" type="slidenum">
              <a:rPr lang="en-US" altLang="en-US"/>
              <a:pPr/>
              <a:t>25</a:t>
            </a:fld>
            <a:endParaRPr lang="en-US" altLang="en-US"/>
          </a:p>
        </p:txBody>
      </p:sp>
      <p:sp>
        <p:nvSpPr>
          <p:cNvPr id="406530" name="Rectangle 2"/>
          <p:cNvSpPr>
            <a:spLocks noChangeArrowheads="1"/>
          </p:cNvSpPr>
          <p:nvPr/>
        </p:nvSpPr>
        <p:spPr bwMode="auto">
          <a:xfrm>
            <a:off x="3965575" y="0"/>
            <a:ext cx="3032125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06531" name="Rectangle 3"/>
          <p:cNvSpPr>
            <a:spLocks noChangeArrowheads="1"/>
          </p:cNvSpPr>
          <p:nvPr/>
        </p:nvSpPr>
        <p:spPr bwMode="auto">
          <a:xfrm>
            <a:off x="3965575" y="8820150"/>
            <a:ext cx="3032125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58" tIns="45221" rIns="92058" bIns="45221" anchor="b"/>
          <a:lstStyle>
            <a:lvl1pPr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465138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930275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395413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186055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31775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77495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23215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68935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/>
            <a:r>
              <a:rPr lang="en-US" altLang="en-US" sz="1300"/>
              <a:t>9</a:t>
            </a:r>
          </a:p>
        </p:txBody>
      </p:sp>
      <p:sp>
        <p:nvSpPr>
          <p:cNvPr id="406532" name="Rectangle 4"/>
          <p:cNvSpPr>
            <a:spLocks noChangeArrowheads="1"/>
          </p:cNvSpPr>
          <p:nvPr/>
        </p:nvSpPr>
        <p:spPr bwMode="auto">
          <a:xfrm>
            <a:off x="0" y="8820150"/>
            <a:ext cx="3032125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06533" name="Rectangle 5"/>
          <p:cNvSpPr>
            <a:spLocks noChangeArrowheads="1"/>
          </p:cNvSpPr>
          <p:nvPr/>
        </p:nvSpPr>
        <p:spPr bwMode="auto">
          <a:xfrm>
            <a:off x="0" y="0"/>
            <a:ext cx="3032125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06534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 w="12700" cap="flat"/>
        </p:spPr>
      </p:sp>
      <p:sp>
        <p:nvSpPr>
          <p:cNvPr id="406535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931863" y="4410075"/>
            <a:ext cx="5133975" cy="4176713"/>
          </a:xfrm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2058" tIns="45221" rIns="92058" bIns="45221" anchor="ctr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6341326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D37E2EA-9807-4F3D-B8FC-96755ABE8479}" type="slidenum">
              <a:rPr lang="en-US" altLang="en-US"/>
              <a:pPr/>
              <a:t>26</a:t>
            </a:fld>
            <a:endParaRPr lang="en-US" altLang="en-US"/>
          </a:p>
        </p:txBody>
      </p:sp>
      <p:sp>
        <p:nvSpPr>
          <p:cNvPr id="418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4188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3" y="4410075"/>
            <a:ext cx="5133975" cy="4176713"/>
          </a:xfrm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6950998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3620018-5376-44B2-90A6-5DE5DDB6B7D2}" type="slidenum">
              <a:rPr lang="en-US" altLang="en-US"/>
              <a:pPr/>
              <a:t>27</a:t>
            </a:fld>
            <a:endParaRPr lang="en-US" altLang="en-US"/>
          </a:p>
        </p:txBody>
      </p:sp>
      <p:sp>
        <p:nvSpPr>
          <p:cNvPr id="4208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4208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3" y="4410075"/>
            <a:ext cx="5133975" cy="4176713"/>
          </a:xfrm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8475073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E949D54-223C-471B-97EB-B0E88315CD9F}" type="slidenum">
              <a:rPr lang="en-US" altLang="en-US"/>
              <a:pPr/>
              <a:t>28</a:t>
            </a:fld>
            <a:endParaRPr lang="en-US" altLang="en-US"/>
          </a:p>
        </p:txBody>
      </p:sp>
      <p:sp>
        <p:nvSpPr>
          <p:cNvPr id="4229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4229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3" y="4410075"/>
            <a:ext cx="5133975" cy="4176713"/>
          </a:xfrm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0067305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AA45488-9175-49B8-A481-DDA78F20D344}" type="slidenum">
              <a:rPr lang="en-US" altLang="en-US"/>
              <a:pPr/>
              <a:t>29</a:t>
            </a:fld>
            <a:endParaRPr lang="en-US" altLang="en-US"/>
          </a:p>
        </p:txBody>
      </p:sp>
      <p:sp>
        <p:nvSpPr>
          <p:cNvPr id="4249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4249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3" y="4410075"/>
            <a:ext cx="5133975" cy="4176713"/>
          </a:xfrm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1618096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C042D41-9A2D-4E77-B931-9357193CC435}" type="slidenum">
              <a:rPr lang="en-US" altLang="en-US"/>
              <a:pPr/>
              <a:t>30</a:t>
            </a:fld>
            <a:endParaRPr lang="en-US" altLang="en-US"/>
          </a:p>
        </p:txBody>
      </p:sp>
      <p:sp>
        <p:nvSpPr>
          <p:cNvPr id="4382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4382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3" y="4410075"/>
            <a:ext cx="5133975" cy="4176713"/>
          </a:xfrm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5303619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37B20CD-5DFE-42CD-98FB-68AB74D67E89}" type="slidenum">
              <a:rPr lang="en-US" altLang="en-US"/>
              <a:pPr/>
              <a:t>31</a:t>
            </a:fld>
            <a:endParaRPr lang="en-US" altLang="en-US"/>
          </a:p>
        </p:txBody>
      </p:sp>
      <p:sp>
        <p:nvSpPr>
          <p:cNvPr id="4403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4403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3" y="4410075"/>
            <a:ext cx="5133975" cy="4176713"/>
          </a:xfrm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5338856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C1945BA-7E7E-4F7F-B997-567660820621}" type="slidenum">
              <a:rPr lang="en-US" altLang="en-US"/>
              <a:pPr/>
              <a:t>32</a:t>
            </a:fld>
            <a:endParaRPr lang="en-US" altLang="en-US"/>
          </a:p>
        </p:txBody>
      </p:sp>
      <p:sp>
        <p:nvSpPr>
          <p:cNvPr id="4423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4423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3" y="4410075"/>
            <a:ext cx="5133975" cy="4176713"/>
          </a:xfrm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7060294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D97C1CE-17F2-486D-B9AE-6F01673374BD}" type="slidenum">
              <a:rPr lang="en-US" altLang="en-US"/>
              <a:pPr/>
              <a:t>33</a:t>
            </a:fld>
            <a:endParaRPr lang="en-US" altLang="en-US"/>
          </a:p>
        </p:txBody>
      </p:sp>
      <p:sp>
        <p:nvSpPr>
          <p:cNvPr id="4270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4270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3" y="4410075"/>
            <a:ext cx="5133975" cy="4176713"/>
          </a:xfrm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987463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1EACD7A-95B4-4144-8D2D-028FE20BB51F}" type="slidenum">
              <a:rPr lang="en-US" altLang="en-US"/>
              <a:pPr/>
              <a:t>34</a:t>
            </a:fld>
            <a:endParaRPr lang="en-US" altLang="en-US"/>
          </a:p>
        </p:txBody>
      </p:sp>
      <p:sp>
        <p:nvSpPr>
          <p:cNvPr id="4290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4290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3" y="4410075"/>
            <a:ext cx="5133975" cy="4176713"/>
          </a:xfrm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102124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F8BE2B6-40FB-481E-9695-02D3F8B135FB}" type="slidenum">
              <a:rPr lang="en-US" altLang="en-US"/>
              <a:pPr/>
              <a:t>35</a:t>
            </a:fld>
            <a:endParaRPr lang="en-US" altLang="en-US"/>
          </a:p>
        </p:txBody>
      </p:sp>
      <p:sp>
        <p:nvSpPr>
          <p:cNvPr id="4311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4311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3" y="4410075"/>
            <a:ext cx="5133975" cy="4176713"/>
          </a:xfrm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3050399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47D812A-CB53-44CA-86E1-B4C7ECE809C1}" type="slidenum">
              <a:rPr lang="en-US" altLang="en-US"/>
              <a:pPr/>
              <a:t>37</a:t>
            </a:fld>
            <a:endParaRPr lang="en-US" altLang="en-US"/>
          </a:p>
        </p:txBody>
      </p:sp>
      <p:sp>
        <p:nvSpPr>
          <p:cNvPr id="4341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4341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3" y="4410075"/>
            <a:ext cx="5133975" cy="4176713"/>
          </a:xfrm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7970592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941955F-8E8B-42AA-A9F8-C6AC036DD22A}" type="slidenum">
              <a:rPr lang="en-US" altLang="en-US"/>
              <a:pPr/>
              <a:t>38</a:t>
            </a:fld>
            <a:endParaRPr lang="en-US" altLang="en-US"/>
          </a:p>
        </p:txBody>
      </p:sp>
      <p:sp>
        <p:nvSpPr>
          <p:cNvPr id="4362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4362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3" y="4410075"/>
            <a:ext cx="5133975" cy="4176713"/>
          </a:xfrm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8561512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36E37D7-5A74-4A99-A094-ED1F86FA59B8}" type="slidenum">
              <a:rPr lang="en-US" altLang="en-US"/>
              <a:pPr/>
              <a:t>39</a:t>
            </a:fld>
            <a:endParaRPr lang="en-US" altLang="en-US"/>
          </a:p>
        </p:txBody>
      </p:sp>
      <p:sp>
        <p:nvSpPr>
          <p:cNvPr id="4444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4444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3" y="4410075"/>
            <a:ext cx="5133975" cy="4176713"/>
          </a:xfrm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0971855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4DE31D8-FE05-4081-A4E0-B54E03C7A48A}" type="slidenum">
              <a:rPr lang="en-US" altLang="en-US"/>
              <a:pPr/>
              <a:t>40</a:t>
            </a:fld>
            <a:endParaRPr lang="en-US" altLang="en-US"/>
          </a:p>
        </p:txBody>
      </p:sp>
      <p:sp>
        <p:nvSpPr>
          <p:cNvPr id="4679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4679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3" y="4410075"/>
            <a:ext cx="5133975" cy="4176713"/>
          </a:xfrm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3829349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4A3A2BF-EFF9-41CE-A98F-BDFB61314882}" type="slidenum">
              <a:rPr lang="en-US" altLang="en-US"/>
              <a:pPr/>
              <a:t>41</a:t>
            </a:fld>
            <a:endParaRPr lang="en-US" altLang="en-US"/>
          </a:p>
        </p:txBody>
      </p:sp>
      <p:sp>
        <p:nvSpPr>
          <p:cNvPr id="4700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4700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3" y="4410075"/>
            <a:ext cx="5133975" cy="4176713"/>
          </a:xfrm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7898378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9C1BE77-114E-442C-BBD3-C107011EFCEB}" type="slidenum">
              <a:rPr lang="en-US" altLang="en-US"/>
              <a:pPr/>
              <a:t>42</a:t>
            </a:fld>
            <a:endParaRPr lang="en-US" altLang="en-US"/>
          </a:p>
        </p:txBody>
      </p:sp>
      <p:sp>
        <p:nvSpPr>
          <p:cNvPr id="4720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4720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3" y="4410075"/>
            <a:ext cx="5133975" cy="4176713"/>
          </a:xfrm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864375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02235F4-657C-4D4E-BA78-96E5EA4FA23B}" type="slidenum">
              <a:rPr lang="en-US" altLang="en-US"/>
              <a:pPr/>
              <a:t>43</a:t>
            </a:fld>
            <a:endParaRPr lang="en-US" altLang="en-US"/>
          </a:p>
        </p:txBody>
      </p:sp>
      <p:sp>
        <p:nvSpPr>
          <p:cNvPr id="4741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4741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3" y="4410075"/>
            <a:ext cx="5133975" cy="4176713"/>
          </a:xfrm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0380932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E97D091-F7F8-47CB-92CB-C551AD3DF396}" type="slidenum">
              <a:rPr lang="en-US" altLang="en-US"/>
              <a:pPr/>
              <a:t>44</a:t>
            </a:fld>
            <a:endParaRPr lang="en-US" altLang="en-US"/>
          </a:p>
        </p:txBody>
      </p:sp>
      <p:sp>
        <p:nvSpPr>
          <p:cNvPr id="4761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4761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3" y="4410075"/>
            <a:ext cx="5133975" cy="4176713"/>
          </a:xfrm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49049132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2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102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Monotype Sorts" charset="2"/>
              <a:buNone/>
              <a:defRPr/>
            </a:lvl1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ftr" sz="quarter" idx="10"/>
          </p:nvPr>
        </p:nvSpPr>
        <p:spPr bwMode="auto">
          <a:xfrm>
            <a:off x="2862263" y="5780088"/>
            <a:ext cx="344805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spcBef>
                <a:spcPct val="50000"/>
              </a:spcBef>
              <a:defRPr>
                <a:solidFill>
                  <a:srgbClr val="578963"/>
                </a:solidFill>
                <a:latin typeface="Times New Roman" charset="0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6596063" y="6218238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578963"/>
                </a:solidFill>
              </a:defRPr>
            </a:lvl1pPr>
          </a:lstStyle>
          <a:p>
            <a:fld id="{A39C5B83-9155-4DD0-8D18-717F235BF65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632988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Slide Number Placeholder 3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6553200" y="64008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fld id="{94DD9261-FB6D-4E44-A19B-7574FC0B20D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639378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Slide Number Placeholder 3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6553200" y="64008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fld id="{F153E107-1373-4E65-8651-C67DE11C2F6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132937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4388" y="1093788"/>
            <a:ext cx="3754437" cy="49037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1225" y="1093788"/>
            <a:ext cx="3754438" cy="49037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6553200" y="64008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fld id="{64926C95-7B98-4312-A6ED-6722C6B11DD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957404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3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6553200" y="64008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fld id="{ED41E1DE-12B0-4F44-87EE-5708DD40495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296235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6553200" y="64008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fld id="{4763C7EB-FF8A-410E-A773-59E710FE962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457643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6553200" y="64008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fld id="{66D881CA-8ACE-4FBD-803D-1D2B49E0D25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260575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6553200" y="64008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fld id="{1DF5C16A-9E13-41F3-B4C1-F60C55A8ADB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250255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6553200" y="64008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fld id="{3969F28E-07B4-471C-9481-649B3955188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462069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Slide Number Placeholder 3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6553200" y="64008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fld id="{95214C06-BE82-47DD-99E2-83DC78CCB3B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083640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26250" y="117475"/>
            <a:ext cx="2019300" cy="58801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8350" y="117475"/>
            <a:ext cx="5905500" cy="58801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Slide Number Placeholder 3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6553200" y="64008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fld id="{CB58A165-7969-4E48-BB58-E9602445A3D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2558089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814388" y="1093788"/>
            <a:ext cx="7661275" cy="4903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309253" name="Text Box 5"/>
          <p:cNvSpPr txBox="1">
            <a:spLocks noChangeArrowheads="1"/>
          </p:cNvSpPr>
          <p:nvPr/>
        </p:nvSpPr>
        <p:spPr bwMode="auto">
          <a:xfrm>
            <a:off x="4532883" y="6613525"/>
            <a:ext cx="341760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504020202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1600">
                <a:solidFill>
                  <a:schemeClr val="tx1"/>
                </a:solidFill>
                <a:latin typeface="Helvetica" panose="020B0504020202030204" pitchFamily="34" charset="0"/>
                <a:ea typeface="ＭＳ Ｐゴシック" panose="020B0600070205080204" pitchFamily="34" charset="-128"/>
              </a:defRPr>
            </a:lvl2pPr>
            <a:lvl3pPr>
              <a:defRPr sz="1600">
                <a:solidFill>
                  <a:schemeClr val="tx1"/>
                </a:solidFill>
                <a:latin typeface="Helvetica" panose="020B0504020202030204" pitchFamily="34" charset="0"/>
                <a:ea typeface="ＭＳ Ｐゴシック" panose="020B0600070205080204" pitchFamily="34" charset="-128"/>
              </a:defRPr>
            </a:lvl3pPr>
            <a:lvl4pPr>
              <a:defRPr sz="1600">
                <a:solidFill>
                  <a:schemeClr val="tx1"/>
                </a:solidFill>
                <a:latin typeface="Helvetica" panose="020B0504020202030204" pitchFamily="34" charset="0"/>
                <a:ea typeface="ＭＳ Ｐゴシック" panose="020B0600070205080204" pitchFamily="34" charset="-128"/>
              </a:defRPr>
            </a:lvl4pPr>
            <a:lvl5pPr>
              <a:defRPr sz="1600">
                <a:solidFill>
                  <a:schemeClr val="tx1"/>
                </a:solidFill>
                <a:latin typeface="Helvetica" panose="020B050402020203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50402020203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50402020203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50402020203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50402020203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fld id="{43B9834C-2568-42AC-AD3B-443C4D6F2DD2}" type="slidenum">
              <a:rPr lang="en-US" altLang="en-US" sz="1000" b="1" smtClean="0">
                <a:solidFill>
                  <a:schemeClr val="tx2"/>
                </a:solidFill>
              </a:rPr>
              <a:pPr algn="ctr">
                <a:spcBef>
                  <a:spcPct val="50000"/>
                </a:spcBef>
              </a:pPr>
              <a:t>‹#›</a:t>
            </a:fld>
            <a:endParaRPr lang="en-US" altLang="en-US" sz="1000" b="1" dirty="0">
              <a:solidFill>
                <a:schemeClr val="tx2"/>
              </a:solidFill>
            </a:endParaRPr>
          </a:p>
        </p:txBody>
      </p:sp>
      <p:sp>
        <p:nvSpPr>
          <p:cNvPr id="309254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768350" y="117475"/>
            <a:ext cx="80772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09256" name="Freeform 8"/>
          <p:cNvSpPr>
            <a:spLocks/>
          </p:cNvSpPr>
          <p:nvPr/>
        </p:nvSpPr>
        <p:spPr bwMode="auto">
          <a:xfrm>
            <a:off x="8916988" y="5445125"/>
            <a:ext cx="227012" cy="47625"/>
          </a:xfrm>
          <a:custGeom>
            <a:avLst/>
            <a:gdLst/>
            <a:ahLst/>
            <a:cxnLst>
              <a:cxn ang="0">
                <a:pos x="0" y="59"/>
              </a:cxn>
              <a:cxn ang="0">
                <a:pos x="2" y="48"/>
              </a:cxn>
              <a:cxn ang="0">
                <a:pos x="9" y="34"/>
              </a:cxn>
              <a:cxn ang="0">
                <a:pos x="17" y="25"/>
              </a:cxn>
              <a:cxn ang="0">
                <a:pos x="30" y="17"/>
              </a:cxn>
              <a:cxn ang="0">
                <a:pos x="45" y="10"/>
              </a:cxn>
              <a:cxn ang="0">
                <a:pos x="57" y="6"/>
              </a:cxn>
              <a:cxn ang="0">
                <a:pos x="70" y="2"/>
              </a:cxn>
              <a:cxn ang="0">
                <a:pos x="85" y="0"/>
              </a:cxn>
              <a:cxn ang="0">
                <a:pos x="100" y="0"/>
              </a:cxn>
              <a:cxn ang="0">
                <a:pos x="118" y="0"/>
              </a:cxn>
              <a:cxn ang="0">
                <a:pos x="137" y="0"/>
              </a:cxn>
              <a:cxn ang="0">
                <a:pos x="154" y="2"/>
              </a:cxn>
              <a:cxn ang="0">
                <a:pos x="173" y="6"/>
              </a:cxn>
              <a:cxn ang="0">
                <a:pos x="192" y="8"/>
              </a:cxn>
              <a:cxn ang="0">
                <a:pos x="209" y="12"/>
              </a:cxn>
              <a:cxn ang="0">
                <a:pos x="224" y="15"/>
              </a:cxn>
              <a:cxn ang="0">
                <a:pos x="239" y="19"/>
              </a:cxn>
              <a:cxn ang="0">
                <a:pos x="254" y="23"/>
              </a:cxn>
              <a:cxn ang="0">
                <a:pos x="266" y="25"/>
              </a:cxn>
              <a:cxn ang="0">
                <a:pos x="273" y="27"/>
              </a:cxn>
              <a:cxn ang="0">
                <a:pos x="283" y="31"/>
              </a:cxn>
              <a:cxn ang="0">
                <a:pos x="279" y="44"/>
              </a:cxn>
              <a:cxn ang="0">
                <a:pos x="273" y="42"/>
              </a:cxn>
              <a:cxn ang="0">
                <a:pos x="260" y="40"/>
              </a:cxn>
              <a:cxn ang="0">
                <a:pos x="241" y="36"/>
              </a:cxn>
              <a:cxn ang="0">
                <a:pos x="230" y="34"/>
              </a:cxn>
              <a:cxn ang="0">
                <a:pos x="218" y="32"/>
              </a:cxn>
              <a:cxn ang="0">
                <a:pos x="207" y="31"/>
              </a:cxn>
              <a:cxn ang="0">
                <a:pos x="196" y="29"/>
              </a:cxn>
              <a:cxn ang="0">
                <a:pos x="182" y="27"/>
              </a:cxn>
              <a:cxn ang="0">
                <a:pos x="173" y="25"/>
              </a:cxn>
              <a:cxn ang="0">
                <a:pos x="163" y="23"/>
              </a:cxn>
              <a:cxn ang="0">
                <a:pos x="154" y="21"/>
              </a:cxn>
              <a:cxn ang="0">
                <a:pos x="142" y="19"/>
              </a:cxn>
              <a:cxn ang="0">
                <a:pos x="110" y="15"/>
              </a:cxn>
              <a:cxn ang="0">
                <a:pos x="83" y="21"/>
              </a:cxn>
              <a:cxn ang="0">
                <a:pos x="59" y="29"/>
              </a:cxn>
              <a:cxn ang="0">
                <a:pos x="53" y="31"/>
              </a:cxn>
              <a:cxn ang="0">
                <a:pos x="43" y="34"/>
              </a:cxn>
              <a:cxn ang="0">
                <a:pos x="32" y="38"/>
              </a:cxn>
              <a:cxn ang="0">
                <a:pos x="23" y="44"/>
              </a:cxn>
              <a:cxn ang="0">
                <a:pos x="7" y="55"/>
              </a:cxn>
              <a:cxn ang="0">
                <a:pos x="2" y="61"/>
              </a:cxn>
            </a:cxnLst>
            <a:rect l="0" t="0" r="r" b="b"/>
            <a:pathLst>
              <a:path w="285" h="61">
                <a:moveTo>
                  <a:pt x="2" y="61"/>
                </a:moveTo>
                <a:lnTo>
                  <a:pt x="0" y="59"/>
                </a:lnTo>
                <a:lnTo>
                  <a:pt x="0" y="55"/>
                </a:lnTo>
                <a:lnTo>
                  <a:pt x="2" y="48"/>
                </a:lnTo>
                <a:lnTo>
                  <a:pt x="5" y="40"/>
                </a:lnTo>
                <a:lnTo>
                  <a:pt x="9" y="34"/>
                </a:lnTo>
                <a:lnTo>
                  <a:pt x="13" y="31"/>
                </a:lnTo>
                <a:lnTo>
                  <a:pt x="17" y="25"/>
                </a:lnTo>
                <a:lnTo>
                  <a:pt x="24" y="21"/>
                </a:lnTo>
                <a:lnTo>
                  <a:pt x="30" y="17"/>
                </a:lnTo>
                <a:lnTo>
                  <a:pt x="40" y="13"/>
                </a:lnTo>
                <a:lnTo>
                  <a:pt x="45" y="10"/>
                </a:lnTo>
                <a:lnTo>
                  <a:pt x="51" y="8"/>
                </a:lnTo>
                <a:lnTo>
                  <a:pt x="57" y="6"/>
                </a:lnTo>
                <a:lnTo>
                  <a:pt x="64" y="6"/>
                </a:lnTo>
                <a:lnTo>
                  <a:pt x="70" y="2"/>
                </a:lnTo>
                <a:lnTo>
                  <a:pt x="78" y="2"/>
                </a:lnTo>
                <a:lnTo>
                  <a:pt x="85" y="0"/>
                </a:lnTo>
                <a:lnTo>
                  <a:pt x="93" y="0"/>
                </a:lnTo>
                <a:lnTo>
                  <a:pt x="100" y="0"/>
                </a:lnTo>
                <a:lnTo>
                  <a:pt x="110" y="0"/>
                </a:lnTo>
                <a:lnTo>
                  <a:pt x="118" y="0"/>
                </a:lnTo>
                <a:lnTo>
                  <a:pt x="129" y="0"/>
                </a:lnTo>
                <a:lnTo>
                  <a:pt x="137" y="0"/>
                </a:lnTo>
                <a:lnTo>
                  <a:pt x="146" y="2"/>
                </a:lnTo>
                <a:lnTo>
                  <a:pt x="154" y="2"/>
                </a:lnTo>
                <a:lnTo>
                  <a:pt x="163" y="4"/>
                </a:lnTo>
                <a:lnTo>
                  <a:pt x="173" y="6"/>
                </a:lnTo>
                <a:lnTo>
                  <a:pt x="182" y="8"/>
                </a:lnTo>
                <a:lnTo>
                  <a:pt x="192" y="8"/>
                </a:lnTo>
                <a:lnTo>
                  <a:pt x="201" y="12"/>
                </a:lnTo>
                <a:lnTo>
                  <a:pt x="209" y="12"/>
                </a:lnTo>
                <a:lnTo>
                  <a:pt x="216" y="13"/>
                </a:lnTo>
                <a:lnTo>
                  <a:pt x="224" y="15"/>
                </a:lnTo>
                <a:lnTo>
                  <a:pt x="234" y="17"/>
                </a:lnTo>
                <a:lnTo>
                  <a:pt x="239" y="19"/>
                </a:lnTo>
                <a:lnTo>
                  <a:pt x="247" y="21"/>
                </a:lnTo>
                <a:lnTo>
                  <a:pt x="254" y="23"/>
                </a:lnTo>
                <a:lnTo>
                  <a:pt x="260" y="25"/>
                </a:lnTo>
                <a:lnTo>
                  <a:pt x="266" y="25"/>
                </a:lnTo>
                <a:lnTo>
                  <a:pt x="270" y="27"/>
                </a:lnTo>
                <a:lnTo>
                  <a:pt x="273" y="27"/>
                </a:lnTo>
                <a:lnTo>
                  <a:pt x="279" y="29"/>
                </a:lnTo>
                <a:lnTo>
                  <a:pt x="283" y="31"/>
                </a:lnTo>
                <a:lnTo>
                  <a:pt x="285" y="32"/>
                </a:lnTo>
                <a:lnTo>
                  <a:pt x="279" y="44"/>
                </a:lnTo>
                <a:lnTo>
                  <a:pt x="277" y="44"/>
                </a:lnTo>
                <a:lnTo>
                  <a:pt x="273" y="42"/>
                </a:lnTo>
                <a:lnTo>
                  <a:pt x="268" y="42"/>
                </a:lnTo>
                <a:lnTo>
                  <a:pt x="260" y="40"/>
                </a:lnTo>
                <a:lnTo>
                  <a:pt x="251" y="38"/>
                </a:lnTo>
                <a:lnTo>
                  <a:pt x="241" y="36"/>
                </a:lnTo>
                <a:lnTo>
                  <a:pt x="235" y="34"/>
                </a:lnTo>
                <a:lnTo>
                  <a:pt x="230" y="34"/>
                </a:lnTo>
                <a:lnTo>
                  <a:pt x="224" y="32"/>
                </a:lnTo>
                <a:lnTo>
                  <a:pt x="218" y="32"/>
                </a:lnTo>
                <a:lnTo>
                  <a:pt x="213" y="31"/>
                </a:lnTo>
                <a:lnTo>
                  <a:pt x="207" y="31"/>
                </a:lnTo>
                <a:lnTo>
                  <a:pt x="201" y="29"/>
                </a:lnTo>
                <a:lnTo>
                  <a:pt x="196" y="29"/>
                </a:lnTo>
                <a:lnTo>
                  <a:pt x="190" y="27"/>
                </a:lnTo>
                <a:lnTo>
                  <a:pt x="182" y="27"/>
                </a:lnTo>
                <a:lnTo>
                  <a:pt x="178" y="25"/>
                </a:lnTo>
                <a:lnTo>
                  <a:pt x="173" y="25"/>
                </a:lnTo>
                <a:lnTo>
                  <a:pt x="167" y="23"/>
                </a:lnTo>
                <a:lnTo>
                  <a:pt x="163" y="23"/>
                </a:lnTo>
                <a:lnTo>
                  <a:pt x="158" y="21"/>
                </a:lnTo>
                <a:lnTo>
                  <a:pt x="154" y="21"/>
                </a:lnTo>
                <a:lnTo>
                  <a:pt x="148" y="19"/>
                </a:lnTo>
                <a:lnTo>
                  <a:pt x="142" y="19"/>
                </a:lnTo>
                <a:lnTo>
                  <a:pt x="144" y="48"/>
                </a:lnTo>
                <a:lnTo>
                  <a:pt x="110" y="15"/>
                </a:lnTo>
                <a:lnTo>
                  <a:pt x="118" y="48"/>
                </a:lnTo>
                <a:lnTo>
                  <a:pt x="83" y="21"/>
                </a:lnTo>
                <a:lnTo>
                  <a:pt x="91" y="48"/>
                </a:lnTo>
                <a:lnTo>
                  <a:pt x="59" y="29"/>
                </a:lnTo>
                <a:lnTo>
                  <a:pt x="57" y="29"/>
                </a:lnTo>
                <a:lnTo>
                  <a:pt x="53" y="31"/>
                </a:lnTo>
                <a:lnTo>
                  <a:pt x="49" y="31"/>
                </a:lnTo>
                <a:lnTo>
                  <a:pt x="43" y="34"/>
                </a:lnTo>
                <a:lnTo>
                  <a:pt x="38" y="36"/>
                </a:lnTo>
                <a:lnTo>
                  <a:pt x="32" y="38"/>
                </a:lnTo>
                <a:lnTo>
                  <a:pt x="26" y="42"/>
                </a:lnTo>
                <a:lnTo>
                  <a:pt x="23" y="44"/>
                </a:lnTo>
                <a:lnTo>
                  <a:pt x="15" y="50"/>
                </a:lnTo>
                <a:lnTo>
                  <a:pt x="7" y="55"/>
                </a:lnTo>
                <a:lnTo>
                  <a:pt x="4" y="59"/>
                </a:lnTo>
                <a:lnTo>
                  <a:pt x="2" y="61"/>
                </a:lnTo>
                <a:lnTo>
                  <a:pt x="2" y="61"/>
                </a:lnTo>
                <a:close/>
              </a:path>
            </a:pathLst>
          </a:cu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US">
              <a:latin typeface="Helvetica" charset="0"/>
              <a:ea typeface="+mn-ea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672" r:id="rId2"/>
    <p:sldLayoutId id="2147483673" r:id="rId3"/>
    <p:sldLayoutId id="2147483674" r:id="rId4"/>
    <p:sldLayoutId id="2147483675" r:id="rId5"/>
    <p:sldLayoutId id="2147483676" r:id="rId6"/>
    <p:sldLayoutId id="2147483677" r:id="rId7"/>
    <p:sldLayoutId id="2147483678" r:id="rId8"/>
    <p:sldLayoutId id="2147483679" r:id="rId9"/>
    <p:sldLayoutId id="2147483680" r:id="rId10"/>
    <p:sldLayoutId id="214748368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rgbClr val="C00000"/>
          </a:solidFill>
          <a:effectLst>
            <a:outerShdw blurRad="38100" dist="38100" dir="2700000" algn="tl">
              <a:srgbClr val="DDDDDD"/>
            </a:outerShdw>
          </a:effectLst>
          <a:latin typeface="Calibri" panose="020F0502020204030204" pitchFamily="34" charset="0"/>
          <a:ea typeface="ＭＳ Ｐゴシック" panose="020B0600070205080204" pitchFamily="34" charset="-128"/>
          <a:cs typeface="Calibri" panose="020F0502020204030204" pitchFamily="34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  <a:ea typeface="ＭＳ Ｐゴシック" panose="020B0600070205080204" pitchFamily="34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  <a:ea typeface="ＭＳ Ｐゴシック" panose="020B0600070205080204" pitchFamily="34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  <a:ea typeface="ＭＳ Ｐゴシック" panose="020B0600070205080204" pitchFamily="34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  <a:ea typeface="ＭＳ Ｐゴシック" panose="020B0600070205080204" pitchFamily="34" charset="-128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</a:defRPr>
      </a:lvl9pPr>
    </p:titleStyle>
    <p:bodyStyle>
      <a:lvl1pPr marL="342900" indent="-3429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90000"/>
        <a:buFont typeface="Monotype Sorts" charset="2"/>
        <a:buChar char="n"/>
        <a:defRPr kumimoji="1">
          <a:solidFill>
            <a:schemeClr val="tx1"/>
          </a:solidFill>
          <a:latin typeface="+mn-lt"/>
          <a:ea typeface="ＭＳ Ｐゴシック" panose="020B0600070205080204" pitchFamily="34" charset="-128"/>
          <a:cs typeface="+mn-cs"/>
        </a:defRPr>
      </a:lvl1pPr>
      <a:lvl2pPr marL="742950" indent="-285750" algn="l" rtl="0" eaLnBrk="0" fontAlgn="base" hangingPunct="0">
        <a:spcBef>
          <a:spcPct val="35000"/>
        </a:spcBef>
        <a:spcAft>
          <a:spcPct val="0"/>
        </a:spcAft>
        <a:buClr>
          <a:schemeClr val="folHlink"/>
        </a:buClr>
        <a:buSzPct val="80000"/>
        <a:buFont typeface="Monotype Sorts" charset="2"/>
        <a:buChar char="l"/>
        <a:defRPr kumimoji="1">
          <a:solidFill>
            <a:schemeClr val="tx1"/>
          </a:solidFill>
          <a:latin typeface="+mn-lt"/>
          <a:ea typeface="ＭＳ Ｐゴシック" charset="-128"/>
        </a:defRPr>
      </a:lvl2pPr>
      <a:lvl3pPr marL="1085850" indent="-228600" algn="l" rtl="0" eaLnBrk="0" fontAlgn="base" hangingPunct="0">
        <a:spcBef>
          <a:spcPct val="35000"/>
        </a:spcBef>
        <a:spcAft>
          <a:spcPct val="0"/>
        </a:spcAft>
        <a:buClr>
          <a:srgbClr val="33CC33"/>
        </a:buClr>
        <a:buSzPct val="75000"/>
        <a:buFont typeface="Webdings" panose="05030102010509060703" pitchFamily="18" charset="2"/>
        <a:buChar char="4"/>
        <a:defRPr kumimoji="1">
          <a:solidFill>
            <a:schemeClr val="tx1"/>
          </a:solidFill>
          <a:latin typeface="+mn-lt"/>
          <a:ea typeface="ＭＳ Ｐゴシック" charset="-128"/>
        </a:defRPr>
      </a:lvl3pPr>
      <a:lvl4pPr marL="1428750" indent="-228600" algn="l" rtl="0" eaLnBrk="0" fontAlgn="base" hangingPunct="0">
        <a:spcBef>
          <a:spcPct val="35000"/>
        </a:spcBef>
        <a:spcAft>
          <a:spcPct val="0"/>
        </a:spcAft>
        <a:buClr>
          <a:schemeClr val="hlink"/>
        </a:buClr>
        <a:buFont typeface="Times New Roman" panose="02020603050405020304" pitchFamily="18" charset="0"/>
        <a:buChar char="–"/>
        <a:defRPr kumimoji="1">
          <a:solidFill>
            <a:schemeClr val="tx1"/>
          </a:solidFill>
          <a:latin typeface="+mn-lt"/>
          <a:ea typeface="ＭＳ Ｐゴシック" charset="-128"/>
        </a:defRPr>
      </a:lvl4pPr>
      <a:lvl5pPr marL="17716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5pPr>
      <a:lvl6pPr marL="22288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6pPr>
      <a:lvl7pPr marL="26860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7pPr>
      <a:lvl8pPr marL="31432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8pPr>
      <a:lvl9pPr marL="36004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e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jpe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eg"/><Relationship Id="rId3" Type="http://schemas.openxmlformats.org/officeDocument/2006/relationships/image" Target="../media/image1.jpeg"/><Relationship Id="rId4" Type="http://schemas.openxmlformats.org/officeDocument/2006/relationships/image" Target="../media/image5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jpe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7.jpeg"/><Relationship Id="rId4" Type="http://schemas.openxmlformats.org/officeDocument/2006/relationships/image" Target="../media/image8.jpe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71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812549" y="2027976"/>
            <a:ext cx="7772400" cy="1143000"/>
          </a:xfrm>
        </p:spPr>
        <p:txBody>
          <a:bodyPr/>
          <a:lstStyle/>
          <a:p>
            <a:pPr>
              <a:defRPr/>
            </a:pPr>
            <a:r>
              <a:rPr lang="en-US" dirty="0" smtClean="0">
                <a:ea typeface="+mj-ea"/>
              </a:rPr>
              <a:t>Introduction to SQL</a:t>
            </a:r>
            <a:endParaRPr lang="en-US" dirty="0">
              <a:ea typeface="+mj-ea"/>
            </a:endParaRPr>
          </a:p>
        </p:txBody>
      </p:sp>
      <p:sp>
        <p:nvSpPr>
          <p:cNvPr id="3" name="Rectangle 2"/>
          <p:cNvSpPr txBox="1">
            <a:spLocks noChangeArrowheads="1"/>
          </p:cNvSpPr>
          <p:nvPr/>
        </p:nvSpPr>
        <p:spPr bwMode="auto">
          <a:xfrm>
            <a:off x="566596" y="4321521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rgbClr val="CC3300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+mj-lt"/>
                <a:ea typeface="ＭＳ Ｐゴシック" panose="020B0600070205080204" pitchFamily="34" charset="-128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Helvetica" charset="0"/>
                <a:ea typeface="ＭＳ Ｐゴシック" panose="020B0600070205080204" pitchFamily="34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Helvetica" charset="0"/>
                <a:ea typeface="ＭＳ Ｐゴシック" panose="020B0600070205080204" pitchFamily="34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Helvetica" charset="0"/>
                <a:ea typeface="ＭＳ Ｐゴシック" panose="020B0600070205080204" pitchFamily="34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Helvetica" charset="0"/>
                <a:ea typeface="ＭＳ Ｐゴシック" panose="020B0600070205080204" pitchFamily="34" charset="-128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Helvetica" charset="0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Helvetica" charset="0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Helvetica" charset="0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Helvetica" charset="0"/>
              </a:defRPr>
            </a:lvl9pPr>
          </a:lstStyle>
          <a:p>
            <a:pPr>
              <a:defRPr/>
            </a:pPr>
            <a:endParaRPr lang="en-US" b="0" kern="0" dirty="0">
              <a:solidFill>
                <a:schemeClr val="tx1">
                  <a:lumMod val="50000"/>
                  <a:lumOff val="50000"/>
                </a:schemeClr>
              </a:solidFill>
              <a:latin typeface="Calibri" panose="020F0502020204030204" pitchFamily="34" charset="0"/>
              <a:ea typeface="+mj-ea"/>
              <a:cs typeface="Calibri" panose="020F050202020403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>
                <a:ea typeface="+mj-ea"/>
              </a:rPr>
              <a:t>The Relational Model</a:t>
            </a:r>
            <a:endParaRPr lang="en-US" dirty="0">
              <a:ea typeface="+mj-ea"/>
            </a:endParaRPr>
          </a:p>
        </p:txBody>
      </p:sp>
      <p:pic>
        <p:nvPicPr>
          <p:cNvPr id="17411" name="Picture 3" descr="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8551" y="2760144"/>
            <a:ext cx="5291137" cy="397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412" name="Text Box 4"/>
          <p:cNvSpPr txBox="1">
            <a:spLocks noChangeArrowheads="1"/>
          </p:cNvSpPr>
          <p:nvPr/>
        </p:nvSpPr>
        <p:spPr bwMode="auto">
          <a:xfrm>
            <a:off x="7466076" y="2166419"/>
            <a:ext cx="14541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504020202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1600">
                <a:solidFill>
                  <a:schemeClr val="tx1"/>
                </a:solidFill>
                <a:latin typeface="Helvetica" panose="020B0504020202030204" pitchFamily="34" charset="0"/>
                <a:ea typeface="ＭＳ Ｐゴシック" panose="020B0600070205080204" pitchFamily="34" charset="-128"/>
              </a:defRPr>
            </a:lvl2pPr>
            <a:lvl3pPr>
              <a:defRPr sz="1600">
                <a:solidFill>
                  <a:schemeClr val="tx1"/>
                </a:solidFill>
                <a:latin typeface="Helvetica" panose="020B0504020202030204" pitchFamily="34" charset="0"/>
                <a:ea typeface="ＭＳ Ｐゴシック" panose="020B0600070205080204" pitchFamily="34" charset="-128"/>
              </a:defRPr>
            </a:lvl3pPr>
            <a:lvl4pPr>
              <a:defRPr sz="1600">
                <a:solidFill>
                  <a:schemeClr val="tx1"/>
                </a:solidFill>
                <a:latin typeface="Helvetica" panose="020B0504020202030204" pitchFamily="34" charset="0"/>
                <a:ea typeface="ＭＳ Ｐゴシック" panose="020B0600070205080204" pitchFamily="34" charset="-128"/>
              </a:defRPr>
            </a:lvl4pPr>
            <a:lvl5pPr>
              <a:defRPr sz="1600">
                <a:solidFill>
                  <a:schemeClr val="tx1"/>
                </a:solidFill>
                <a:latin typeface="Helvetica" panose="020B050402020203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50402020203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50402020203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50402020203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50402020203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800"/>
              <a:t>attributes</a:t>
            </a:r>
          </a:p>
          <a:p>
            <a:pPr algn="ctr"/>
            <a:r>
              <a:rPr lang="en-US" altLang="en-US" sz="1800"/>
              <a:t>(or columns)</a:t>
            </a:r>
            <a:endParaRPr lang="en-US" altLang="en-US"/>
          </a:p>
        </p:txBody>
      </p:sp>
      <p:sp>
        <p:nvSpPr>
          <p:cNvPr id="17413" name="Line 5"/>
          <p:cNvSpPr>
            <a:spLocks noChangeShapeType="1"/>
          </p:cNvSpPr>
          <p:nvPr/>
        </p:nvSpPr>
        <p:spPr bwMode="auto">
          <a:xfrm flipH="1">
            <a:off x="3664013" y="2371207"/>
            <a:ext cx="3889375" cy="3778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7414" name="Line 6"/>
          <p:cNvSpPr>
            <a:spLocks noChangeShapeType="1"/>
          </p:cNvSpPr>
          <p:nvPr/>
        </p:nvSpPr>
        <p:spPr bwMode="auto">
          <a:xfrm flipH="1">
            <a:off x="5034026" y="2425182"/>
            <a:ext cx="2557462" cy="3238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7415" name="Line 7"/>
          <p:cNvSpPr>
            <a:spLocks noChangeShapeType="1"/>
          </p:cNvSpPr>
          <p:nvPr/>
        </p:nvSpPr>
        <p:spPr bwMode="auto">
          <a:xfrm flipH="1">
            <a:off x="6245288" y="2398194"/>
            <a:ext cx="1320800" cy="3603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7416" name="Text Box 8"/>
          <p:cNvSpPr txBox="1">
            <a:spLocks noChangeArrowheads="1"/>
          </p:cNvSpPr>
          <p:nvPr/>
        </p:nvSpPr>
        <p:spPr bwMode="auto">
          <a:xfrm>
            <a:off x="7413688" y="3355457"/>
            <a:ext cx="10858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504020202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1600">
                <a:solidFill>
                  <a:schemeClr val="tx1"/>
                </a:solidFill>
                <a:latin typeface="Helvetica" panose="020B0504020202030204" pitchFamily="34" charset="0"/>
                <a:ea typeface="ＭＳ Ｐゴシック" panose="020B0600070205080204" pitchFamily="34" charset="-128"/>
              </a:defRPr>
            </a:lvl2pPr>
            <a:lvl3pPr>
              <a:defRPr sz="1600">
                <a:solidFill>
                  <a:schemeClr val="tx1"/>
                </a:solidFill>
                <a:latin typeface="Helvetica" panose="020B0504020202030204" pitchFamily="34" charset="0"/>
                <a:ea typeface="ＭＳ Ｐゴシック" panose="020B0600070205080204" pitchFamily="34" charset="-128"/>
              </a:defRPr>
            </a:lvl3pPr>
            <a:lvl4pPr>
              <a:defRPr sz="1600">
                <a:solidFill>
                  <a:schemeClr val="tx1"/>
                </a:solidFill>
                <a:latin typeface="Helvetica" panose="020B0504020202030204" pitchFamily="34" charset="0"/>
                <a:ea typeface="ＭＳ Ｐゴシック" panose="020B0600070205080204" pitchFamily="34" charset="-128"/>
              </a:defRPr>
            </a:lvl4pPr>
            <a:lvl5pPr>
              <a:defRPr sz="1600">
                <a:solidFill>
                  <a:schemeClr val="tx1"/>
                </a:solidFill>
                <a:latin typeface="Helvetica" panose="020B050402020203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50402020203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50402020203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50402020203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50402020203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1800"/>
              <a:t>tuples</a:t>
            </a:r>
          </a:p>
          <a:p>
            <a:pPr algn="ctr"/>
            <a:r>
              <a:rPr lang="en-US" altLang="en-US" sz="1800"/>
              <a:t>(or rows)</a:t>
            </a:r>
            <a:endParaRPr lang="en-US" altLang="en-US"/>
          </a:p>
        </p:txBody>
      </p:sp>
      <p:sp>
        <p:nvSpPr>
          <p:cNvPr id="17417" name="Line 9"/>
          <p:cNvSpPr>
            <a:spLocks noChangeShapeType="1"/>
          </p:cNvSpPr>
          <p:nvPr/>
        </p:nvSpPr>
        <p:spPr bwMode="auto">
          <a:xfrm flipH="1" flipV="1">
            <a:off x="7167626" y="3320532"/>
            <a:ext cx="369887" cy="2206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7418" name="Line 10"/>
          <p:cNvSpPr>
            <a:spLocks noChangeShapeType="1"/>
          </p:cNvSpPr>
          <p:nvPr/>
        </p:nvSpPr>
        <p:spPr bwMode="auto">
          <a:xfrm flipH="1">
            <a:off x="7154926" y="3539607"/>
            <a:ext cx="369887" cy="111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7419" name="Line 11"/>
          <p:cNvSpPr>
            <a:spLocks noChangeShapeType="1"/>
          </p:cNvSpPr>
          <p:nvPr/>
        </p:nvSpPr>
        <p:spPr bwMode="auto">
          <a:xfrm flipH="1">
            <a:off x="7143813" y="3550719"/>
            <a:ext cx="392113" cy="3127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7420" name="Line 12"/>
          <p:cNvSpPr>
            <a:spLocks noChangeShapeType="1"/>
          </p:cNvSpPr>
          <p:nvPr/>
        </p:nvSpPr>
        <p:spPr bwMode="auto">
          <a:xfrm flipH="1">
            <a:off x="7154926" y="3560244"/>
            <a:ext cx="381000" cy="5556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3" name="Rectangle 3"/>
          <p:cNvSpPr txBox="1">
            <a:spLocks noChangeArrowheads="1"/>
          </p:cNvSpPr>
          <p:nvPr/>
        </p:nvSpPr>
        <p:spPr>
          <a:xfrm>
            <a:off x="404813" y="1025525"/>
            <a:ext cx="7126287" cy="487680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90000"/>
              <a:buFont typeface="Monotype Sorts" charset="2"/>
              <a:buChar char="n"/>
              <a:defRPr kumimoji="1">
                <a:solidFill>
                  <a:schemeClr val="tx1"/>
                </a:solidFill>
                <a:latin typeface="+mn-lt"/>
                <a:ea typeface="ＭＳ Ｐゴシック" panose="020B0600070205080204" pitchFamily="34" charset="-128"/>
                <a:cs typeface="+mn-cs"/>
              </a:defRPr>
            </a:lvl1pPr>
            <a:lvl2pPr marL="742950" indent="-28575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Monotype Sorts" charset="2"/>
              <a:buChar char="l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2pPr>
            <a:lvl3pPr marL="1085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3pPr>
            <a:lvl4pPr marL="14287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Font typeface="Times New Roman" panose="02020603050405020304" pitchFamily="18" charset="0"/>
              <a:buChar char="–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4pPr>
            <a:lvl5pPr marL="17716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5pPr>
            <a:lvl6pPr marL="2228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6860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31432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6004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r>
              <a:rPr lang="en-US" altLang="en-US" sz="1800" kern="0" dirty="0" smtClean="0"/>
              <a:t>Data is stored in tables we call </a:t>
            </a:r>
            <a:r>
              <a:rPr lang="en-US" altLang="en-US" sz="1800" kern="0" dirty="0" smtClean="0">
                <a:solidFill>
                  <a:srgbClr val="0070C0"/>
                </a:solidFill>
              </a:rPr>
              <a:t>relations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8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ea typeface="+mj-ea"/>
              </a:rPr>
              <a:t>Attribute Types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03313" y="1219200"/>
            <a:ext cx="7126287" cy="4876800"/>
          </a:xfrm>
        </p:spPr>
        <p:txBody>
          <a:bodyPr/>
          <a:lstStyle/>
          <a:p>
            <a:r>
              <a:rPr lang="en-US" altLang="en-US" dirty="0" smtClean="0"/>
              <a:t>The set of allowed values for each attribute is called the </a:t>
            </a:r>
            <a:r>
              <a:rPr lang="en-US" altLang="en-US" b="1" dirty="0" smtClean="0">
                <a:solidFill>
                  <a:srgbClr val="000099"/>
                </a:solidFill>
              </a:rPr>
              <a:t>domain</a:t>
            </a:r>
            <a:r>
              <a:rPr lang="en-US" altLang="en-US" dirty="0" smtClean="0"/>
              <a:t> of the attribute</a:t>
            </a:r>
          </a:p>
          <a:p>
            <a:r>
              <a:rPr lang="en-US" altLang="en-US" dirty="0" smtClean="0"/>
              <a:t>Attribute values are (normally) required to be </a:t>
            </a:r>
            <a:r>
              <a:rPr lang="en-US" altLang="en-US" b="1" dirty="0" smtClean="0">
                <a:solidFill>
                  <a:srgbClr val="000099"/>
                </a:solidFill>
              </a:rPr>
              <a:t>atomic</a:t>
            </a:r>
            <a:r>
              <a:rPr lang="en-US" altLang="en-US" dirty="0" smtClean="0"/>
              <a:t>; that is, indivisible</a:t>
            </a:r>
          </a:p>
          <a:p>
            <a:r>
              <a:rPr lang="en-US" altLang="en-US" dirty="0" smtClean="0"/>
              <a:t>The special value</a:t>
            </a:r>
            <a:r>
              <a:rPr lang="en-US" altLang="en-US" b="1" dirty="0" smtClean="0">
                <a:solidFill>
                  <a:schemeClr val="tx2"/>
                </a:solidFill>
              </a:rPr>
              <a:t> </a:t>
            </a:r>
            <a:r>
              <a:rPr lang="en-US" altLang="en-US" b="1" i="1" dirty="0" smtClean="0">
                <a:solidFill>
                  <a:srgbClr val="000000"/>
                </a:solidFill>
              </a:rPr>
              <a:t>null</a:t>
            </a:r>
            <a:r>
              <a:rPr lang="en-US" altLang="en-US" dirty="0" smtClean="0"/>
              <a:t>  is a member of every domain</a:t>
            </a:r>
          </a:p>
          <a:p>
            <a:r>
              <a:rPr lang="en-US" altLang="en-US" dirty="0" smtClean="0"/>
              <a:t>The null value causes complications in the definition of many operations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8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ea typeface="+mj-ea"/>
              </a:rPr>
              <a:t>Relation Schema and Instance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98513" y="1077913"/>
            <a:ext cx="7848600" cy="4876800"/>
          </a:xfrm>
        </p:spPr>
        <p:txBody>
          <a:bodyPr/>
          <a:lstStyle/>
          <a:p>
            <a:r>
              <a:rPr lang="en-US" altLang="en-US" i="1" smtClean="0"/>
              <a:t>A</a:t>
            </a:r>
            <a:r>
              <a:rPr lang="en-US" altLang="en-US" baseline="-25000" smtClean="0"/>
              <a:t>1</a:t>
            </a:r>
            <a:r>
              <a:rPr lang="en-US" altLang="en-US" smtClean="0"/>
              <a:t>, </a:t>
            </a:r>
            <a:r>
              <a:rPr lang="en-US" altLang="en-US" i="1" smtClean="0"/>
              <a:t>A</a:t>
            </a:r>
            <a:r>
              <a:rPr lang="en-US" altLang="en-US" baseline="-25000" smtClean="0"/>
              <a:t>2</a:t>
            </a:r>
            <a:r>
              <a:rPr lang="en-US" altLang="en-US" smtClean="0"/>
              <a:t>, …, </a:t>
            </a:r>
            <a:r>
              <a:rPr lang="en-US" altLang="en-US" i="1" smtClean="0"/>
              <a:t>A</a:t>
            </a:r>
            <a:r>
              <a:rPr lang="en-US" altLang="en-US" i="1" baseline="-25000" smtClean="0"/>
              <a:t>n</a:t>
            </a:r>
            <a:r>
              <a:rPr lang="en-US" altLang="en-US" i="1" smtClean="0"/>
              <a:t> </a:t>
            </a:r>
            <a:r>
              <a:rPr lang="en-US" altLang="en-US" smtClean="0"/>
              <a:t>are </a:t>
            </a:r>
            <a:r>
              <a:rPr lang="en-US" altLang="en-US" i="1" smtClean="0"/>
              <a:t>attributes</a:t>
            </a:r>
          </a:p>
          <a:p>
            <a:pPr>
              <a:buFont typeface="Monotype Sorts" charset="2"/>
              <a:buNone/>
            </a:pPr>
            <a:endParaRPr lang="en-US" altLang="en-US" smtClean="0"/>
          </a:p>
          <a:p>
            <a:r>
              <a:rPr lang="en-US" altLang="en-US" i="1" smtClean="0"/>
              <a:t>R</a:t>
            </a:r>
            <a:r>
              <a:rPr lang="en-US" altLang="en-US" smtClean="0"/>
              <a:t> = (</a:t>
            </a:r>
            <a:r>
              <a:rPr lang="en-US" altLang="en-US" i="1" smtClean="0"/>
              <a:t>A</a:t>
            </a:r>
            <a:r>
              <a:rPr lang="en-US" altLang="en-US" baseline="-25000" smtClean="0"/>
              <a:t>1</a:t>
            </a:r>
            <a:r>
              <a:rPr lang="en-US" altLang="en-US" smtClean="0"/>
              <a:t>, </a:t>
            </a:r>
            <a:r>
              <a:rPr lang="en-US" altLang="en-US" i="1" smtClean="0"/>
              <a:t>A</a:t>
            </a:r>
            <a:r>
              <a:rPr lang="en-US" altLang="en-US" baseline="-25000" smtClean="0"/>
              <a:t>2</a:t>
            </a:r>
            <a:r>
              <a:rPr lang="en-US" altLang="en-US" smtClean="0"/>
              <a:t>, …, </a:t>
            </a:r>
            <a:r>
              <a:rPr lang="en-US" altLang="en-US" i="1" smtClean="0"/>
              <a:t>A</a:t>
            </a:r>
            <a:r>
              <a:rPr lang="en-US" altLang="en-US" i="1" baseline="-25000" smtClean="0"/>
              <a:t>n</a:t>
            </a:r>
            <a:r>
              <a:rPr lang="en-US" altLang="en-US" smtClean="0"/>
              <a:t> ) is a </a:t>
            </a:r>
            <a:r>
              <a:rPr lang="en-US" altLang="en-US" i="1" smtClean="0"/>
              <a:t>relation schema</a:t>
            </a:r>
          </a:p>
          <a:p>
            <a:pPr>
              <a:lnSpc>
                <a:spcPct val="120000"/>
              </a:lnSpc>
              <a:buFont typeface="Monotype Sorts" charset="2"/>
              <a:buNone/>
            </a:pPr>
            <a:r>
              <a:rPr lang="en-US" altLang="en-US" smtClean="0"/>
              <a:t>	Example:</a:t>
            </a:r>
          </a:p>
          <a:p>
            <a:pPr>
              <a:lnSpc>
                <a:spcPct val="120000"/>
              </a:lnSpc>
              <a:buFont typeface="Monotype Sorts" charset="2"/>
              <a:buNone/>
            </a:pPr>
            <a:r>
              <a:rPr lang="en-US" altLang="en-US" smtClean="0"/>
              <a:t>	</a:t>
            </a:r>
            <a:r>
              <a:rPr lang="en-US" altLang="en-US" i="1" smtClean="0"/>
              <a:t>     instructor </a:t>
            </a:r>
            <a:r>
              <a:rPr lang="en-US" altLang="en-US" smtClean="0"/>
              <a:t> = (</a:t>
            </a:r>
            <a:r>
              <a:rPr lang="en-US" altLang="en-US" i="1" smtClean="0"/>
              <a:t>ID,  name, dept_name, salary</a:t>
            </a:r>
            <a:r>
              <a:rPr lang="en-US" altLang="en-US" smtClean="0"/>
              <a:t>)</a:t>
            </a:r>
          </a:p>
          <a:p>
            <a:pPr>
              <a:lnSpc>
                <a:spcPct val="120000"/>
              </a:lnSpc>
            </a:pPr>
            <a:r>
              <a:rPr lang="en-US" altLang="en-US" smtClean="0"/>
              <a:t>Formally, given sets </a:t>
            </a:r>
            <a:r>
              <a:rPr lang="en-US" altLang="en-US" i="1" smtClean="0"/>
              <a:t>D</a:t>
            </a:r>
            <a:r>
              <a:rPr lang="en-US" altLang="en-US" baseline="-25000" smtClean="0"/>
              <a:t>1</a:t>
            </a:r>
            <a:r>
              <a:rPr lang="en-US" altLang="en-US" smtClean="0"/>
              <a:t>, </a:t>
            </a:r>
            <a:r>
              <a:rPr lang="en-US" altLang="en-US" i="1" smtClean="0"/>
              <a:t>D</a:t>
            </a:r>
            <a:r>
              <a:rPr lang="en-US" altLang="en-US" baseline="-25000" smtClean="0"/>
              <a:t>2</a:t>
            </a:r>
            <a:r>
              <a:rPr lang="en-US" altLang="en-US" smtClean="0"/>
              <a:t>, …. </a:t>
            </a:r>
            <a:r>
              <a:rPr lang="en-US" altLang="en-US" i="1" smtClean="0"/>
              <a:t>D</a:t>
            </a:r>
            <a:r>
              <a:rPr lang="en-US" altLang="en-US" i="1" baseline="-25000" smtClean="0"/>
              <a:t>n</a:t>
            </a:r>
            <a:r>
              <a:rPr lang="en-US" altLang="en-US" smtClean="0"/>
              <a:t> a </a:t>
            </a:r>
            <a:r>
              <a:rPr lang="en-US" altLang="en-US" b="1" smtClean="0">
                <a:solidFill>
                  <a:srgbClr val="000099"/>
                </a:solidFill>
              </a:rPr>
              <a:t>relation</a:t>
            </a:r>
            <a:r>
              <a:rPr lang="en-US" altLang="en-US" i="1" smtClean="0">
                <a:solidFill>
                  <a:srgbClr val="008000"/>
                </a:solidFill>
              </a:rPr>
              <a:t> </a:t>
            </a:r>
            <a:r>
              <a:rPr lang="en-US" altLang="en-US" b="1" i="1" smtClean="0">
                <a:solidFill>
                  <a:srgbClr val="000000"/>
                </a:solidFill>
              </a:rPr>
              <a:t>r</a:t>
            </a:r>
            <a:r>
              <a:rPr lang="en-US" altLang="en-US" smtClean="0"/>
              <a:t> is a subset of </a:t>
            </a:r>
            <a:br>
              <a:rPr lang="en-US" altLang="en-US" smtClean="0"/>
            </a:br>
            <a:r>
              <a:rPr lang="en-US" altLang="en-US" smtClean="0"/>
              <a:t>        </a:t>
            </a:r>
            <a:r>
              <a:rPr lang="en-US" altLang="en-US" i="1" smtClean="0"/>
              <a:t>D</a:t>
            </a:r>
            <a:r>
              <a:rPr lang="en-US" altLang="en-US" baseline="-25000" smtClean="0"/>
              <a:t>1</a:t>
            </a:r>
            <a:r>
              <a:rPr lang="en-US" altLang="en-US" smtClean="0"/>
              <a:t> x  </a:t>
            </a:r>
            <a:r>
              <a:rPr lang="en-US" altLang="en-US" i="1" smtClean="0"/>
              <a:t>D</a:t>
            </a:r>
            <a:r>
              <a:rPr lang="en-US" altLang="en-US" baseline="-25000" smtClean="0"/>
              <a:t>2 </a:t>
            </a:r>
            <a:r>
              <a:rPr lang="en-US" altLang="en-US" smtClean="0"/>
              <a:t> x … x </a:t>
            </a:r>
            <a:r>
              <a:rPr lang="en-US" altLang="en-US" i="1" smtClean="0"/>
              <a:t>D</a:t>
            </a:r>
            <a:r>
              <a:rPr lang="en-US" altLang="en-US" i="1" baseline="-25000" smtClean="0"/>
              <a:t>n</a:t>
            </a:r>
            <a:r>
              <a:rPr lang="en-US" altLang="en-US" smtClean="0"/>
              <a:t/>
            </a:r>
            <a:br>
              <a:rPr lang="en-US" altLang="en-US" smtClean="0"/>
            </a:br>
            <a:r>
              <a:rPr lang="en-US" altLang="en-US" smtClean="0"/>
              <a:t>Thus, a relation is a set of </a:t>
            </a:r>
            <a:r>
              <a:rPr lang="en-US" altLang="en-US" i="1" smtClean="0"/>
              <a:t>n</a:t>
            </a:r>
            <a:r>
              <a:rPr lang="en-US" altLang="en-US" smtClean="0"/>
              <a:t>-tuples (</a:t>
            </a:r>
            <a:r>
              <a:rPr lang="en-US" altLang="en-US" i="1" smtClean="0"/>
              <a:t>a</a:t>
            </a:r>
            <a:r>
              <a:rPr lang="en-US" altLang="en-US" baseline="-25000" smtClean="0"/>
              <a:t>1</a:t>
            </a:r>
            <a:r>
              <a:rPr lang="en-US" altLang="en-US" smtClean="0"/>
              <a:t>,</a:t>
            </a:r>
            <a:r>
              <a:rPr lang="en-US" altLang="en-US" i="1" smtClean="0"/>
              <a:t> a</a:t>
            </a:r>
            <a:r>
              <a:rPr lang="en-US" altLang="en-US" baseline="-25000" smtClean="0"/>
              <a:t>2</a:t>
            </a:r>
            <a:r>
              <a:rPr lang="en-US" altLang="en-US" smtClean="0"/>
              <a:t>, …, </a:t>
            </a:r>
            <a:r>
              <a:rPr lang="en-US" altLang="en-US" i="1" smtClean="0"/>
              <a:t>a</a:t>
            </a:r>
            <a:r>
              <a:rPr lang="en-US" altLang="en-US" i="1" baseline="-25000" smtClean="0"/>
              <a:t>n</a:t>
            </a:r>
            <a:r>
              <a:rPr lang="en-US" altLang="en-US" smtClean="0"/>
              <a:t>) where each </a:t>
            </a:r>
            <a:r>
              <a:rPr lang="en-US" altLang="en-US" i="1" smtClean="0"/>
              <a:t>a</a:t>
            </a:r>
            <a:r>
              <a:rPr lang="en-US" altLang="en-US" i="1" baseline="-25000" smtClean="0"/>
              <a:t>i</a:t>
            </a:r>
            <a:r>
              <a:rPr lang="en-US" altLang="en-US" smtClean="0"/>
              <a:t>  </a:t>
            </a:r>
            <a:r>
              <a:rPr lang="en-US" altLang="en-US" smtClean="0">
                <a:sym typeface="Symbol" panose="05050102010706020507" pitchFamily="18" charset="2"/>
              </a:rPr>
              <a:t> </a:t>
            </a:r>
            <a:r>
              <a:rPr lang="en-US" altLang="en-US" i="1" smtClean="0">
                <a:sym typeface="Symbol" panose="05050102010706020507" pitchFamily="18" charset="2"/>
              </a:rPr>
              <a:t>D</a:t>
            </a:r>
            <a:r>
              <a:rPr lang="en-US" altLang="en-US" i="1" baseline="-25000" smtClean="0">
                <a:sym typeface="Symbol" panose="05050102010706020507" pitchFamily="18" charset="2"/>
              </a:rPr>
              <a:t>i</a:t>
            </a:r>
            <a:endParaRPr lang="en-US" altLang="en-US" i="1" smtClean="0">
              <a:sym typeface="Symbol" panose="05050102010706020507" pitchFamily="18" charset="2"/>
            </a:endParaRPr>
          </a:p>
          <a:p>
            <a:pPr>
              <a:lnSpc>
                <a:spcPct val="120000"/>
              </a:lnSpc>
              <a:buFont typeface="Monotype Sorts" charset="2"/>
              <a:buNone/>
            </a:pPr>
            <a:endParaRPr lang="en-US" altLang="en-US" smtClean="0"/>
          </a:p>
          <a:p>
            <a:pPr>
              <a:lnSpc>
                <a:spcPct val="120000"/>
              </a:lnSpc>
              <a:buFont typeface="Monotype Sorts" charset="2"/>
              <a:buNone/>
            </a:pPr>
            <a:endParaRPr lang="en-US" altLang="en-US" smtClean="0"/>
          </a:p>
          <a:p>
            <a:pPr>
              <a:buFont typeface="Monotype Sorts" charset="2"/>
              <a:buNone/>
            </a:pPr>
            <a:endParaRPr lang="en-US" altLang="en-US" smtClean="0"/>
          </a:p>
        </p:txBody>
      </p:sp>
      <p:sp>
        <p:nvSpPr>
          <p:cNvPr id="21508" name="Rectangle 4"/>
          <p:cNvSpPr>
            <a:spLocks noChangeArrowheads="1"/>
          </p:cNvSpPr>
          <p:nvPr/>
        </p:nvSpPr>
        <p:spPr bwMode="auto">
          <a:xfrm>
            <a:off x="820738" y="4400550"/>
            <a:ext cx="7404100" cy="1979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1600">
                <a:solidFill>
                  <a:schemeClr val="tx1"/>
                </a:solidFill>
                <a:latin typeface="Helvetica" panose="020B0504020202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1600">
                <a:solidFill>
                  <a:schemeClr val="tx1"/>
                </a:solidFill>
                <a:latin typeface="Helvetica" panose="020B0504020202030204" pitchFamily="34" charset="0"/>
                <a:ea typeface="ＭＳ Ｐゴシック" panose="020B0600070205080204" pitchFamily="34" charset="-128"/>
              </a:defRPr>
            </a:lvl2pPr>
            <a:lvl3pPr>
              <a:defRPr sz="1600">
                <a:solidFill>
                  <a:schemeClr val="tx1"/>
                </a:solidFill>
                <a:latin typeface="Helvetica" panose="020B0504020202030204" pitchFamily="34" charset="0"/>
                <a:ea typeface="ＭＳ Ｐゴシック" panose="020B0600070205080204" pitchFamily="34" charset="-128"/>
              </a:defRPr>
            </a:lvl3pPr>
            <a:lvl4pPr>
              <a:defRPr sz="1600">
                <a:solidFill>
                  <a:schemeClr val="tx1"/>
                </a:solidFill>
                <a:latin typeface="Helvetica" panose="020B0504020202030204" pitchFamily="34" charset="0"/>
                <a:ea typeface="ＭＳ Ｐゴシック" panose="020B0600070205080204" pitchFamily="34" charset="-128"/>
              </a:defRPr>
            </a:lvl4pPr>
            <a:lvl5pPr>
              <a:defRPr sz="1600">
                <a:solidFill>
                  <a:schemeClr val="tx1"/>
                </a:solidFill>
                <a:latin typeface="Helvetica" panose="020B050402020203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50402020203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50402020203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50402020203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504020202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35000"/>
              </a:spcBef>
              <a:buClr>
                <a:schemeClr val="tx2"/>
              </a:buClr>
              <a:buSzPct val="90000"/>
              <a:buFont typeface="Monotype Sorts" charset="2"/>
              <a:buChar char="n"/>
            </a:pPr>
            <a:r>
              <a:rPr kumimoji="1" lang="en-US" altLang="en-US" sz="1800"/>
              <a:t>The current values (</a:t>
            </a:r>
            <a:r>
              <a:rPr kumimoji="1" lang="en-US" altLang="en-US" sz="1800" b="1">
                <a:solidFill>
                  <a:srgbClr val="000099"/>
                </a:solidFill>
              </a:rPr>
              <a:t>relation instance</a:t>
            </a:r>
            <a:r>
              <a:rPr kumimoji="1" lang="en-US" altLang="en-US" sz="1800"/>
              <a:t>) of a relation are specified by a table</a:t>
            </a:r>
          </a:p>
          <a:p>
            <a:pPr>
              <a:spcBef>
                <a:spcPct val="35000"/>
              </a:spcBef>
              <a:buClr>
                <a:schemeClr val="tx2"/>
              </a:buClr>
              <a:buSzPct val="90000"/>
              <a:buFont typeface="Monotype Sorts" charset="2"/>
              <a:buChar char="n"/>
            </a:pPr>
            <a:r>
              <a:rPr kumimoji="1" lang="en-US" altLang="en-US" sz="1800"/>
              <a:t>An element </a:t>
            </a:r>
            <a:r>
              <a:rPr kumimoji="1" lang="en-US" altLang="en-US" sz="1800" b="1" i="1">
                <a:solidFill>
                  <a:schemeClr val="bg2"/>
                </a:solidFill>
              </a:rPr>
              <a:t>t</a:t>
            </a:r>
            <a:r>
              <a:rPr kumimoji="1" lang="en-US" altLang="en-US" sz="1800" b="1"/>
              <a:t> </a:t>
            </a:r>
            <a:r>
              <a:rPr kumimoji="1" lang="en-US" altLang="en-US" sz="1800"/>
              <a:t>of</a:t>
            </a:r>
            <a:r>
              <a:rPr kumimoji="1" lang="en-US" altLang="en-US" sz="1800" b="1">
                <a:solidFill>
                  <a:schemeClr val="bg2"/>
                </a:solidFill>
              </a:rPr>
              <a:t> </a:t>
            </a:r>
            <a:r>
              <a:rPr kumimoji="1" lang="en-US" altLang="en-US" sz="1800" b="1" i="1">
                <a:solidFill>
                  <a:schemeClr val="bg2"/>
                </a:solidFill>
              </a:rPr>
              <a:t>r</a:t>
            </a:r>
            <a:r>
              <a:rPr kumimoji="1" lang="en-US" altLang="en-US" sz="1800"/>
              <a:t> is a </a:t>
            </a:r>
            <a:r>
              <a:rPr kumimoji="1" lang="en-US" altLang="en-US" sz="1800" i="1"/>
              <a:t>tuple</a:t>
            </a:r>
            <a:r>
              <a:rPr kumimoji="1" lang="en-US" altLang="en-US" sz="1800"/>
              <a:t>, represented by a </a:t>
            </a:r>
            <a:r>
              <a:rPr kumimoji="1" lang="en-US" altLang="en-US" sz="1800" i="1"/>
              <a:t>row </a:t>
            </a:r>
            <a:r>
              <a:rPr kumimoji="1" lang="en-US" altLang="en-US" sz="1800"/>
              <a:t>in a table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906" name="Rectangle 2"/>
          <p:cNvSpPr>
            <a:spLocks noGrp="1" noChangeArrowheads="1"/>
          </p:cNvSpPr>
          <p:nvPr>
            <p:ph type="title"/>
          </p:nvPr>
        </p:nvSpPr>
        <p:spPr>
          <a:xfrm>
            <a:off x="603250" y="12700"/>
            <a:ext cx="8077200" cy="606425"/>
          </a:xfrm>
        </p:spPr>
        <p:txBody>
          <a:bodyPr/>
          <a:lstStyle/>
          <a:p>
            <a:pPr>
              <a:defRPr/>
            </a:pPr>
            <a:r>
              <a:rPr lang="en-US">
                <a:ea typeface="+mj-ea"/>
              </a:rPr>
              <a:t>Relations are Unordered</a:t>
            </a:r>
          </a:p>
        </p:txBody>
      </p:sp>
      <p:sp>
        <p:nvSpPr>
          <p:cNvPr id="23555" name="Rectangle 3"/>
          <p:cNvSpPr>
            <a:spLocks noChangeArrowheads="1"/>
          </p:cNvSpPr>
          <p:nvPr/>
        </p:nvSpPr>
        <p:spPr bwMode="auto">
          <a:xfrm>
            <a:off x="798513" y="1077913"/>
            <a:ext cx="7735887" cy="738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504020202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 sz="1600">
                <a:solidFill>
                  <a:schemeClr val="tx1"/>
                </a:solidFill>
                <a:latin typeface="Helvetica" panose="020B0504020202030204" pitchFamily="34" charset="0"/>
                <a:ea typeface="ＭＳ Ｐゴシック" panose="020B0600070205080204" pitchFamily="34" charset="-128"/>
              </a:defRPr>
            </a:lvl2pPr>
            <a:lvl3pPr>
              <a:defRPr sz="1600">
                <a:solidFill>
                  <a:schemeClr val="tx1"/>
                </a:solidFill>
                <a:latin typeface="Helvetica" panose="020B0504020202030204" pitchFamily="34" charset="0"/>
                <a:ea typeface="ＭＳ Ｐゴシック" panose="020B0600070205080204" pitchFamily="34" charset="-128"/>
              </a:defRPr>
            </a:lvl3pPr>
            <a:lvl4pPr>
              <a:defRPr sz="1600">
                <a:solidFill>
                  <a:schemeClr val="tx1"/>
                </a:solidFill>
                <a:latin typeface="Helvetica" panose="020B0504020202030204" pitchFamily="34" charset="0"/>
                <a:ea typeface="ＭＳ Ｐゴシック" panose="020B0600070205080204" pitchFamily="34" charset="-128"/>
              </a:defRPr>
            </a:lvl4pPr>
            <a:lvl5pPr>
              <a:defRPr sz="1600">
                <a:solidFill>
                  <a:schemeClr val="tx1"/>
                </a:solidFill>
                <a:latin typeface="Helvetica" panose="020B050402020203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50402020203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50402020203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50402020203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504020202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35000"/>
              </a:spcBef>
              <a:buClr>
                <a:schemeClr val="tx2"/>
              </a:buClr>
              <a:buSzPct val="90000"/>
              <a:buFont typeface="Monotype Sorts" charset="2"/>
              <a:buChar char="n"/>
            </a:pPr>
            <a:r>
              <a:rPr kumimoji="1" lang="en-US" altLang="en-US" sz="1800"/>
              <a:t> Order of tuples is irrelevant (tuples may be stored in an arbitrary order)</a:t>
            </a:r>
          </a:p>
          <a:p>
            <a:pPr>
              <a:spcBef>
                <a:spcPct val="35000"/>
              </a:spcBef>
              <a:buClr>
                <a:schemeClr val="tx2"/>
              </a:buClr>
              <a:buSzPct val="90000"/>
              <a:buFont typeface="Monotype Sorts" charset="2"/>
              <a:buChar char="n"/>
            </a:pPr>
            <a:r>
              <a:rPr kumimoji="1" lang="en-US" altLang="en-US" sz="1800"/>
              <a:t> Example: </a:t>
            </a:r>
            <a:r>
              <a:rPr kumimoji="1" lang="en-US" altLang="en-US" sz="1800" i="1"/>
              <a:t>instructor</a:t>
            </a:r>
            <a:r>
              <a:rPr kumimoji="1" lang="en-US" altLang="en-US" sz="1800"/>
              <a:t> relation with unordered tuples</a:t>
            </a:r>
          </a:p>
        </p:txBody>
      </p:sp>
      <p:pic>
        <p:nvPicPr>
          <p:cNvPr id="23556" name="Picture 4" descr="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2208213"/>
            <a:ext cx="4953000" cy="3735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9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ea typeface="+mj-ea"/>
              </a:rPr>
              <a:t>Database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98513" y="1077913"/>
            <a:ext cx="8077200" cy="5176837"/>
          </a:xfrm>
        </p:spPr>
        <p:txBody>
          <a:bodyPr/>
          <a:lstStyle/>
          <a:p>
            <a:pPr>
              <a:spcBef>
                <a:spcPct val="60000"/>
              </a:spcBef>
            </a:pPr>
            <a:r>
              <a:rPr lang="en-US" altLang="en-US" dirty="0" smtClean="0"/>
              <a:t>A database consists of multiple relations</a:t>
            </a:r>
          </a:p>
          <a:p>
            <a:pPr>
              <a:spcBef>
                <a:spcPct val="60000"/>
              </a:spcBef>
            </a:pPr>
            <a:r>
              <a:rPr lang="en-US" altLang="en-US" dirty="0" smtClean="0"/>
              <a:t>Information about an enterprise is broken up into parts</a:t>
            </a:r>
          </a:p>
          <a:p>
            <a:pPr>
              <a:lnSpc>
                <a:spcPct val="110000"/>
              </a:lnSpc>
              <a:spcBef>
                <a:spcPct val="60000"/>
              </a:spcBef>
              <a:buFont typeface="Monotype Sorts" charset="2"/>
              <a:buNone/>
            </a:pPr>
            <a:r>
              <a:rPr lang="en-US" altLang="en-US" dirty="0" smtClean="0"/>
              <a:t>	        </a:t>
            </a:r>
            <a:r>
              <a:rPr lang="en-US" altLang="en-US" i="1" dirty="0" smtClean="0"/>
              <a:t>instructor</a:t>
            </a:r>
            <a:r>
              <a:rPr lang="en-US" altLang="en-US" dirty="0" smtClean="0"/>
              <a:t>  </a:t>
            </a:r>
            <a:br>
              <a:rPr lang="en-US" altLang="en-US" dirty="0" smtClean="0"/>
            </a:br>
            <a:r>
              <a:rPr lang="en-US" altLang="en-US" dirty="0" smtClean="0"/>
              <a:t>        </a:t>
            </a:r>
            <a:r>
              <a:rPr lang="en-US" altLang="en-US" i="1" dirty="0" smtClean="0"/>
              <a:t>student</a:t>
            </a:r>
            <a:r>
              <a:rPr lang="en-US" altLang="en-US" dirty="0" smtClean="0"/>
              <a:t>     </a:t>
            </a:r>
            <a:br>
              <a:rPr lang="en-US" altLang="en-US" dirty="0" smtClean="0"/>
            </a:br>
            <a:r>
              <a:rPr lang="en-US" altLang="en-US" dirty="0" smtClean="0"/>
              <a:t>        </a:t>
            </a:r>
            <a:r>
              <a:rPr lang="en-US" altLang="en-US" i="1" dirty="0" smtClean="0"/>
              <a:t>advisor</a:t>
            </a:r>
            <a:endParaRPr lang="en-US" altLang="en-US" dirty="0" smtClean="0"/>
          </a:p>
          <a:p>
            <a:pPr>
              <a:lnSpc>
                <a:spcPct val="110000"/>
              </a:lnSpc>
              <a:spcBef>
                <a:spcPct val="60000"/>
              </a:spcBef>
            </a:pPr>
            <a:r>
              <a:rPr lang="en-US" altLang="en-US" dirty="0" smtClean="0"/>
              <a:t>Bad design: </a:t>
            </a:r>
            <a:br>
              <a:rPr lang="en-US" altLang="en-US" dirty="0" smtClean="0"/>
            </a:br>
            <a:r>
              <a:rPr lang="en-US" altLang="en-US" dirty="0" smtClean="0"/>
              <a:t>       </a:t>
            </a:r>
            <a:r>
              <a:rPr lang="en-US" altLang="en-US" i="1" dirty="0" err="1" smtClean="0"/>
              <a:t>univ</a:t>
            </a:r>
            <a:r>
              <a:rPr lang="en-US" altLang="en-US" i="1" dirty="0" smtClean="0"/>
              <a:t> </a:t>
            </a:r>
            <a:r>
              <a:rPr lang="en-US" altLang="en-US" dirty="0" smtClean="0"/>
              <a:t>(</a:t>
            </a:r>
            <a:r>
              <a:rPr lang="en-US" altLang="en-US" i="1" dirty="0" smtClean="0"/>
              <a:t>instructor -ID, name, </a:t>
            </a:r>
            <a:r>
              <a:rPr lang="en-US" altLang="en-US" i="1" dirty="0" err="1" smtClean="0"/>
              <a:t>dept_name</a:t>
            </a:r>
            <a:r>
              <a:rPr lang="en-US" altLang="en-US" i="1" dirty="0" smtClean="0"/>
              <a:t>, salary, </a:t>
            </a:r>
            <a:r>
              <a:rPr lang="en-US" altLang="en-US" i="1" dirty="0" err="1" smtClean="0"/>
              <a:t>student_Id</a:t>
            </a:r>
            <a:r>
              <a:rPr lang="en-US" altLang="en-US" dirty="0" smtClean="0"/>
              <a:t>, ..)</a:t>
            </a:r>
            <a:br>
              <a:rPr lang="en-US" altLang="en-US" dirty="0" smtClean="0"/>
            </a:br>
            <a:r>
              <a:rPr lang="en-US" altLang="en-US" dirty="0" smtClean="0"/>
              <a:t>results in</a:t>
            </a:r>
          </a:p>
          <a:p>
            <a:pPr lvl="1">
              <a:spcBef>
                <a:spcPct val="60000"/>
              </a:spcBef>
            </a:pPr>
            <a:r>
              <a:rPr lang="en-US" altLang="en-US" dirty="0" smtClean="0">
                <a:ea typeface="ＭＳ Ｐゴシック" panose="020B0600070205080204" pitchFamily="34" charset="-128"/>
              </a:rPr>
              <a:t>repetition of information (e.g., two students have the same instructor)</a:t>
            </a:r>
          </a:p>
          <a:p>
            <a:pPr lvl="1">
              <a:spcBef>
                <a:spcPct val="60000"/>
              </a:spcBef>
            </a:pPr>
            <a:r>
              <a:rPr lang="en-US" altLang="en-US" dirty="0" smtClean="0">
                <a:ea typeface="ＭＳ Ｐゴシック" panose="020B0600070205080204" pitchFamily="34" charset="-128"/>
              </a:rPr>
              <a:t>the need for null values  (e.g., represent an student with no advisor)</a:t>
            </a:r>
          </a:p>
          <a:p>
            <a:pPr>
              <a:spcBef>
                <a:spcPct val="60000"/>
              </a:spcBef>
            </a:pPr>
            <a:r>
              <a:rPr lang="en-US" altLang="en-US" dirty="0" smtClean="0"/>
              <a:t>Normalization theory deals with how to design “good” relational schemas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ea typeface="+mj-ea"/>
              </a:rPr>
              <a:t>Keys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60425" y="1077913"/>
            <a:ext cx="7978775" cy="5311775"/>
          </a:xfrm>
        </p:spPr>
        <p:txBody>
          <a:bodyPr/>
          <a:lstStyle/>
          <a:p>
            <a:r>
              <a:rPr lang="en-US" altLang="en-US" dirty="0" smtClean="0"/>
              <a:t>Let K </a:t>
            </a:r>
            <a:r>
              <a:rPr lang="en-US" altLang="en-US" dirty="0" smtClean="0">
                <a:sym typeface="Symbol" panose="05050102010706020507" pitchFamily="18" charset="2"/>
              </a:rPr>
              <a:t> R</a:t>
            </a:r>
          </a:p>
          <a:p>
            <a:r>
              <a:rPr lang="en-US" altLang="en-US" i="1" dirty="0" smtClean="0">
                <a:sym typeface="Symbol" panose="05050102010706020507" pitchFamily="18" charset="2"/>
              </a:rPr>
              <a:t>K </a:t>
            </a:r>
            <a:r>
              <a:rPr lang="en-US" altLang="en-US" dirty="0" smtClean="0">
                <a:sym typeface="Symbol" panose="05050102010706020507" pitchFamily="18" charset="2"/>
              </a:rPr>
              <a:t>is a </a:t>
            </a:r>
            <a:r>
              <a:rPr lang="en-US" altLang="en-US" b="1" dirty="0" err="1" smtClean="0">
                <a:solidFill>
                  <a:srgbClr val="000099"/>
                </a:solidFill>
                <a:sym typeface="Symbol" panose="05050102010706020507" pitchFamily="18" charset="2"/>
              </a:rPr>
              <a:t>superkey</a:t>
            </a:r>
            <a:r>
              <a:rPr lang="en-US" altLang="en-US" b="1" dirty="0" smtClean="0">
                <a:solidFill>
                  <a:schemeClr val="tx2"/>
                </a:solidFill>
                <a:sym typeface="Symbol" panose="05050102010706020507" pitchFamily="18" charset="2"/>
              </a:rPr>
              <a:t> </a:t>
            </a:r>
            <a:r>
              <a:rPr lang="en-US" altLang="en-US" dirty="0" smtClean="0">
                <a:sym typeface="Symbol" panose="05050102010706020507" pitchFamily="18" charset="2"/>
              </a:rPr>
              <a:t>of </a:t>
            </a:r>
            <a:r>
              <a:rPr lang="en-US" altLang="en-US" i="1" dirty="0" smtClean="0">
                <a:sym typeface="Symbol" panose="05050102010706020507" pitchFamily="18" charset="2"/>
              </a:rPr>
              <a:t>R</a:t>
            </a:r>
            <a:r>
              <a:rPr lang="en-US" altLang="en-US" dirty="0" smtClean="0">
                <a:sym typeface="Symbol" panose="05050102010706020507" pitchFamily="18" charset="2"/>
              </a:rPr>
              <a:t> if values for </a:t>
            </a:r>
            <a:r>
              <a:rPr lang="en-US" altLang="en-US" i="1" dirty="0" smtClean="0">
                <a:sym typeface="Symbol" panose="05050102010706020507" pitchFamily="18" charset="2"/>
              </a:rPr>
              <a:t>K</a:t>
            </a:r>
            <a:r>
              <a:rPr lang="en-US" altLang="en-US" dirty="0" smtClean="0">
                <a:sym typeface="Symbol" panose="05050102010706020507" pitchFamily="18" charset="2"/>
              </a:rPr>
              <a:t> are sufficient to identify a unique tuple of each possible relation </a:t>
            </a:r>
            <a:r>
              <a:rPr lang="en-US" altLang="en-US" i="1" dirty="0" smtClean="0">
                <a:sym typeface="Symbol" panose="05050102010706020507" pitchFamily="18" charset="2"/>
              </a:rPr>
              <a:t>r(R)</a:t>
            </a:r>
            <a:r>
              <a:rPr lang="en-US" altLang="en-US" dirty="0" smtClean="0">
                <a:sym typeface="Symbol" panose="05050102010706020507" pitchFamily="18" charset="2"/>
              </a:rPr>
              <a:t> </a:t>
            </a:r>
          </a:p>
          <a:p>
            <a:pPr lvl="1">
              <a:lnSpc>
                <a:spcPct val="130000"/>
              </a:lnSpc>
            </a:pPr>
            <a:r>
              <a:rPr lang="en-US" altLang="en-US" dirty="0" smtClean="0">
                <a:ea typeface="ＭＳ Ｐゴシック" panose="020B0600070205080204" pitchFamily="34" charset="-128"/>
                <a:sym typeface="Symbol" panose="05050102010706020507" pitchFamily="18" charset="2"/>
              </a:rPr>
              <a:t>Example:  {</a:t>
            </a:r>
            <a:r>
              <a:rPr lang="en-US" altLang="en-US" i="1" dirty="0" smtClean="0">
                <a:ea typeface="ＭＳ Ｐゴシック" panose="020B0600070205080204" pitchFamily="34" charset="-128"/>
                <a:sym typeface="Symbol" panose="05050102010706020507" pitchFamily="18" charset="2"/>
              </a:rPr>
              <a:t>ID</a:t>
            </a:r>
            <a:r>
              <a:rPr lang="en-US" altLang="en-US" dirty="0" smtClean="0">
                <a:ea typeface="ＭＳ Ｐゴシック" panose="020B0600070205080204" pitchFamily="34" charset="-128"/>
                <a:sym typeface="Symbol" panose="05050102010706020507" pitchFamily="18" charset="2"/>
              </a:rPr>
              <a:t>} and {</a:t>
            </a:r>
            <a:r>
              <a:rPr lang="en-US" altLang="en-US" dirty="0" err="1" smtClean="0">
                <a:ea typeface="ＭＳ Ｐゴシック" panose="020B0600070205080204" pitchFamily="34" charset="-128"/>
                <a:sym typeface="Symbol" panose="05050102010706020507" pitchFamily="18" charset="2"/>
              </a:rPr>
              <a:t>ID,name</a:t>
            </a:r>
            <a:r>
              <a:rPr lang="en-US" altLang="en-US" dirty="0" smtClean="0">
                <a:ea typeface="ＭＳ Ｐゴシック" panose="020B0600070205080204" pitchFamily="34" charset="-128"/>
                <a:sym typeface="Symbol" panose="05050102010706020507" pitchFamily="18" charset="2"/>
              </a:rPr>
              <a:t>} are both </a:t>
            </a:r>
            <a:r>
              <a:rPr lang="en-US" altLang="en-US" dirty="0" err="1" smtClean="0">
                <a:ea typeface="ＭＳ Ｐゴシック" panose="020B0600070205080204" pitchFamily="34" charset="-128"/>
                <a:sym typeface="Symbol" panose="05050102010706020507" pitchFamily="18" charset="2"/>
              </a:rPr>
              <a:t>superkeys</a:t>
            </a:r>
            <a:r>
              <a:rPr lang="en-US" altLang="en-US" dirty="0" smtClean="0">
                <a:ea typeface="ＭＳ Ｐゴシック" panose="020B0600070205080204" pitchFamily="34" charset="-128"/>
                <a:sym typeface="Symbol" panose="05050102010706020507" pitchFamily="18" charset="2"/>
              </a:rPr>
              <a:t> of </a:t>
            </a:r>
            <a:r>
              <a:rPr lang="en-US" altLang="en-US" i="1" dirty="0" smtClean="0">
                <a:ea typeface="ＭＳ Ｐゴシック" panose="020B0600070205080204" pitchFamily="34" charset="-128"/>
                <a:sym typeface="Symbol" panose="05050102010706020507" pitchFamily="18" charset="2"/>
              </a:rPr>
              <a:t>instructor.</a:t>
            </a:r>
            <a:endParaRPr lang="en-US" altLang="en-US" dirty="0" smtClean="0">
              <a:ea typeface="ＭＳ Ｐゴシック" panose="020B0600070205080204" pitchFamily="34" charset="-128"/>
              <a:sym typeface="Symbol" panose="05050102010706020507" pitchFamily="18" charset="2"/>
            </a:endParaRPr>
          </a:p>
          <a:p>
            <a:pPr>
              <a:lnSpc>
                <a:spcPct val="120000"/>
              </a:lnSpc>
            </a:pPr>
            <a:r>
              <a:rPr lang="en-US" altLang="en-US" dirty="0" err="1" smtClean="0">
                <a:sym typeface="Symbol" panose="05050102010706020507" pitchFamily="18" charset="2"/>
              </a:rPr>
              <a:t>Superkey</a:t>
            </a:r>
            <a:r>
              <a:rPr lang="en-US" altLang="en-US" dirty="0" smtClean="0">
                <a:sym typeface="Symbol" panose="05050102010706020507" pitchFamily="18" charset="2"/>
              </a:rPr>
              <a:t> </a:t>
            </a:r>
            <a:r>
              <a:rPr lang="en-US" altLang="en-US" i="1" dirty="0" smtClean="0">
                <a:sym typeface="Symbol" panose="05050102010706020507" pitchFamily="18" charset="2"/>
              </a:rPr>
              <a:t>K</a:t>
            </a:r>
            <a:r>
              <a:rPr lang="en-US" altLang="en-US" dirty="0" smtClean="0">
                <a:sym typeface="Symbol" panose="05050102010706020507" pitchFamily="18" charset="2"/>
              </a:rPr>
              <a:t> is a </a:t>
            </a:r>
            <a:r>
              <a:rPr lang="en-US" altLang="en-US" b="1" dirty="0" smtClean="0">
                <a:solidFill>
                  <a:srgbClr val="000099"/>
                </a:solidFill>
                <a:sym typeface="Symbol" panose="05050102010706020507" pitchFamily="18" charset="2"/>
              </a:rPr>
              <a:t>candidate key</a:t>
            </a:r>
            <a:r>
              <a:rPr lang="en-US" altLang="en-US" dirty="0" smtClean="0">
                <a:sym typeface="Symbol" panose="05050102010706020507" pitchFamily="18" charset="2"/>
              </a:rPr>
              <a:t> if </a:t>
            </a:r>
            <a:r>
              <a:rPr lang="en-US" altLang="en-US" i="1" dirty="0" smtClean="0">
                <a:sym typeface="Symbol" panose="05050102010706020507" pitchFamily="18" charset="2"/>
              </a:rPr>
              <a:t>K</a:t>
            </a:r>
            <a:r>
              <a:rPr lang="en-US" altLang="en-US" dirty="0" smtClean="0">
                <a:sym typeface="Symbol" panose="05050102010706020507" pitchFamily="18" charset="2"/>
              </a:rPr>
              <a:t> is minimal</a:t>
            </a:r>
            <a:br>
              <a:rPr lang="en-US" altLang="en-US" dirty="0" smtClean="0">
                <a:sym typeface="Symbol" panose="05050102010706020507" pitchFamily="18" charset="2"/>
              </a:rPr>
            </a:br>
            <a:r>
              <a:rPr lang="en-US" altLang="en-US" dirty="0" smtClean="0">
                <a:sym typeface="Symbol" panose="05050102010706020507" pitchFamily="18" charset="2"/>
              </a:rPr>
              <a:t>Example:  {</a:t>
            </a:r>
            <a:r>
              <a:rPr lang="en-US" altLang="en-US" i="1" dirty="0" smtClean="0">
                <a:sym typeface="Symbol" panose="05050102010706020507" pitchFamily="18" charset="2"/>
              </a:rPr>
              <a:t>ID</a:t>
            </a:r>
            <a:r>
              <a:rPr lang="en-US" altLang="en-US" dirty="0" smtClean="0">
                <a:sym typeface="Symbol" panose="05050102010706020507" pitchFamily="18" charset="2"/>
              </a:rPr>
              <a:t>} is a candidate key for </a:t>
            </a:r>
            <a:r>
              <a:rPr lang="en-US" altLang="en-US" i="1" dirty="0" smtClean="0">
                <a:sym typeface="Symbol" panose="05050102010706020507" pitchFamily="18" charset="2"/>
              </a:rPr>
              <a:t>Instructor</a:t>
            </a:r>
            <a:endParaRPr lang="en-US" altLang="en-US" dirty="0" smtClean="0">
              <a:sym typeface="Symbol" panose="05050102010706020507" pitchFamily="18" charset="2"/>
            </a:endParaRPr>
          </a:p>
          <a:p>
            <a:pPr>
              <a:lnSpc>
                <a:spcPct val="120000"/>
              </a:lnSpc>
            </a:pPr>
            <a:r>
              <a:rPr lang="en-US" altLang="en-US" dirty="0" smtClean="0">
                <a:sym typeface="Symbol" panose="05050102010706020507" pitchFamily="18" charset="2"/>
              </a:rPr>
              <a:t>One of the candidate keys is selected to be the </a:t>
            </a:r>
            <a:r>
              <a:rPr lang="en-US" altLang="en-US" b="1" dirty="0" smtClean="0">
                <a:solidFill>
                  <a:srgbClr val="000099"/>
                </a:solidFill>
                <a:sym typeface="Symbol" panose="05050102010706020507" pitchFamily="18" charset="2"/>
              </a:rPr>
              <a:t>primary key</a:t>
            </a:r>
            <a:r>
              <a:rPr lang="en-US" altLang="en-US" dirty="0" smtClean="0">
                <a:sym typeface="Symbol" panose="05050102010706020507" pitchFamily="18" charset="2"/>
              </a:rPr>
              <a:t>.</a:t>
            </a:r>
          </a:p>
          <a:p>
            <a:pPr lvl="1">
              <a:lnSpc>
                <a:spcPct val="120000"/>
              </a:lnSpc>
            </a:pPr>
            <a:r>
              <a:rPr lang="en-US" altLang="en-US" dirty="0" smtClean="0">
                <a:ea typeface="ＭＳ Ｐゴシック" panose="020B0600070205080204" pitchFamily="34" charset="-128"/>
                <a:sym typeface="Symbol" panose="05050102010706020507" pitchFamily="18" charset="2"/>
              </a:rPr>
              <a:t>which one?</a:t>
            </a:r>
          </a:p>
          <a:p>
            <a:r>
              <a:rPr lang="en-US" altLang="en-US" b="1" dirty="0" smtClean="0">
                <a:solidFill>
                  <a:srgbClr val="000099"/>
                </a:solidFill>
              </a:rPr>
              <a:t>Foreign key</a:t>
            </a:r>
            <a:r>
              <a:rPr lang="en-US" altLang="en-US" dirty="0" smtClean="0"/>
              <a:t> constraint: Value in one relation must appear in another</a:t>
            </a:r>
          </a:p>
          <a:p>
            <a:pPr lvl="1"/>
            <a:r>
              <a:rPr lang="en-US" altLang="en-US" b="1" dirty="0" smtClean="0">
                <a:solidFill>
                  <a:srgbClr val="000099"/>
                </a:solidFill>
                <a:ea typeface="ＭＳ Ｐゴシック" panose="020B0600070205080204" pitchFamily="34" charset="-128"/>
              </a:rPr>
              <a:t>Referencing</a:t>
            </a:r>
            <a:r>
              <a:rPr lang="en-US" altLang="en-US" dirty="0" smtClean="0">
                <a:ea typeface="ＭＳ Ｐゴシック" panose="020B0600070205080204" pitchFamily="34" charset="-128"/>
              </a:rPr>
              <a:t> relation</a:t>
            </a:r>
          </a:p>
          <a:p>
            <a:pPr lvl="1"/>
            <a:r>
              <a:rPr lang="en-US" altLang="en-US" b="1" dirty="0" smtClean="0">
                <a:solidFill>
                  <a:srgbClr val="000099"/>
                </a:solidFill>
                <a:ea typeface="ＭＳ Ｐゴシック" panose="020B0600070205080204" pitchFamily="34" charset="-128"/>
              </a:rPr>
              <a:t>Referenced</a:t>
            </a:r>
            <a:r>
              <a:rPr lang="en-US" altLang="en-US" dirty="0" smtClean="0">
                <a:ea typeface="ＭＳ Ｐゴシック" panose="020B0600070205080204" pitchFamily="34" charset="-128"/>
              </a:rPr>
              <a:t> relation</a:t>
            </a:r>
            <a:endParaRPr lang="en-US" altLang="en-US" dirty="0" smtClean="0">
              <a:ea typeface="ＭＳ Ｐゴシック" panose="020B0600070205080204" pitchFamily="34" charset="-128"/>
              <a:sym typeface="Symbol" panose="05050102010706020507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0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2800">
                <a:ea typeface="+mj-ea"/>
              </a:rPr>
              <a:t>Schema Diagram for University Database</a:t>
            </a:r>
          </a:p>
        </p:txBody>
      </p:sp>
      <p:pic>
        <p:nvPicPr>
          <p:cNvPr id="29699" name="Picture 3" descr="allFigures.pd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013" y="1049338"/>
            <a:ext cx="8404225" cy="5038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SQL</a:t>
            </a:r>
            <a:endParaRPr lang="en-US" dirty="0"/>
          </a:p>
        </p:txBody>
      </p:sp>
      <p:sp>
        <p:nvSpPr>
          <p:cNvPr id="3" name="Rectangle 3"/>
          <p:cNvSpPr txBox="1">
            <a:spLocks noChangeArrowheads="1"/>
          </p:cNvSpPr>
          <p:nvPr/>
        </p:nvSpPr>
        <p:spPr>
          <a:xfrm>
            <a:off x="860425" y="1077913"/>
            <a:ext cx="7978775" cy="5311775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90000"/>
              <a:buFont typeface="Monotype Sorts" charset="2"/>
              <a:buChar char="n"/>
              <a:defRPr kumimoji="1">
                <a:solidFill>
                  <a:schemeClr val="tx1"/>
                </a:solidFill>
                <a:latin typeface="+mn-lt"/>
                <a:ea typeface="ＭＳ Ｐゴシック" panose="020B0600070205080204" pitchFamily="34" charset="-128"/>
                <a:cs typeface="+mn-cs"/>
              </a:defRPr>
            </a:lvl1pPr>
            <a:lvl2pPr marL="742950" indent="-28575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Monotype Sorts" charset="2"/>
              <a:buChar char="l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2pPr>
            <a:lvl3pPr marL="1085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3pPr>
            <a:lvl4pPr marL="14287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Font typeface="Times New Roman" panose="02020603050405020304" pitchFamily="18" charset="0"/>
              <a:buChar char="–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4pPr>
            <a:lvl5pPr marL="17716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5pPr>
            <a:lvl6pPr marL="2228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6860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31432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6004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r>
              <a:rPr lang="en-US" altLang="en-US" sz="1800" kern="0" dirty="0" smtClean="0"/>
              <a:t>Structured Query Language</a:t>
            </a:r>
          </a:p>
          <a:p>
            <a:r>
              <a:rPr lang="en-US" altLang="en-US" sz="1800" kern="0" dirty="0" smtClean="0">
                <a:ea typeface="ＭＳ Ｐゴシック" panose="020B0600070205080204" pitchFamily="34" charset="-128"/>
                <a:sym typeface="Symbol" panose="05050102010706020507" pitchFamily="18" charset="2"/>
              </a:rPr>
              <a:t>To manage relational databases</a:t>
            </a:r>
          </a:p>
          <a:p>
            <a:pPr lvl="1"/>
            <a:r>
              <a:rPr lang="en-US" altLang="en-US" sz="1800" kern="0" dirty="0" smtClean="0">
                <a:ea typeface="ＭＳ Ｐゴシック" panose="020B0600070205080204" pitchFamily="34" charset="-128"/>
                <a:sym typeface="Symbol" panose="05050102010706020507" pitchFamily="18" charset="2"/>
              </a:rPr>
              <a:t>DDL: define, modify and drop tables and indexes in the </a:t>
            </a:r>
            <a:r>
              <a:rPr lang="en-US" altLang="en-US" sz="1800" b="1" kern="0" dirty="0" smtClean="0">
                <a:solidFill>
                  <a:srgbClr val="FF0000"/>
                </a:solidFill>
                <a:ea typeface="ＭＳ Ｐゴシック" panose="020B0600070205080204" pitchFamily="34" charset="-128"/>
                <a:sym typeface="Symbol" panose="05050102010706020507" pitchFamily="18" charset="2"/>
              </a:rPr>
              <a:t>catalog</a:t>
            </a:r>
          </a:p>
          <a:p>
            <a:pPr lvl="1"/>
            <a:r>
              <a:rPr lang="en-US" altLang="en-US" sz="1800" kern="0" dirty="0" smtClean="0">
                <a:ea typeface="ＭＳ Ｐゴシック" panose="020B0600070205080204" pitchFamily="34" charset="-128"/>
                <a:sym typeface="Symbol" panose="05050102010706020507" pitchFamily="18" charset="2"/>
              </a:rPr>
              <a:t>DML: define, modify, delete and query data in tables</a:t>
            </a:r>
          </a:p>
          <a:p>
            <a:r>
              <a:rPr lang="en-US" altLang="en-US" sz="1800" kern="0" dirty="0" smtClean="0">
                <a:sym typeface="Symbol" panose="05050102010706020507" pitchFamily="18" charset="2"/>
              </a:rPr>
              <a:t>History</a:t>
            </a:r>
          </a:p>
          <a:p>
            <a:pPr lvl="1"/>
            <a:r>
              <a:rPr lang="en-US" altLang="en-US" sz="1800" dirty="0" smtClean="0"/>
              <a:t>IBM Sequel language developed as part of System R project at the IBM San Jose Research Laboratory</a:t>
            </a:r>
          </a:p>
          <a:p>
            <a:pPr lvl="1"/>
            <a:r>
              <a:rPr lang="en-US" altLang="en-US" sz="1800" dirty="0" smtClean="0"/>
              <a:t>Renamed Structured Query Language (SQL)</a:t>
            </a:r>
          </a:p>
          <a:p>
            <a:pPr lvl="1"/>
            <a:r>
              <a:rPr lang="en-US" altLang="en-US" sz="1800" dirty="0" smtClean="0"/>
              <a:t>ANSI and ISO standard SQL</a:t>
            </a:r>
            <a:endParaRPr lang="en-US" altLang="en-US" sz="1800" kern="0" dirty="0" smtClean="0">
              <a:ea typeface="ＭＳ Ｐゴシック" panose="020B0600070205080204" pitchFamily="34" charset="-128"/>
              <a:sym typeface="Symbol" panose="05050102010706020507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41709608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SQL as a language</a:t>
            </a:r>
            <a:endParaRPr lang="en-US" dirty="0"/>
          </a:p>
        </p:txBody>
      </p:sp>
      <p:sp>
        <p:nvSpPr>
          <p:cNvPr id="3" name="Rectangle 3"/>
          <p:cNvSpPr txBox="1">
            <a:spLocks noChangeArrowheads="1"/>
          </p:cNvSpPr>
          <p:nvPr/>
        </p:nvSpPr>
        <p:spPr>
          <a:xfrm>
            <a:off x="860425" y="1077913"/>
            <a:ext cx="7978775" cy="5311775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90000"/>
              <a:buFont typeface="Monotype Sorts" charset="2"/>
              <a:buChar char="n"/>
              <a:defRPr kumimoji="1">
                <a:solidFill>
                  <a:schemeClr val="tx1"/>
                </a:solidFill>
                <a:latin typeface="+mn-lt"/>
                <a:ea typeface="ＭＳ Ｐゴシック" panose="020B0600070205080204" pitchFamily="34" charset="-128"/>
                <a:cs typeface="+mn-cs"/>
              </a:defRPr>
            </a:lvl1pPr>
            <a:lvl2pPr marL="742950" indent="-28575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Monotype Sorts" charset="2"/>
              <a:buChar char="l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2pPr>
            <a:lvl3pPr marL="1085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3pPr>
            <a:lvl4pPr marL="14287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Font typeface="Times New Roman" panose="02020603050405020304" pitchFamily="18" charset="0"/>
              <a:buChar char="–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4pPr>
            <a:lvl5pPr marL="17716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5pPr>
            <a:lvl6pPr marL="2228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6860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31432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6004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r>
              <a:rPr lang="en-US" altLang="en-US" sz="1800" kern="0" dirty="0" smtClean="0"/>
              <a:t>SQL is not </a:t>
            </a:r>
            <a:r>
              <a:rPr lang="en-US" altLang="en-US" sz="1800" kern="0" dirty="0" smtClean="0">
                <a:solidFill>
                  <a:srgbClr val="0070C0"/>
                </a:solidFill>
              </a:rPr>
              <a:t>procedural</a:t>
            </a:r>
          </a:p>
          <a:p>
            <a:pPr lvl="1"/>
            <a:r>
              <a:rPr lang="en-US" altLang="en-US" sz="1800" kern="0" dirty="0" smtClean="0">
                <a:ea typeface="ＭＳ Ｐゴシック" panose="020B0600070205080204" pitchFamily="34" charset="-128"/>
                <a:sym typeface="Symbol" panose="05050102010706020507" pitchFamily="18" charset="2"/>
              </a:rPr>
              <a:t>A procedural language is one where we designate </a:t>
            </a:r>
            <a:r>
              <a:rPr lang="en-US" altLang="en-US" sz="1800" kern="0" dirty="0" smtClean="0">
                <a:solidFill>
                  <a:srgbClr val="0070C0"/>
                </a:solidFill>
                <a:ea typeface="ＭＳ Ｐゴシック" panose="020B0600070205080204" pitchFamily="34" charset="-128"/>
                <a:sym typeface="Symbol" panose="05050102010706020507" pitchFamily="18" charset="2"/>
              </a:rPr>
              <a:t>HOW</a:t>
            </a:r>
            <a:r>
              <a:rPr lang="en-US" altLang="en-US" sz="1800" kern="0" dirty="0" smtClean="0">
                <a:ea typeface="ＭＳ Ｐゴシック" panose="020B0600070205080204" pitchFamily="34" charset="-128"/>
                <a:sym typeface="Symbol" panose="05050102010706020507" pitchFamily="18" charset="2"/>
              </a:rPr>
              <a:t> to do the task</a:t>
            </a:r>
          </a:p>
          <a:p>
            <a:pPr lvl="1"/>
            <a:r>
              <a:rPr lang="en-US" altLang="en-US" sz="1800" kern="0" dirty="0" smtClean="0">
                <a:ea typeface="ＭＳ Ｐゴシック" panose="020B0600070205080204" pitchFamily="34" charset="-128"/>
                <a:sym typeface="Symbol" panose="05050102010706020507" pitchFamily="18" charset="2"/>
              </a:rPr>
              <a:t>Usually it works through procedures and functions</a:t>
            </a:r>
          </a:p>
          <a:p>
            <a:pPr lvl="1"/>
            <a:r>
              <a:rPr lang="en-US" altLang="en-US" sz="1800" kern="0" dirty="0" smtClean="0">
                <a:ea typeface="ＭＳ Ｐゴシック" panose="020B0600070205080204" pitchFamily="34" charset="-128"/>
                <a:sym typeface="Symbol" panose="05050102010706020507" pitchFamily="18" charset="2"/>
              </a:rPr>
              <a:t>Example: Java, C….</a:t>
            </a:r>
          </a:p>
          <a:p>
            <a:r>
              <a:rPr lang="en-US" altLang="en-US" sz="1800" kern="0" dirty="0" smtClean="0">
                <a:sym typeface="Symbol" panose="05050102010706020507" pitchFamily="18" charset="2"/>
              </a:rPr>
              <a:t>SQL is </a:t>
            </a:r>
            <a:r>
              <a:rPr lang="en-US" altLang="en-US" sz="1800" kern="0" dirty="0" smtClean="0">
                <a:solidFill>
                  <a:srgbClr val="0070C0"/>
                </a:solidFill>
                <a:sym typeface="Symbol" panose="05050102010706020507" pitchFamily="18" charset="2"/>
              </a:rPr>
              <a:t>declarative</a:t>
            </a:r>
          </a:p>
          <a:p>
            <a:pPr lvl="1"/>
            <a:r>
              <a:rPr lang="en-US" altLang="en-US" sz="1800" kern="0" dirty="0" smtClean="0">
                <a:ea typeface="ＭＳ Ｐゴシック" panose="020B0600070205080204" pitchFamily="34" charset="-128"/>
                <a:sym typeface="Symbol" panose="05050102010706020507" pitchFamily="18" charset="2"/>
              </a:rPr>
              <a:t>We only specify what we want regardless of how</a:t>
            </a:r>
          </a:p>
          <a:p>
            <a:pPr lvl="1"/>
            <a:r>
              <a:rPr lang="en-US" altLang="en-US" sz="1800" kern="0" dirty="0" smtClean="0">
                <a:ea typeface="ＭＳ Ｐゴシック" panose="020B0600070205080204" pitchFamily="34" charset="-128"/>
                <a:sym typeface="Symbol" panose="05050102010706020507" pitchFamily="18" charset="2"/>
              </a:rPr>
              <a:t>Query optimizer cares about the how</a:t>
            </a:r>
          </a:p>
          <a:p>
            <a:r>
              <a:rPr lang="en-US" altLang="en-US" sz="1800" kern="0" dirty="0" smtClean="0">
                <a:sym typeface="Symbol" panose="05050102010706020507" pitchFamily="18" charset="2"/>
              </a:rPr>
              <a:t>SQL is </a:t>
            </a:r>
            <a:r>
              <a:rPr lang="en-US" altLang="en-US" sz="1800" kern="0" dirty="0" smtClean="0">
                <a:solidFill>
                  <a:srgbClr val="0070C0"/>
                </a:solidFill>
                <a:sym typeface="Symbol" panose="05050102010706020507" pitchFamily="18" charset="2"/>
              </a:rPr>
              <a:t>interactive</a:t>
            </a:r>
            <a:r>
              <a:rPr lang="en-US" altLang="en-US" sz="1800" kern="0" dirty="0" smtClean="0">
                <a:sym typeface="Symbol" panose="05050102010706020507" pitchFamily="18" charset="2"/>
              </a:rPr>
              <a:t> </a:t>
            </a:r>
          </a:p>
          <a:p>
            <a:pPr lvl="1"/>
            <a:r>
              <a:rPr lang="en-US" altLang="en-US" sz="1800" kern="0" dirty="0" smtClean="0">
                <a:sym typeface="Symbol" panose="05050102010706020507" pitchFamily="18" charset="2"/>
              </a:rPr>
              <a:t>SQL </a:t>
            </a:r>
            <a:r>
              <a:rPr lang="en-US" altLang="en-US" sz="1800" kern="0" dirty="0">
                <a:sym typeface="Symbol" panose="05050102010706020507" pitchFamily="18" charset="2"/>
              </a:rPr>
              <a:t>statements </a:t>
            </a:r>
            <a:r>
              <a:rPr lang="en-US" altLang="en-US" sz="1800" kern="0" dirty="0" smtClean="0">
                <a:sym typeface="Symbol" panose="05050102010706020507" pitchFamily="18" charset="2"/>
              </a:rPr>
              <a:t>can be submitted using a command </a:t>
            </a:r>
            <a:r>
              <a:rPr lang="en-US" altLang="en-US" sz="1800" kern="0" dirty="0">
                <a:sym typeface="Symbol" panose="05050102010706020507" pitchFamily="18" charset="2"/>
              </a:rPr>
              <a:t>line processor, or </a:t>
            </a:r>
            <a:r>
              <a:rPr lang="en-US" altLang="en-US" sz="1800" kern="0" dirty="0" smtClean="0">
                <a:sym typeface="Symbol" panose="05050102010706020507" pitchFamily="18" charset="2"/>
              </a:rPr>
              <a:t>a </a:t>
            </a:r>
            <a:r>
              <a:rPr lang="en-US" altLang="en-US" sz="1800" kern="0" dirty="0">
                <a:sym typeface="Symbol" panose="05050102010706020507" pitchFamily="18" charset="2"/>
              </a:rPr>
              <a:t>query </a:t>
            </a:r>
            <a:r>
              <a:rPr lang="en-US" altLang="en-US" sz="1800" kern="0" dirty="0" smtClean="0">
                <a:sym typeface="Symbol" panose="05050102010706020507" pitchFamily="18" charset="2"/>
              </a:rPr>
              <a:t>tool and the results are immediate</a:t>
            </a:r>
          </a:p>
          <a:p>
            <a:r>
              <a:rPr lang="en-US" altLang="en-US" sz="1800" kern="0" dirty="0" smtClean="0">
                <a:ea typeface="ＭＳ Ｐゴシック" panose="020B0600070205080204" pitchFamily="34" charset="-128"/>
                <a:sym typeface="Symbol" panose="05050102010706020507" pitchFamily="18" charset="2"/>
              </a:rPr>
              <a:t>SQL can be </a:t>
            </a:r>
            <a:r>
              <a:rPr lang="en-US" altLang="en-US" sz="1800" kern="0" dirty="0" smtClean="0">
                <a:solidFill>
                  <a:srgbClr val="0070C0"/>
                </a:solidFill>
                <a:ea typeface="ＭＳ Ｐゴシック" panose="020B0600070205080204" pitchFamily="34" charset="-128"/>
                <a:sym typeface="Symbol" panose="05050102010706020507" pitchFamily="18" charset="2"/>
              </a:rPr>
              <a:t>embedded</a:t>
            </a:r>
            <a:r>
              <a:rPr lang="en-US" altLang="en-US" sz="1800" kern="0" dirty="0" smtClean="0">
                <a:ea typeface="ＭＳ Ｐゴシック" panose="020B0600070205080204" pitchFamily="34" charset="-128"/>
                <a:sym typeface="Symbol" panose="05050102010706020507" pitchFamily="18" charset="2"/>
              </a:rPr>
              <a:t> inside programs</a:t>
            </a:r>
          </a:p>
        </p:txBody>
      </p:sp>
    </p:spTree>
    <p:extLst>
      <p:ext uri="{BB962C8B-B14F-4D97-AF65-F5344CB8AC3E}">
        <p14:creationId xmlns:p14="http://schemas.microsoft.com/office/powerpoint/2010/main" val="12578657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8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Domain Types in SQL</a:t>
            </a:r>
          </a:p>
        </p:txBody>
      </p:sp>
      <p:sp>
        <p:nvSpPr>
          <p:cNvPr id="3778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34898" y="1106487"/>
            <a:ext cx="8496377" cy="5160497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b="1" dirty="0">
                <a:solidFill>
                  <a:srgbClr val="000099"/>
                </a:solidFill>
              </a:rPr>
              <a:t>char(n).</a:t>
            </a:r>
            <a:r>
              <a:rPr lang="en-US" altLang="en-US" dirty="0"/>
              <a:t>  Fixed length character string, with user-specified length </a:t>
            </a:r>
            <a:r>
              <a:rPr lang="en-US" altLang="en-US" i="1" dirty="0"/>
              <a:t>n</a:t>
            </a:r>
            <a:r>
              <a:rPr lang="en-US" altLang="en-US" i="1" dirty="0" smtClean="0"/>
              <a:t>.</a:t>
            </a:r>
          </a:p>
          <a:p>
            <a:pPr lvl="1">
              <a:lnSpc>
                <a:spcPct val="90000"/>
              </a:lnSpc>
            </a:pPr>
            <a:r>
              <a:rPr lang="en-US" altLang="en-US" dirty="0" smtClean="0"/>
              <a:t>Char(10) “Database” == “Database  “</a:t>
            </a:r>
            <a:endParaRPr lang="en-US" altLang="en-US" dirty="0"/>
          </a:p>
          <a:p>
            <a:pPr>
              <a:lnSpc>
                <a:spcPct val="90000"/>
              </a:lnSpc>
            </a:pPr>
            <a:r>
              <a:rPr lang="en-US" altLang="en-US" b="1" dirty="0">
                <a:solidFill>
                  <a:srgbClr val="000099"/>
                </a:solidFill>
              </a:rPr>
              <a:t>varchar(n).</a:t>
            </a:r>
            <a:r>
              <a:rPr lang="en-US" altLang="en-US" b="1" dirty="0"/>
              <a:t> </a:t>
            </a:r>
            <a:r>
              <a:rPr lang="en-US" altLang="en-US" dirty="0"/>
              <a:t> Variable length character strings, with user-specified maximum length </a:t>
            </a:r>
            <a:r>
              <a:rPr lang="en-US" altLang="en-US" i="1" dirty="0"/>
              <a:t>n</a:t>
            </a:r>
            <a:r>
              <a:rPr lang="en-US" altLang="en-US" i="1" dirty="0" smtClean="0"/>
              <a:t>.</a:t>
            </a:r>
          </a:p>
          <a:p>
            <a:pPr lvl="1">
              <a:lnSpc>
                <a:spcPct val="90000"/>
              </a:lnSpc>
            </a:pPr>
            <a:r>
              <a:rPr lang="en-US" altLang="en-US" dirty="0" smtClean="0"/>
              <a:t>Varchar(10) </a:t>
            </a:r>
            <a:r>
              <a:rPr lang="en-US" altLang="en-US" dirty="0"/>
              <a:t>“Database” == “</a:t>
            </a:r>
            <a:r>
              <a:rPr lang="en-US" altLang="en-US" dirty="0" smtClean="0"/>
              <a:t>Database“</a:t>
            </a:r>
            <a:endParaRPr lang="en-US" altLang="en-US" dirty="0"/>
          </a:p>
          <a:p>
            <a:pPr>
              <a:lnSpc>
                <a:spcPct val="90000"/>
              </a:lnSpc>
            </a:pPr>
            <a:r>
              <a:rPr lang="en-US" altLang="en-US" b="1" dirty="0">
                <a:solidFill>
                  <a:srgbClr val="000099"/>
                </a:solidFill>
              </a:rPr>
              <a:t>int.</a:t>
            </a:r>
            <a:r>
              <a:rPr lang="en-US" altLang="en-US" b="1" dirty="0"/>
              <a:t>  </a:t>
            </a:r>
            <a:r>
              <a:rPr lang="en-US" altLang="en-US" dirty="0"/>
              <a:t>Integer (a finite subset of the integers that is </a:t>
            </a:r>
            <a:r>
              <a:rPr lang="en-US" altLang="en-US" dirty="0" smtClean="0"/>
              <a:t>machine-dependent, 4 bytes).</a:t>
            </a:r>
          </a:p>
          <a:p>
            <a:pPr lvl="1">
              <a:lnSpc>
                <a:spcPct val="90000"/>
              </a:lnSpc>
            </a:pPr>
            <a:r>
              <a:rPr lang="en-US" altLang="en-US" dirty="0" smtClean="0"/>
              <a:t>25, -38, between -2^31 and 2^31-1</a:t>
            </a:r>
            <a:endParaRPr lang="en-US" altLang="en-US" dirty="0"/>
          </a:p>
          <a:p>
            <a:pPr>
              <a:lnSpc>
                <a:spcPct val="90000"/>
              </a:lnSpc>
            </a:pPr>
            <a:r>
              <a:rPr lang="en-US" altLang="en-US" b="1" dirty="0" err="1">
                <a:solidFill>
                  <a:srgbClr val="000099"/>
                </a:solidFill>
              </a:rPr>
              <a:t>smallint</a:t>
            </a:r>
            <a:r>
              <a:rPr lang="en-US" altLang="en-US" b="1" dirty="0">
                <a:solidFill>
                  <a:srgbClr val="000099"/>
                </a:solidFill>
              </a:rPr>
              <a:t>.</a:t>
            </a:r>
            <a:r>
              <a:rPr lang="en-US" altLang="en-US" dirty="0"/>
              <a:t>  Small integer (a machine-dependent subset of the integer domain </a:t>
            </a:r>
            <a:r>
              <a:rPr lang="en-US" altLang="en-US" dirty="0" smtClean="0"/>
              <a:t>type, 2 bytes).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between -</a:t>
            </a:r>
            <a:r>
              <a:rPr lang="en-US" altLang="en-US" dirty="0" smtClean="0"/>
              <a:t>2^15 </a:t>
            </a:r>
            <a:r>
              <a:rPr lang="en-US" altLang="en-US" dirty="0"/>
              <a:t>and </a:t>
            </a:r>
            <a:r>
              <a:rPr lang="en-US" altLang="en-US" dirty="0" smtClean="0"/>
              <a:t>2^15-1</a:t>
            </a:r>
          </a:p>
          <a:p>
            <a:pPr>
              <a:lnSpc>
                <a:spcPct val="90000"/>
              </a:lnSpc>
            </a:pPr>
            <a:r>
              <a:rPr lang="en-US" altLang="en-US" dirty="0" smtClean="0"/>
              <a:t>Some systems have </a:t>
            </a:r>
            <a:r>
              <a:rPr lang="en-US" altLang="en-US" b="1" dirty="0" err="1" smtClean="0">
                <a:solidFill>
                  <a:schemeClr val="accent3">
                    <a:lumMod val="25000"/>
                  </a:schemeClr>
                </a:solidFill>
              </a:rPr>
              <a:t>bigint</a:t>
            </a:r>
            <a:r>
              <a:rPr lang="en-US" altLang="en-US" dirty="0"/>
              <a:t> between </a:t>
            </a:r>
            <a:r>
              <a:rPr lang="en-US" altLang="en-US" dirty="0" smtClean="0"/>
              <a:t>-2^63 </a:t>
            </a:r>
            <a:r>
              <a:rPr lang="en-US" altLang="en-US" dirty="0"/>
              <a:t>and </a:t>
            </a:r>
            <a:r>
              <a:rPr lang="en-US" altLang="en-US" dirty="0" smtClean="0"/>
              <a:t>2^63-1 (4 bytes) and </a:t>
            </a:r>
            <a:r>
              <a:rPr lang="en-US" altLang="en-US" b="1" dirty="0" err="1" smtClean="0">
                <a:solidFill>
                  <a:schemeClr val="accent3">
                    <a:lumMod val="25000"/>
                  </a:schemeClr>
                </a:solidFill>
              </a:rPr>
              <a:t>tinyint</a:t>
            </a:r>
            <a:r>
              <a:rPr lang="en-US" altLang="en-US" dirty="0" smtClean="0"/>
              <a:t> between 0 and 255 (1 byte)</a:t>
            </a:r>
            <a:endParaRPr lang="en-US" altLang="en-US" dirty="0"/>
          </a:p>
          <a:p>
            <a:pPr>
              <a:lnSpc>
                <a:spcPct val="90000"/>
              </a:lnSpc>
            </a:pPr>
            <a:r>
              <a:rPr lang="en-US" altLang="en-US" b="1" dirty="0">
                <a:solidFill>
                  <a:srgbClr val="000099"/>
                </a:solidFill>
              </a:rPr>
              <a:t>numeric(</a:t>
            </a:r>
            <a:r>
              <a:rPr lang="en-US" altLang="en-US" b="1" dirty="0" err="1">
                <a:solidFill>
                  <a:srgbClr val="000099"/>
                </a:solidFill>
              </a:rPr>
              <a:t>p,d</a:t>
            </a:r>
            <a:r>
              <a:rPr lang="en-US" altLang="en-US" b="1" dirty="0">
                <a:solidFill>
                  <a:srgbClr val="000099"/>
                </a:solidFill>
              </a:rPr>
              <a:t>).</a:t>
            </a:r>
            <a:r>
              <a:rPr lang="en-US" altLang="en-US" dirty="0"/>
              <a:t>  Fixed point number, with user-specified precision of </a:t>
            </a:r>
            <a:r>
              <a:rPr lang="en-US" altLang="en-US" i="1" dirty="0"/>
              <a:t>p</a:t>
            </a:r>
            <a:r>
              <a:rPr lang="en-US" altLang="en-US" dirty="0"/>
              <a:t> digits, with </a:t>
            </a:r>
            <a:r>
              <a:rPr lang="en-US" altLang="en-US" i="1" dirty="0"/>
              <a:t>n</a:t>
            </a:r>
            <a:r>
              <a:rPr lang="en-US" altLang="en-US" dirty="0"/>
              <a:t> digits to the right of decimal point. </a:t>
            </a:r>
            <a:r>
              <a:rPr lang="en-US" altLang="en-US" dirty="0" smtClean="0"/>
              <a:t>Ex: 25.3</a:t>
            </a:r>
            <a:endParaRPr lang="en-US" altLang="en-US" dirty="0"/>
          </a:p>
          <a:p>
            <a:pPr>
              <a:lnSpc>
                <a:spcPct val="90000"/>
              </a:lnSpc>
            </a:pPr>
            <a:r>
              <a:rPr lang="en-US" altLang="en-US" b="1" dirty="0">
                <a:solidFill>
                  <a:srgbClr val="000099"/>
                </a:solidFill>
              </a:rPr>
              <a:t>real, double precision.</a:t>
            </a:r>
            <a:r>
              <a:rPr lang="en-US" altLang="en-US" dirty="0"/>
              <a:t>  Floating point and double-precision floating point numbers, with machine-dependent precision.</a:t>
            </a:r>
          </a:p>
          <a:p>
            <a:pPr>
              <a:lnSpc>
                <a:spcPct val="90000"/>
              </a:lnSpc>
            </a:pPr>
            <a:r>
              <a:rPr lang="en-US" altLang="en-US" b="1" dirty="0">
                <a:solidFill>
                  <a:srgbClr val="000099"/>
                </a:solidFill>
              </a:rPr>
              <a:t>float(n).</a:t>
            </a:r>
            <a:r>
              <a:rPr lang="en-US" altLang="en-US" dirty="0"/>
              <a:t>  Floating point number, with user-specified precision of at least </a:t>
            </a:r>
            <a:r>
              <a:rPr lang="en-US" altLang="en-US" i="1" dirty="0"/>
              <a:t>n</a:t>
            </a:r>
            <a:r>
              <a:rPr lang="en-US" altLang="en-US" dirty="0"/>
              <a:t> digits</a:t>
            </a:r>
            <a:r>
              <a:rPr lang="en-US" altLang="en-US" dirty="0" smtClean="0"/>
              <a:t>. </a:t>
            </a:r>
            <a:endParaRPr lang="en-US" altLang="en-US" dirty="0"/>
          </a:p>
          <a:p>
            <a:pPr>
              <a:lnSpc>
                <a:spcPct val="90000"/>
              </a:lnSpc>
              <a:buFont typeface="Monotype Sorts" charset="2"/>
              <a:buNone/>
            </a:pPr>
            <a:endParaRPr lang="en-US" altLang="en-US" dirty="0"/>
          </a:p>
          <a:p>
            <a:pPr>
              <a:lnSpc>
                <a:spcPct val="90000"/>
              </a:lnSpc>
              <a:buFont typeface="Monotype Sorts" charset="2"/>
              <a:buNone/>
            </a:pPr>
            <a:endParaRPr lang="en-US" altLang="en-US" b="1" dirty="0"/>
          </a:p>
        </p:txBody>
      </p:sp>
    </p:spTree>
    <p:extLst>
      <p:ext uri="{BB962C8B-B14F-4D97-AF65-F5344CB8AC3E}">
        <p14:creationId xmlns:p14="http://schemas.microsoft.com/office/powerpoint/2010/main" val="9531909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098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488" tIns="44450" rIns="90488" bIns="44450" anchor="ctr"/>
          <a:lstStyle/>
          <a:p>
            <a:r>
              <a:rPr lang="en-US" altLang="en-US"/>
              <a:t>Basic Query Structure </a:t>
            </a:r>
          </a:p>
        </p:txBody>
      </p:sp>
      <p:sp>
        <p:nvSpPr>
          <p:cNvPr id="3880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39775" y="1106488"/>
            <a:ext cx="7640638" cy="4881562"/>
          </a:xfrm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pPr>
              <a:tabLst>
                <a:tab pos="2055813" algn="l"/>
              </a:tabLst>
            </a:pPr>
            <a:r>
              <a:rPr lang="en-US" altLang="en-US"/>
              <a:t>A typical SQL query has the form:</a:t>
            </a:r>
            <a:br>
              <a:rPr lang="en-US" altLang="en-US"/>
            </a:br>
            <a:r>
              <a:rPr lang="en-US" altLang="en-US"/>
              <a:t/>
            </a:r>
            <a:br>
              <a:rPr lang="en-US" altLang="en-US"/>
            </a:br>
            <a:r>
              <a:rPr lang="en-US" altLang="en-US"/>
              <a:t>	</a:t>
            </a:r>
            <a:r>
              <a:rPr lang="en-US" altLang="en-US" b="1"/>
              <a:t>select </a:t>
            </a:r>
            <a:r>
              <a:rPr lang="en-US" altLang="en-US" i="1"/>
              <a:t>A</a:t>
            </a:r>
            <a:r>
              <a:rPr lang="en-US" altLang="en-US" baseline="-25000"/>
              <a:t>1</a:t>
            </a:r>
            <a:r>
              <a:rPr lang="en-US" altLang="en-US"/>
              <a:t>, </a:t>
            </a:r>
            <a:r>
              <a:rPr lang="en-US" altLang="en-US" i="1"/>
              <a:t>A</a:t>
            </a:r>
            <a:r>
              <a:rPr lang="en-US" altLang="en-US" baseline="-25000"/>
              <a:t>2</a:t>
            </a:r>
            <a:r>
              <a:rPr lang="en-US" altLang="en-US"/>
              <a:t>, ..., </a:t>
            </a:r>
            <a:r>
              <a:rPr lang="en-US" altLang="en-US" i="1"/>
              <a:t>A</a:t>
            </a:r>
            <a:r>
              <a:rPr lang="en-US" altLang="en-US" i="1" baseline="-25000"/>
              <a:t>n</a:t>
            </a:r>
            <a:r>
              <a:rPr lang="en-US" altLang="en-US"/>
              <a:t/>
            </a:r>
            <a:br>
              <a:rPr lang="en-US" altLang="en-US"/>
            </a:br>
            <a:r>
              <a:rPr lang="en-US" altLang="en-US"/>
              <a:t>	</a:t>
            </a:r>
            <a:r>
              <a:rPr lang="en-US" altLang="en-US" b="1"/>
              <a:t>from</a:t>
            </a:r>
            <a:r>
              <a:rPr lang="en-US" altLang="en-US"/>
              <a:t> </a:t>
            </a:r>
            <a:r>
              <a:rPr lang="en-US" altLang="en-US" i="1"/>
              <a:t>r</a:t>
            </a:r>
            <a:r>
              <a:rPr lang="en-US" altLang="en-US" baseline="-25000"/>
              <a:t>1</a:t>
            </a:r>
            <a:r>
              <a:rPr lang="en-US" altLang="en-US"/>
              <a:t>, </a:t>
            </a:r>
            <a:r>
              <a:rPr lang="en-US" altLang="en-US" i="1"/>
              <a:t>r</a:t>
            </a:r>
            <a:r>
              <a:rPr lang="en-US" altLang="en-US" baseline="-25000"/>
              <a:t>2</a:t>
            </a:r>
            <a:r>
              <a:rPr lang="en-US" altLang="en-US"/>
              <a:t>, ..., </a:t>
            </a:r>
            <a:r>
              <a:rPr lang="en-US" altLang="en-US" i="1"/>
              <a:t>r</a:t>
            </a:r>
            <a:r>
              <a:rPr lang="en-US" altLang="en-US" i="1" baseline="-25000"/>
              <a:t>m</a:t>
            </a:r>
            <a:r>
              <a:rPr lang="en-US" altLang="en-US"/>
              <a:t/>
            </a:r>
            <a:br>
              <a:rPr lang="en-US" altLang="en-US"/>
            </a:br>
            <a:r>
              <a:rPr lang="en-US" altLang="en-US"/>
              <a:t>	</a:t>
            </a:r>
            <a:r>
              <a:rPr lang="en-US" altLang="en-US" b="1"/>
              <a:t>where </a:t>
            </a:r>
            <a:r>
              <a:rPr lang="en-US" altLang="en-US" i="1"/>
              <a:t>P</a:t>
            </a:r>
            <a:br>
              <a:rPr lang="en-US" altLang="en-US" i="1"/>
            </a:br>
            <a:endParaRPr lang="en-US" altLang="en-US"/>
          </a:p>
          <a:p>
            <a:pPr lvl="1">
              <a:buSzPct val="90000"/>
              <a:tabLst>
                <a:tab pos="2055813" algn="l"/>
              </a:tabLst>
            </a:pPr>
            <a:r>
              <a:rPr lang="en-US" altLang="en-US" i="1"/>
              <a:t>A</a:t>
            </a:r>
            <a:r>
              <a:rPr lang="en-US" altLang="en-US" i="1" baseline="-25000"/>
              <a:t>i </a:t>
            </a:r>
            <a:r>
              <a:rPr lang="en-US" altLang="en-US"/>
              <a:t>represents an attribute</a:t>
            </a:r>
          </a:p>
          <a:p>
            <a:pPr lvl="1">
              <a:buSzPct val="90000"/>
              <a:tabLst>
                <a:tab pos="2055813" algn="l"/>
              </a:tabLst>
            </a:pPr>
            <a:r>
              <a:rPr lang="en-US" altLang="en-US" i="1"/>
              <a:t>R</a:t>
            </a:r>
            <a:r>
              <a:rPr lang="en-US" altLang="en-US" i="1" baseline="-25000"/>
              <a:t>i </a:t>
            </a:r>
            <a:r>
              <a:rPr lang="en-US" altLang="en-US"/>
              <a:t>represents a relation</a:t>
            </a:r>
          </a:p>
          <a:p>
            <a:pPr lvl="1">
              <a:buSzPct val="90000"/>
              <a:tabLst>
                <a:tab pos="2055813" algn="l"/>
              </a:tabLst>
            </a:pPr>
            <a:r>
              <a:rPr lang="en-US" altLang="en-US" i="1"/>
              <a:t>P</a:t>
            </a:r>
            <a:r>
              <a:rPr lang="en-US" altLang="en-US"/>
              <a:t> is a predicate.</a:t>
            </a:r>
          </a:p>
          <a:p>
            <a:pPr>
              <a:tabLst>
                <a:tab pos="2055813" algn="l"/>
              </a:tabLst>
            </a:pPr>
            <a:r>
              <a:rPr lang="en-US" altLang="en-US"/>
              <a:t>The result of an SQL query is a relation.</a:t>
            </a:r>
          </a:p>
        </p:txBody>
      </p:sp>
    </p:spTree>
    <p:extLst>
      <p:ext uri="{BB962C8B-B14F-4D97-AF65-F5344CB8AC3E}">
        <p14:creationId xmlns:p14="http://schemas.microsoft.com/office/powerpoint/2010/main" val="2622508071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146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488" tIns="44450" rIns="90488" bIns="44450" anchor="ctr"/>
          <a:lstStyle/>
          <a:p>
            <a:r>
              <a:rPr lang="en-US" altLang="en-US"/>
              <a:t>The select Clause</a:t>
            </a:r>
          </a:p>
        </p:txBody>
      </p:sp>
      <p:sp>
        <p:nvSpPr>
          <p:cNvPr id="390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39775" y="1106488"/>
            <a:ext cx="8066088" cy="5165725"/>
          </a:xfrm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pPr>
              <a:tabLst>
                <a:tab pos="2055813" algn="l"/>
              </a:tabLst>
            </a:pPr>
            <a:r>
              <a:rPr lang="en-US" altLang="en-US"/>
              <a:t>The </a:t>
            </a:r>
            <a:r>
              <a:rPr lang="en-US" altLang="en-US" b="1"/>
              <a:t>select</a:t>
            </a:r>
            <a:r>
              <a:rPr lang="en-US" altLang="en-US"/>
              <a:t> clause list the attributes desired in the result of a query</a:t>
            </a:r>
          </a:p>
          <a:p>
            <a:pPr lvl="1">
              <a:tabLst>
                <a:tab pos="2055813" algn="l"/>
              </a:tabLst>
            </a:pPr>
            <a:r>
              <a:rPr lang="en-US" altLang="en-US"/>
              <a:t>corresponds to the projection operation of the relational algebra</a:t>
            </a:r>
          </a:p>
          <a:p>
            <a:pPr>
              <a:lnSpc>
                <a:spcPct val="110000"/>
              </a:lnSpc>
              <a:tabLst>
                <a:tab pos="2055813" algn="l"/>
              </a:tabLst>
            </a:pPr>
            <a:r>
              <a:rPr lang="en-US" altLang="en-US"/>
              <a:t>Example: find the names of all instructors:</a:t>
            </a:r>
            <a:br>
              <a:rPr lang="en-US" altLang="en-US"/>
            </a:br>
            <a:r>
              <a:rPr lang="en-US" altLang="en-US"/>
              <a:t>		</a:t>
            </a:r>
            <a:r>
              <a:rPr lang="en-US" altLang="en-US" b="1"/>
              <a:t>select </a:t>
            </a:r>
            <a:r>
              <a:rPr lang="en-US" altLang="en-US" i="1"/>
              <a:t>name</a:t>
            </a:r>
            <a:r>
              <a:rPr lang="en-US" altLang="en-US"/>
              <a:t/>
            </a:r>
            <a:br>
              <a:rPr lang="en-US" altLang="en-US"/>
            </a:br>
            <a:r>
              <a:rPr lang="en-US" altLang="en-US"/>
              <a:t>		</a:t>
            </a:r>
            <a:r>
              <a:rPr lang="en-US" altLang="en-US" b="1"/>
              <a:t>from </a:t>
            </a:r>
            <a:r>
              <a:rPr lang="en-US" altLang="en-US" i="1"/>
              <a:t>instructor</a:t>
            </a:r>
          </a:p>
          <a:p>
            <a:pPr>
              <a:tabLst>
                <a:tab pos="2055813" algn="l"/>
              </a:tabLst>
            </a:pPr>
            <a:r>
              <a:rPr lang="en-US" altLang="en-US"/>
              <a:t>NOTE:  SQL names are case insensitive (i.e., you may use upper- or lower-case letters.)  </a:t>
            </a:r>
          </a:p>
          <a:p>
            <a:pPr lvl="1">
              <a:tabLst>
                <a:tab pos="2055813" algn="l"/>
              </a:tabLst>
            </a:pPr>
            <a:r>
              <a:rPr lang="en-US" altLang="en-US"/>
              <a:t>E.g.   </a:t>
            </a:r>
            <a:r>
              <a:rPr lang="en-US" altLang="en-US" i="1"/>
              <a:t>Name</a:t>
            </a:r>
            <a:r>
              <a:rPr lang="en-US" altLang="en-US"/>
              <a:t> ≡ </a:t>
            </a:r>
            <a:r>
              <a:rPr lang="en-US" altLang="en-US" i="1"/>
              <a:t>NAME</a:t>
            </a:r>
            <a:r>
              <a:rPr lang="en-US" altLang="en-US"/>
              <a:t> ≡ </a:t>
            </a:r>
            <a:r>
              <a:rPr lang="en-US" altLang="en-US" i="1"/>
              <a:t>name</a:t>
            </a:r>
          </a:p>
          <a:p>
            <a:pPr lvl="1">
              <a:tabLst>
                <a:tab pos="2055813" algn="l"/>
              </a:tabLst>
            </a:pPr>
            <a:r>
              <a:rPr lang="en-US" altLang="en-US"/>
              <a:t>Some people use upper case wherever we use bold font.</a:t>
            </a:r>
          </a:p>
        </p:txBody>
      </p:sp>
    </p:spTree>
    <p:extLst>
      <p:ext uri="{BB962C8B-B14F-4D97-AF65-F5344CB8AC3E}">
        <p14:creationId xmlns:p14="http://schemas.microsoft.com/office/powerpoint/2010/main" val="3788032787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194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488" tIns="44450" rIns="90488" bIns="44450" anchor="ctr"/>
          <a:lstStyle/>
          <a:p>
            <a:r>
              <a:rPr lang="en-US" altLang="en-US"/>
              <a:t>The select Clause (Cont.)</a:t>
            </a:r>
          </a:p>
        </p:txBody>
      </p:sp>
      <p:sp>
        <p:nvSpPr>
          <p:cNvPr id="392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39775" y="1106488"/>
            <a:ext cx="7848600" cy="4876800"/>
          </a:xfrm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pPr>
              <a:tabLst>
                <a:tab pos="2055813" algn="l"/>
              </a:tabLst>
            </a:pPr>
            <a:r>
              <a:rPr lang="en-US" altLang="en-US"/>
              <a:t>SQL allows duplicates in relations as well as in query results.</a:t>
            </a:r>
          </a:p>
          <a:p>
            <a:pPr>
              <a:tabLst>
                <a:tab pos="2055813" algn="l"/>
              </a:tabLst>
            </a:pPr>
            <a:r>
              <a:rPr lang="en-US" altLang="en-US"/>
              <a:t>To force the elimination of duplicates, insert the keyword </a:t>
            </a:r>
            <a:r>
              <a:rPr lang="en-US" altLang="en-US" b="1">
                <a:solidFill>
                  <a:srgbClr val="000099"/>
                </a:solidFill>
              </a:rPr>
              <a:t>distinct</a:t>
            </a:r>
            <a:r>
              <a:rPr lang="en-US" altLang="en-US" b="1">
                <a:solidFill>
                  <a:schemeClr val="tx2"/>
                </a:solidFill>
              </a:rPr>
              <a:t> </a:t>
            </a:r>
            <a:r>
              <a:rPr lang="en-US" altLang="en-US"/>
              <a:t> after select</a:t>
            </a:r>
            <a:r>
              <a:rPr lang="en-US" altLang="en-US" b="1"/>
              <a:t>.</a:t>
            </a:r>
          </a:p>
          <a:p>
            <a:pPr>
              <a:tabLst>
                <a:tab pos="2055813" algn="l"/>
              </a:tabLst>
            </a:pPr>
            <a:r>
              <a:rPr lang="en-US" altLang="en-US"/>
              <a:t>Find the names of all departments with instructor, and remove duplicates</a:t>
            </a:r>
          </a:p>
          <a:p>
            <a:pPr>
              <a:buFont typeface="Monotype Sorts" charset="2"/>
              <a:buNone/>
              <a:tabLst>
                <a:tab pos="2055813" algn="l"/>
              </a:tabLst>
            </a:pPr>
            <a:r>
              <a:rPr lang="en-US" altLang="en-US"/>
              <a:t>		</a:t>
            </a:r>
            <a:r>
              <a:rPr lang="en-US" altLang="en-US" b="1"/>
              <a:t>select distinct </a:t>
            </a:r>
            <a:r>
              <a:rPr lang="en-US" altLang="en-US" i="1"/>
              <a:t>dept_name</a:t>
            </a:r>
            <a:r>
              <a:rPr lang="en-US" altLang="en-US"/>
              <a:t/>
            </a:r>
            <a:br>
              <a:rPr lang="en-US" altLang="en-US"/>
            </a:br>
            <a:r>
              <a:rPr lang="en-US" altLang="en-US"/>
              <a:t>	</a:t>
            </a:r>
            <a:r>
              <a:rPr lang="en-US" altLang="en-US" b="1"/>
              <a:t>from </a:t>
            </a:r>
            <a:r>
              <a:rPr lang="en-US" altLang="en-US" i="1"/>
              <a:t>instructor</a:t>
            </a:r>
          </a:p>
          <a:p>
            <a:pPr>
              <a:tabLst>
                <a:tab pos="2055813" algn="l"/>
              </a:tabLst>
            </a:pPr>
            <a:r>
              <a:rPr lang="en-US" altLang="en-US"/>
              <a:t>The keyword </a:t>
            </a:r>
            <a:r>
              <a:rPr lang="en-US" altLang="en-US" b="1"/>
              <a:t>all </a:t>
            </a:r>
            <a:r>
              <a:rPr lang="en-US" altLang="en-US"/>
              <a:t>specifies that duplicates not be removed.</a:t>
            </a:r>
            <a:br>
              <a:rPr lang="en-US" altLang="en-US"/>
            </a:br>
            <a:endParaRPr lang="en-US" altLang="en-US"/>
          </a:p>
          <a:p>
            <a:pPr>
              <a:buFont typeface="Monotype Sorts" charset="2"/>
              <a:buNone/>
              <a:tabLst>
                <a:tab pos="2055813" algn="l"/>
              </a:tabLst>
            </a:pPr>
            <a:r>
              <a:rPr lang="en-US" altLang="en-US"/>
              <a:t>		</a:t>
            </a:r>
            <a:r>
              <a:rPr lang="en-US" altLang="en-US" b="1"/>
              <a:t>select all</a:t>
            </a:r>
            <a:r>
              <a:rPr lang="en-US" altLang="en-US"/>
              <a:t> </a:t>
            </a:r>
            <a:r>
              <a:rPr lang="en-US" altLang="en-US" i="1"/>
              <a:t>dept_name</a:t>
            </a:r>
            <a:br>
              <a:rPr lang="en-US" altLang="en-US" i="1"/>
            </a:br>
            <a:r>
              <a:rPr lang="en-US" altLang="en-US" i="1"/>
              <a:t>	</a:t>
            </a:r>
            <a:r>
              <a:rPr lang="en-US" altLang="en-US" b="1"/>
              <a:t>from </a:t>
            </a:r>
            <a:r>
              <a:rPr lang="en-US" altLang="en-US" i="1"/>
              <a:t>instructor</a:t>
            </a:r>
          </a:p>
        </p:txBody>
      </p:sp>
    </p:spTree>
    <p:extLst>
      <p:ext uri="{BB962C8B-B14F-4D97-AF65-F5344CB8AC3E}">
        <p14:creationId xmlns:p14="http://schemas.microsoft.com/office/powerpoint/2010/main" val="1578569548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242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488" tIns="44450" rIns="90488" bIns="44450" anchor="ctr"/>
          <a:lstStyle/>
          <a:p>
            <a:r>
              <a:rPr lang="en-US" altLang="en-US"/>
              <a:t>The select Clause (Cont.)</a:t>
            </a:r>
          </a:p>
        </p:txBody>
      </p:sp>
      <p:sp>
        <p:nvSpPr>
          <p:cNvPr id="3942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39775" y="1106488"/>
            <a:ext cx="7848600" cy="4876800"/>
          </a:xfrm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pPr>
              <a:tabLst>
                <a:tab pos="2055813" algn="l"/>
              </a:tabLst>
            </a:pPr>
            <a:r>
              <a:rPr lang="en-US" altLang="en-US"/>
              <a:t>An asterisk in the select clause denotes “all attributes”</a:t>
            </a:r>
          </a:p>
          <a:p>
            <a:pPr>
              <a:buFont typeface="Monotype Sorts" charset="2"/>
              <a:buNone/>
              <a:tabLst>
                <a:tab pos="2055813" algn="l"/>
              </a:tabLst>
            </a:pPr>
            <a:r>
              <a:rPr lang="en-US" altLang="en-US" b="1"/>
              <a:t>			select </a:t>
            </a:r>
            <a:r>
              <a:rPr lang="en-US" altLang="en-US"/>
              <a:t>*</a:t>
            </a:r>
            <a:br>
              <a:rPr lang="en-US" altLang="en-US"/>
            </a:br>
            <a:r>
              <a:rPr lang="en-US" altLang="en-US"/>
              <a:t>		</a:t>
            </a:r>
            <a:r>
              <a:rPr lang="en-US" altLang="en-US" b="1"/>
              <a:t>from </a:t>
            </a:r>
            <a:r>
              <a:rPr lang="en-US" altLang="en-US" i="1"/>
              <a:t>instructor</a:t>
            </a:r>
          </a:p>
          <a:p>
            <a:pPr>
              <a:tabLst>
                <a:tab pos="2055813" algn="l"/>
              </a:tabLst>
            </a:pPr>
            <a:r>
              <a:rPr lang="en-US" altLang="en-US"/>
              <a:t>The </a:t>
            </a:r>
            <a:r>
              <a:rPr lang="en-US" altLang="en-US" b="1">
                <a:solidFill>
                  <a:srgbClr val="000099"/>
                </a:solidFill>
              </a:rPr>
              <a:t>select</a:t>
            </a:r>
            <a:r>
              <a:rPr lang="en-US" altLang="en-US"/>
              <a:t> clause can contain arithmetic expressions involving the operation, +, –, </a:t>
            </a:r>
            <a:r>
              <a:rPr lang="en-US" altLang="en-US">
                <a:latin typeface="Symbol" panose="05050102010706020507" pitchFamily="18" charset="2"/>
              </a:rPr>
              <a:t></a:t>
            </a:r>
            <a:r>
              <a:rPr lang="en-US" altLang="en-US"/>
              <a:t>, and /, and operating on constants or attributes of tuples.</a:t>
            </a:r>
          </a:p>
          <a:p>
            <a:pPr>
              <a:tabLst>
                <a:tab pos="2055813" algn="l"/>
              </a:tabLst>
            </a:pPr>
            <a:r>
              <a:rPr lang="en-US" altLang="en-US"/>
              <a:t>The query: </a:t>
            </a:r>
          </a:p>
          <a:p>
            <a:pPr>
              <a:buFont typeface="Monotype Sorts" charset="2"/>
              <a:buNone/>
              <a:tabLst>
                <a:tab pos="2055813" algn="l"/>
              </a:tabLst>
            </a:pPr>
            <a:r>
              <a:rPr lang="en-US" altLang="en-US" b="1"/>
              <a:t>	                  select</a:t>
            </a:r>
            <a:r>
              <a:rPr lang="en-US" altLang="en-US"/>
              <a:t> </a:t>
            </a:r>
            <a:r>
              <a:rPr lang="en-US" altLang="en-US" i="1"/>
              <a:t>ID, name, salary/12</a:t>
            </a:r>
            <a:r>
              <a:rPr lang="en-US" altLang="en-US"/>
              <a:t/>
            </a:r>
            <a:br>
              <a:rPr lang="en-US" altLang="en-US"/>
            </a:br>
            <a:r>
              <a:rPr lang="en-US" altLang="en-US"/>
              <a:t>                  </a:t>
            </a:r>
            <a:r>
              <a:rPr lang="en-US" altLang="en-US" b="1"/>
              <a:t>from </a:t>
            </a:r>
            <a:r>
              <a:rPr lang="en-US" altLang="en-US" i="1"/>
              <a:t>instructor</a:t>
            </a:r>
          </a:p>
          <a:p>
            <a:pPr>
              <a:buFont typeface="Monotype Sorts" charset="2"/>
              <a:buNone/>
              <a:tabLst>
                <a:tab pos="2055813" algn="l"/>
              </a:tabLst>
            </a:pPr>
            <a:r>
              <a:rPr lang="en-US" altLang="en-US" i="1"/>
              <a:t>	</a:t>
            </a:r>
            <a:r>
              <a:rPr lang="en-US" altLang="en-US"/>
              <a:t>would return a relation that is the same as the </a:t>
            </a:r>
            <a:r>
              <a:rPr lang="en-US" altLang="en-US" i="1"/>
              <a:t>instructor </a:t>
            </a:r>
            <a:r>
              <a:rPr lang="en-US" altLang="en-US"/>
              <a:t>relation, except that the value of the attribute </a:t>
            </a:r>
            <a:r>
              <a:rPr lang="en-US" altLang="en-US" i="1"/>
              <a:t>salary </a:t>
            </a:r>
            <a:r>
              <a:rPr lang="en-US" altLang="en-US"/>
              <a:t>is divided by 12.</a:t>
            </a:r>
          </a:p>
          <a:p>
            <a:pPr>
              <a:buFont typeface="Monotype Sorts" charset="2"/>
              <a:buNone/>
              <a:tabLst>
                <a:tab pos="2055813" algn="l"/>
              </a:tabLst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59202621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290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488" tIns="44450" rIns="90488" bIns="44450" anchor="ctr"/>
          <a:lstStyle/>
          <a:p>
            <a:r>
              <a:rPr lang="en-US" altLang="en-US"/>
              <a:t>The where Clause</a:t>
            </a:r>
          </a:p>
        </p:txBody>
      </p:sp>
      <p:sp>
        <p:nvSpPr>
          <p:cNvPr id="3962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39775" y="1106488"/>
            <a:ext cx="7848600" cy="4876800"/>
          </a:xfrm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pPr>
              <a:tabLst>
                <a:tab pos="1311275" algn="l"/>
              </a:tabLst>
            </a:pPr>
            <a:r>
              <a:rPr lang="en-US" altLang="en-US"/>
              <a:t>The </a:t>
            </a:r>
            <a:r>
              <a:rPr lang="en-US" altLang="en-US" b="1">
                <a:solidFill>
                  <a:srgbClr val="000099"/>
                </a:solidFill>
              </a:rPr>
              <a:t>where</a:t>
            </a:r>
            <a:r>
              <a:rPr lang="en-US" altLang="en-US" b="1"/>
              <a:t> </a:t>
            </a:r>
            <a:r>
              <a:rPr lang="en-US" altLang="en-US"/>
              <a:t>clause specifies conditions that the result must satisfy</a:t>
            </a:r>
          </a:p>
          <a:p>
            <a:pPr lvl="1">
              <a:tabLst>
                <a:tab pos="1311275" algn="l"/>
              </a:tabLst>
            </a:pPr>
            <a:r>
              <a:rPr lang="en-US" altLang="en-US"/>
              <a:t>Corresponds to the selection predicate of the relational algebra.  </a:t>
            </a:r>
          </a:p>
          <a:p>
            <a:pPr>
              <a:tabLst>
                <a:tab pos="1311275" algn="l"/>
              </a:tabLst>
            </a:pPr>
            <a:r>
              <a:rPr lang="en-US" altLang="en-US"/>
              <a:t>To find all instructors in Comp. Sci. dept with salary &gt; 80000</a:t>
            </a:r>
            <a:r>
              <a:rPr lang="en-US" altLang="en-US" b="1"/>
              <a:t>		select </a:t>
            </a:r>
            <a:r>
              <a:rPr lang="en-US" altLang="en-US" i="1"/>
              <a:t>name</a:t>
            </a:r>
            <a:br>
              <a:rPr lang="en-US" altLang="en-US" i="1"/>
            </a:br>
            <a:r>
              <a:rPr lang="en-US" altLang="en-US" i="1"/>
              <a:t>	</a:t>
            </a:r>
            <a:r>
              <a:rPr lang="en-US" altLang="en-US" b="1"/>
              <a:t>from </a:t>
            </a:r>
            <a:r>
              <a:rPr lang="en-US" altLang="en-US" i="1"/>
              <a:t>instructor</a:t>
            </a:r>
            <a:br>
              <a:rPr lang="en-US" altLang="en-US" i="1"/>
            </a:br>
            <a:r>
              <a:rPr lang="en-US" altLang="en-US" i="1"/>
              <a:t>	</a:t>
            </a:r>
            <a:r>
              <a:rPr lang="en-US" altLang="en-US" b="1"/>
              <a:t>where </a:t>
            </a:r>
            <a:r>
              <a:rPr lang="en-US" altLang="en-US" i="1"/>
              <a:t>dept_name =</a:t>
            </a:r>
            <a:r>
              <a:rPr lang="en-US" altLang="en-US"/>
              <a:t> </a:t>
            </a:r>
            <a:r>
              <a:rPr lang="en-US" altLang="en-US" i="1"/>
              <a:t>‘</a:t>
            </a:r>
            <a:r>
              <a:rPr lang="en-US" altLang="en-US"/>
              <a:t>Comp. Sci.'</a:t>
            </a:r>
            <a:r>
              <a:rPr lang="en-US" altLang="en-US" i="1"/>
              <a:t>  </a:t>
            </a:r>
            <a:r>
              <a:rPr lang="en-US" altLang="en-US" b="1"/>
              <a:t>and </a:t>
            </a:r>
            <a:r>
              <a:rPr lang="en-US" altLang="en-US" i="1"/>
              <a:t>salary </a:t>
            </a:r>
            <a:r>
              <a:rPr lang="en-US" altLang="en-US"/>
              <a:t>&gt; 80000</a:t>
            </a:r>
          </a:p>
          <a:p>
            <a:pPr>
              <a:tabLst>
                <a:tab pos="1311275" algn="l"/>
              </a:tabLst>
            </a:pPr>
            <a:r>
              <a:rPr lang="en-US" altLang="en-US"/>
              <a:t>Comparison results can be combined using the logical connectives </a:t>
            </a:r>
            <a:r>
              <a:rPr lang="en-US" altLang="en-US" b="1"/>
              <a:t>and, or, </a:t>
            </a:r>
            <a:r>
              <a:rPr lang="en-US" altLang="en-US"/>
              <a:t>and </a:t>
            </a:r>
            <a:r>
              <a:rPr lang="en-US" altLang="en-US" b="1"/>
              <a:t>not.</a:t>
            </a:r>
            <a:r>
              <a:rPr lang="en-US" altLang="en-US"/>
              <a:t> </a:t>
            </a:r>
          </a:p>
          <a:p>
            <a:pPr>
              <a:tabLst>
                <a:tab pos="1311275" algn="l"/>
              </a:tabLst>
            </a:pPr>
            <a:r>
              <a:rPr lang="en-US" altLang="en-US"/>
              <a:t>Comparisons can be applied to results of arithmetic expressions.</a:t>
            </a:r>
          </a:p>
        </p:txBody>
      </p:sp>
    </p:spTree>
    <p:extLst>
      <p:ext uri="{BB962C8B-B14F-4D97-AF65-F5344CB8AC3E}">
        <p14:creationId xmlns:p14="http://schemas.microsoft.com/office/powerpoint/2010/main" val="2201969170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338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488" tIns="44450" rIns="90488" bIns="44450" anchor="ctr"/>
          <a:lstStyle/>
          <a:p>
            <a:r>
              <a:rPr lang="en-US" altLang="en-US"/>
              <a:t>The from Clause</a:t>
            </a:r>
          </a:p>
        </p:txBody>
      </p:sp>
      <p:sp>
        <p:nvSpPr>
          <p:cNvPr id="398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17538" y="1106488"/>
            <a:ext cx="7970837" cy="5024437"/>
          </a:xfrm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pPr>
              <a:tabLst>
                <a:tab pos="635000" algn="l"/>
                <a:tab pos="2403475" algn="l"/>
              </a:tabLst>
            </a:pPr>
            <a:r>
              <a:rPr lang="en-US" altLang="en-US"/>
              <a:t>The </a:t>
            </a:r>
            <a:r>
              <a:rPr lang="en-US" altLang="en-US" b="1">
                <a:solidFill>
                  <a:srgbClr val="000099"/>
                </a:solidFill>
              </a:rPr>
              <a:t>from</a:t>
            </a:r>
            <a:r>
              <a:rPr lang="en-US" altLang="en-US" b="1"/>
              <a:t> </a:t>
            </a:r>
            <a:r>
              <a:rPr lang="en-US" altLang="en-US"/>
              <a:t>clause lists the relations involved in the query</a:t>
            </a:r>
          </a:p>
          <a:p>
            <a:pPr lvl="1">
              <a:tabLst>
                <a:tab pos="635000" algn="l"/>
                <a:tab pos="2403475" algn="l"/>
              </a:tabLst>
            </a:pPr>
            <a:r>
              <a:rPr lang="en-US" altLang="en-US"/>
              <a:t>Corresponds to the Cartesian product operation of the relational algebra.</a:t>
            </a:r>
          </a:p>
          <a:p>
            <a:pPr>
              <a:tabLst>
                <a:tab pos="635000" algn="l"/>
                <a:tab pos="2403475" algn="l"/>
              </a:tabLst>
            </a:pPr>
            <a:r>
              <a:rPr lang="en-US" altLang="en-US"/>
              <a:t>Find the Cartesian product </a:t>
            </a:r>
            <a:r>
              <a:rPr lang="en-US" altLang="en-US" i="1"/>
              <a:t>instructor X teaches</a:t>
            </a:r>
            <a:endParaRPr lang="en-US" altLang="en-US"/>
          </a:p>
          <a:p>
            <a:pPr>
              <a:buFont typeface="Monotype Sorts" charset="2"/>
              <a:buNone/>
              <a:tabLst>
                <a:tab pos="635000" algn="l"/>
                <a:tab pos="2403475" algn="l"/>
              </a:tabLst>
            </a:pPr>
            <a:r>
              <a:rPr lang="en-US" altLang="en-US" b="1"/>
              <a:t>			select </a:t>
            </a:r>
            <a:r>
              <a:rPr lang="en-US" altLang="en-US">
                <a:latin typeface="Symbol" panose="05050102010706020507" pitchFamily="18" charset="2"/>
              </a:rPr>
              <a:t></a:t>
            </a:r>
            <a:r>
              <a:rPr lang="en-US" altLang="en-US"/>
              <a:t/>
            </a:r>
            <a:br>
              <a:rPr lang="en-US" altLang="en-US"/>
            </a:br>
            <a:r>
              <a:rPr lang="en-US" altLang="en-US"/>
              <a:t>		</a:t>
            </a:r>
            <a:r>
              <a:rPr lang="en-US" altLang="en-US" b="1"/>
              <a:t>from </a:t>
            </a:r>
            <a:r>
              <a:rPr lang="en-US" altLang="en-US" i="1"/>
              <a:t>instructor, teaches</a:t>
            </a:r>
          </a:p>
          <a:p>
            <a:pPr lvl="1">
              <a:tabLst>
                <a:tab pos="635000" algn="l"/>
                <a:tab pos="2403475" algn="l"/>
              </a:tabLst>
            </a:pPr>
            <a:r>
              <a:rPr lang="en-US" altLang="en-US"/>
              <a:t>generates every possible instructor – teaches pair, with all attributes from both relations</a:t>
            </a:r>
          </a:p>
          <a:p>
            <a:pPr>
              <a:tabLst>
                <a:tab pos="635000" algn="l"/>
                <a:tab pos="2403475" algn="l"/>
              </a:tabLst>
            </a:pPr>
            <a:r>
              <a:rPr lang="en-US" altLang="en-US"/>
              <a:t>Cartesian product not very useful directly, but useful combined with where-clause condition (selection operation in relational algebra)</a:t>
            </a:r>
          </a:p>
          <a:p>
            <a:pPr>
              <a:buFont typeface="Monotype Sorts" charset="2"/>
              <a:buNone/>
              <a:tabLst>
                <a:tab pos="635000" algn="l"/>
                <a:tab pos="2403475" algn="l"/>
              </a:tabLst>
            </a:pPr>
            <a:r>
              <a:rPr lang="en-US" altLang="en-US" i="1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2855694682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String Operations</a:t>
            </a:r>
          </a:p>
        </p:txBody>
      </p:sp>
      <p:sp>
        <p:nvSpPr>
          <p:cNvPr id="4075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39775" y="1106488"/>
            <a:ext cx="7848600" cy="5181600"/>
          </a:xfrm>
        </p:spPr>
        <p:txBody>
          <a:bodyPr/>
          <a:lstStyle/>
          <a:p>
            <a:pPr>
              <a:tabLst>
                <a:tab pos="1889125" algn="l"/>
                <a:tab pos="2403475" algn="l"/>
              </a:tabLst>
            </a:pPr>
            <a:r>
              <a:rPr lang="en-US" altLang="en-US" dirty="0"/>
              <a:t>SQL includes a string-matching operator for comparisons on character strings.  The operator “like” uses patterns that are described using two special characters:</a:t>
            </a:r>
          </a:p>
          <a:p>
            <a:pPr lvl="1">
              <a:tabLst>
                <a:tab pos="1889125" algn="l"/>
                <a:tab pos="2403475" algn="l"/>
              </a:tabLst>
            </a:pPr>
            <a:r>
              <a:rPr lang="en-US" altLang="en-US" sz="1600" dirty="0"/>
              <a:t>percent (%).  The % character matches any substring.</a:t>
            </a:r>
          </a:p>
          <a:p>
            <a:pPr lvl="1">
              <a:tabLst>
                <a:tab pos="1889125" algn="l"/>
                <a:tab pos="2403475" algn="l"/>
              </a:tabLst>
            </a:pPr>
            <a:r>
              <a:rPr lang="en-US" altLang="en-US" sz="1600" dirty="0"/>
              <a:t>underscore (_).  The _ character matches any character.</a:t>
            </a:r>
          </a:p>
          <a:p>
            <a:pPr>
              <a:tabLst>
                <a:tab pos="1889125" algn="l"/>
                <a:tab pos="2403475" algn="l"/>
              </a:tabLst>
            </a:pPr>
            <a:r>
              <a:rPr lang="en-US" altLang="en-US" dirty="0"/>
              <a:t>Find the names of all instructors whose name includes the substring “</a:t>
            </a:r>
            <a:r>
              <a:rPr lang="en-US" altLang="en-US" dirty="0" err="1"/>
              <a:t>dar</a:t>
            </a:r>
            <a:r>
              <a:rPr lang="en-US" altLang="en-US" dirty="0"/>
              <a:t>”.</a:t>
            </a:r>
          </a:p>
          <a:p>
            <a:pPr>
              <a:buFont typeface="Monotype Sorts" charset="2"/>
              <a:buNone/>
              <a:tabLst>
                <a:tab pos="1889125" algn="l"/>
                <a:tab pos="2403475" algn="l"/>
              </a:tabLst>
            </a:pPr>
            <a:r>
              <a:rPr lang="en-US" altLang="en-US" sz="1600" b="1" dirty="0"/>
              <a:t>		select </a:t>
            </a:r>
            <a:r>
              <a:rPr lang="en-US" altLang="en-US" sz="1600" i="1" dirty="0"/>
              <a:t>name</a:t>
            </a:r>
            <a:br>
              <a:rPr lang="en-US" altLang="en-US" sz="1600" i="1" dirty="0"/>
            </a:br>
            <a:r>
              <a:rPr lang="en-US" altLang="en-US" sz="1600" i="1" dirty="0"/>
              <a:t>	</a:t>
            </a:r>
            <a:r>
              <a:rPr lang="en-US" altLang="en-US" sz="1600" b="1" dirty="0"/>
              <a:t>from </a:t>
            </a:r>
            <a:r>
              <a:rPr lang="en-US" altLang="en-US" sz="1600" i="1" dirty="0"/>
              <a:t>instructor</a:t>
            </a:r>
            <a:br>
              <a:rPr lang="en-US" altLang="en-US" sz="1600" i="1" dirty="0"/>
            </a:br>
            <a:r>
              <a:rPr lang="en-US" altLang="en-US" sz="1600" i="1" dirty="0"/>
              <a:t>	</a:t>
            </a:r>
            <a:r>
              <a:rPr lang="en-US" altLang="en-US" sz="1600" b="1" dirty="0"/>
              <a:t>where</a:t>
            </a:r>
            <a:r>
              <a:rPr lang="en-US" altLang="en-US" sz="1600" b="1" i="1" dirty="0"/>
              <a:t> </a:t>
            </a:r>
            <a:r>
              <a:rPr lang="en-US" altLang="en-US" sz="1600" i="1" dirty="0"/>
              <a:t>name </a:t>
            </a:r>
            <a:r>
              <a:rPr lang="en-US" altLang="en-US" sz="1600" b="1" dirty="0"/>
              <a:t>like </a:t>
            </a:r>
            <a:r>
              <a:rPr lang="en-US" altLang="en-US" sz="1600" b="1" dirty="0">
                <a:latin typeface="Century Gothic" panose="020B0502020202020204" pitchFamily="34" charset="0"/>
              </a:rPr>
              <a:t>'</a:t>
            </a:r>
            <a:r>
              <a:rPr lang="en-US" altLang="en-US" sz="1600" dirty="0"/>
              <a:t>%</a:t>
            </a:r>
            <a:r>
              <a:rPr lang="en-US" altLang="en-US" sz="1600" dirty="0" err="1"/>
              <a:t>dar</a:t>
            </a:r>
            <a:r>
              <a:rPr lang="en-US" altLang="en-US" sz="1600" dirty="0"/>
              <a:t>%</a:t>
            </a:r>
            <a:r>
              <a:rPr lang="en-US" altLang="en-US" sz="1600" dirty="0">
                <a:latin typeface="Century Gothic" panose="020B0502020202020204" pitchFamily="34" charset="0"/>
              </a:rPr>
              <a:t>' </a:t>
            </a:r>
          </a:p>
          <a:p>
            <a:pPr>
              <a:tabLst>
                <a:tab pos="1889125" algn="l"/>
                <a:tab pos="2403475" algn="l"/>
              </a:tabLst>
            </a:pPr>
            <a:r>
              <a:rPr lang="en-US" altLang="en-US" dirty="0"/>
              <a:t>Match the string “100 %”</a:t>
            </a:r>
          </a:p>
          <a:p>
            <a:pPr>
              <a:buFont typeface="Monotype Sorts" charset="2"/>
              <a:buNone/>
              <a:tabLst>
                <a:tab pos="1889125" algn="l"/>
                <a:tab pos="2403475" algn="l"/>
              </a:tabLst>
            </a:pPr>
            <a:r>
              <a:rPr lang="en-US" altLang="en-US" sz="1600" dirty="0"/>
              <a:t>			</a:t>
            </a:r>
            <a:r>
              <a:rPr lang="en-US" altLang="en-US" sz="1600" b="1" dirty="0"/>
              <a:t>like </a:t>
            </a:r>
            <a:r>
              <a:rPr lang="en-US" altLang="en-US" sz="1600" b="1" dirty="0">
                <a:latin typeface="Century Gothic" panose="020B0502020202020204" pitchFamily="34" charset="0"/>
              </a:rPr>
              <a:t>‘</a:t>
            </a:r>
            <a:r>
              <a:rPr lang="en-US" altLang="en-US" sz="1600" dirty="0"/>
              <a:t>100 \%</a:t>
            </a:r>
            <a:r>
              <a:rPr lang="en-US" altLang="en-US" sz="1600" dirty="0">
                <a:latin typeface="Century Gothic" panose="020B0502020202020204" pitchFamily="34" charset="0"/>
              </a:rPr>
              <a:t>' </a:t>
            </a:r>
            <a:r>
              <a:rPr lang="en-US" altLang="en-US" sz="1600" dirty="0"/>
              <a:t> </a:t>
            </a:r>
            <a:r>
              <a:rPr lang="en-US" altLang="en-US" sz="1600" b="1" dirty="0"/>
              <a:t>escape  </a:t>
            </a:r>
            <a:r>
              <a:rPr lang="en-US" altLang="en-US" sz="1600" b="1" dirty="0">
                <a:latin typeface="Century Gothic" panose="020B0502020202020204" pitchFamily="34" charset="0"/>
              </a:rPr>
              <a:t>'</a:t>
            </a:r>
            <a:r>
              <a:rPr lang="en-US" altLang="en-US" sz="1600" dirty="0"/>
              <a:t>\</a:t>
            </a:r>
            <a:r>
              <a:rPr lang="en-US" altLang="en-US" sz="1600" dirty="0">
                <a:latin typeface="Century Gothic" panose="020B0502020202020204" pitchFamily="34" charset="0"/>
              </a:rPr>
              <a:t>' </a:t>
            </a:r>
            <a:endParaRPr lang="en-US" altLang="en-US" sz="1600" dirty="0"/>
          </a:p>
          <a:p>
            <a:pPr>
              <a:tabLst>
                <a:tab pos="1889125" algn="l"/>
                <a:tab pos="2403475" algn="l"/>
              </a:tabLst>
            </a:pPr>
            <a:r>
              <a:rPr lang="en-US" altLang="en-US" dirty="0"/>
              <a:t>SQL supports a variety of string operations such as</a:t>
            </a:r>
          </a:p>
          <a:p>
            <a:pPr lvl="1">
              <a:tabLst>
                <a:tab pos="1889125" algn="l"/>
                <a:tab pos="2403475" algn="l"/>
              </a:tabLst>
            </a:pPr>
            <a:r>
              <a:rPr lang="en-US" altLang="en-US" sz="1600" dirty="0"/>
              <a:t>concatenation (using “||”)</a:t>
            </a:r>
          </a:p>
          <a:p>
            <a:pPr lvl="1">
              <a:tabLst>
                <a:tab pos="1889125" algn="l"/>
                <a:tab pos="2403475" algn="l"/>
              </a:tabLst>
            </a:pPr>
            <a:r>
              <a:rPr lang="en-US" altLang="en-US" sz="1600" dirty="0"/>
              <a:t> converting from upper to lower case (and vice versa)</a:t>
            </a:r>
          </a:p>
          <a:p>
            <a:pPr lvl="1">
              <a:tabLst>
                <a:tab pos="1889125" algn="l"/>
                <a:tab pos="2403475" algn="l"/>
              </a:tabLst>
            </a:pPr>
            <a:r>
              <a:rPr lang="en-US" altLang="en-US" sz="1600" dirty="0"/>
              <a:t> finding string length, extracting substrings, etc.</a:t>
            </a:r>
          </a:p>
        </p:txBody>
      </p:sp>
    </p:spTree>
    <p:extLst>
      <p:ext uri="{BB962C8B-B14F-4D97-AF65-F5344CB8AC3E}">
        <p14:creationId xmlns:p14="http://schemas.microsoft.com/office/powerpoint/2010/main" val="11564313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Ordering the Display of Tuples</a:t>
            </a:r>
          </a:p>
        </p:txBody>
      </p:sp>
      <p:sp>
        <p:nvSpPr>
          <p:cNvPr id="4096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14388" y="1108075"/>
            <a:ext cx="7661275" cy="4202113"/>
          </a:xfrm>
        </p:spPr>
        <p:txBody>
          <a:bodyPr/>
          <a:lstStyle/>
          <a:p>
            <a:pPr>
              <a:tabLst>
                <a:tab pos="906463" algn="l"/>
              </a:tabLst>
            </a:pPr>
            <a:r>
              <a:rPr lang="en-US" altLang="en-US"/>
              <a:t>List in alphabetic order the names of all instructors </a:t>
            </a:r>
            <a:br>
              <a:rPr lang="en-US" altLang="en-US"/>
            </a:br>
            <a:r>
              <a:rPr lang="en-US" altLang="en-US"/>
              <a:t>         </a:t>
            </a:r>
            <a:r>
              <a:rPr lang="en-US" altLang="en-US" b="1"/>
              <a:t>select distinct </a:t>
            </a:r>
            <a:r>
              <a:rPr lang="en-US" altLang="en-US" i="1"/>
              <a:t>name</a:t>
            </a:r>
            <a:br>
              <a:rPr lang="en-US" altLang="en-US" i="1"/>
            </a:br>
            <a:r>
              <a:rPr lang="en-US" altLang="en-US" i="1"/>
              <a:t>	</a:t>
            </a:r>
            <a:r>
              <a:rPr lang="en-US" altLang="en-US" b="1"/>
              <a:t>from    </a:t>
            </a:r>
            <a:r>
              <a:rPr lang="en-US" altLang="en-US" i="1"/>
              <a:t>instructor</a:t>
            </a:r>
            <a:br>
              <a:rPr lang="en-US" altLang="en-US" i="1"/>
            </a:br>
            <a:r>
              <a:rPr lang="en-US" altLang="en-US" i="1"/>
              <a:t>	</a:t>
            </a:r>
            <a:r>
              <a:rPr lang="en-US" altLang="en-US"/>
              <a:t>	</a:t>
            </a:r>
            <a:r>
              <a:rPr lang="en-US" altLang="en-US" b="1"/>
              <a:t>order by </a:t>
            </a:r>
            <a:r>
              <a:rPr lang="en-US" altLang="en-US" i="1"/>
              <a:t>name</a:t>
            </a:r>
            <a:endParaRPr lang="en-US" altLang="en-US"/>
          </a:p>
          <a:p>
            <a:pPr>
              <a:tabLst>
                <a:tab pos="906463" algn="l"/>
              </a:tabLst>
            </a:pPr>
            <a:r>
              <a:rPr lang="en-US" altLang="en-US"/>
              <a:t>We may specify </a:t>
            </a:r>
            <a:r>
              <a:rPr lang="en-US" altLang="en-US" b="1">
                <a:solidFill>
                  <a:srgbClr val="000099"/>
                </a:solidFill>
              </a:rPr>
              <a:t>desc</a:t>
            </a:r>
            <a:r>
              <a:rPr lang="en-US" altLang="en-US"/>
              <a:t> for descending order or </a:t>
            </a:r>
            <a:r>
              <a:rPr lang="en-US" altLang="en-US" b="1">
                <a:solidFill>
                  <a:srgbClr val="000099"/>
                </a:solidFill>
              </a:rPr>
              <a:t>asc</a:t>
            </a:r>
            <a:r>
              <a:rPr lang="en-US" altLang="en-US"/>
              <a:t> for ascending order, for each attribute; ascending order is the default.</a:t>
            </a:r>
          </a:p>
          <a:p>
            <a:pPr lvl="1">
              <a:tabLst>
                <a:tab pos="906463" algn="l"/>
              </a:tabLst>
            </a:pPr>
            <a:r>
              <a:rPr lang="en-US" altLang="en-US"/>
              <a:t>Example:  </a:t>
            </a:r>
            <a:r>
              <a:rPr lang="en-US" altLang="en-US" b="1"/>
              <a:t>order by</a:t>
            </a:r>
            <a:r>
              <a:rPr lang="en-US" altLang="en-US"/>
              <a:t> </a:t>
            </a:r>
            <a:r>
              <a:rPr lang="en-US" altLang="en-US" i="1"/>
              <a:t>name</a:t>
            </a:r>
            <a:r>
              <a:rPr lang="en-US" altLang="en-US"/>
              <a:t> </a:t>
            </a:r>
            <a:r>
              <a:rPr lang="en-US" altLang="en-US" b="1"/>
              <a:t>desc</a:t>
            </a:r>
          </a:p>
          <a:p>
            <a:pPr>
              <a:tabLst>
                <a:tab pos="906463" algn="l"/>
              </a:tabLst>
            </a:pPr>
            <a:r>
              <a:rPr lang="en-US" altLang="en-US"/>
              <a:t>Can sort on multiple attributes</a:t>
            </a:r>
          </a:p>
          <a:p>
            <a:pPr lvl="1">
              <a:tabLst>
                <a:tab pos="906463" algn="l"/>
              </a:tabLst>
            </a:pPr>
            <a:r>
              <a:rPr lang="en-US" altLang="en-US"/>
              <a:t>Example: </a:t>
            </a:r>
            <a:r>
              <a:rPr lang="en-US" altLang="en-US" b="1"/>
              <a:t>order by </a:t>
            </a:r>
            <a:r>
              <a:rPr lang="en-US" altLang="en-US"/>
              <a:t> </a:t>
            </a:r>
            <a:r>
              <a:rPr lang="en-US" altLang="en-US" i="1"/>
              <a:t>dept_name, name</a:t>
            </a: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029707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650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488" tIns="44450" rIns="90488" bIns="44450" anchor="ctr"/>
          <a:lstStyle/>
          <a:p>
            <a:r>
              <a:rPr lang="en-US" altLang="en-US"/>
              <a:t>Where Clause Predicates</a:t>
            </a:r>
          </a:p>
        </p:txBody>
      </p:sp>
      <p:sp>
        <p:nvSpPr>
          <p:cNvPr id="4116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39775" y="1106488"/>
            <a:ext cx="8089900" cy="5038725"/>
          </a:xfrm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r>
              <a:rPr lang="en-US" altLang="en-US"/>
              <a:t>SQL includes a </a:t>
            </a:r>
            <a:r>
              <a:rPr lang="en-US" altLang="en-US" b="1">
                <a:solidFill>
                  <a:srgbClr val="000099"/>
                </a:solidFill>
              </a:rPr>
              <a:t>between</a:t>
            </a:r>
            <a:r>
              <a:rPr lang="en-US" altLang="en-US"/>
              <a:t> comparison operator</a:t>
            </a:r>
          </a:p>
          <a:p>
            <a:r>
              <a:rPr lang="en-US" altLang="en-US"/>
              <a:t>Example:  Find the names of all instructors with salary between $90,000 and $100,000 (that is, </a:t>
            </a:r>
            <a:r>
              <a:rPr lang="en-US" altLang="en-US">
                <a:latin typeface="Symbol" panose="05050102010706020507" pitchFamily="18" charset="2"/>
              </a:rPr>
              <a:t> </a:t>
            </a:r>
            <a:r>
              <a:rPr lang="en-US" altLang="en-US"/>
              <a:t>$90,000 and </a:t>
            </a:r>
            <a:r>
              <a:rPr lang="en-US" altLang="en-US">
                <a:latin typeface="Symbol" panose="05050102010706020507" pitchFamily="18" charset="2"/>
              </a:rPr>
              <a:t> </a:t>
            </a:r>
            <a:r>
              <a:rPr lang="en-US" altLang="en-US"/>
              <a:t>$100,000)</a:t>
            </a:r>
          </a:p>
          <a:p>
            <a:pPr lvl="1"/>
            <a:r>
              <a:rPr lang="en-US" altLang="en-US" b="1"/>
              <a:t>select</a:t>
            </a:r>
            <a:r>
              <a:rPr lang="en-US" altLang="en-US" i="1"/>
              <a:t> name</a:t>
            </a:r>
            <a:br>
              <a:rPr lang="en-US" altLang="en-US" i="1"/>
            </a:br>
            <a:r>
              <a:rPr lang="en-US" altLang="en-US" i="1"/>
              <a:t>  </a:t>
            </a:r>
            <a:r>
              <a:rPr lang="en-US" altLang="en-US" b="1"/>
              <a:t>from </a:t>
            </a:r>
            <a:r>
              <a:rPr lang="en-US" altLang="en-US" i="1"/>
              <a:t>instructor</a:t>
            </a:r>
            <a:r>
              <a:rPr lang="en-US" altLang="en-US"/>
              <a:t/>
            </a:r>
            <a:br>
              <a:rPr lang="en-US" altLang="en-US"/>
            </a:br>
            <a:r>
              <a:rPr lang="en-US" altLang="en-US"/>
              <a:t>  </a:t>
            </a:r>
            <a:r>
              <a:rPr lang="en-US" altLang="en-US" b="1"/>
              <a:t>where </a:t>
            </a:r>
            <a:r>
              <a:rPr lang="en-US" altLang="en-US" i="1"/>
              <a:t>salary </a:t>
            </a:r>
            <a:r>
              <a:rPr lang="en-US" altLang="en-US" b="1"/>
              <a:t>between </a:t>
            </a:r>
            <a:r>
              <a:rPr lang="en-US" altLang="en-US"/>
              <a:t>90000 </a:t>
            </a:r>
            <a:r>
              <a:rPr lang="en-US" altLang="en-US" b="1"/>
              <a:t>and </a:t>
            </a:r>
            <a:r>
              <a:rPr lang="en-US" altLang="en-US"/>
              <a:t>100000</a:t>
            </a:r>
          </a:p>
          <a:p>
            <a:r>
              <a:rPr lang="en-US" altLang="en-US"/>
              <a:t>Tuple comparison</a:t>
            </a:r>
          </a:p>
          <a:p>
            <a:pPr lvl="1"/>
            <a:r>
              <a:rPr kumimoji="0" lang="en-US" altLang="en-US" b="1"/>
              <a:t>select </a:t>
            </a:r>
            <a:r>
              <a:rPr kumimoji="0" lang="en-US" altLang="en-US" i="1"/>
              <a:t>name</a:t>
            </a:r>
            <a:r>
              <a:rPr kumimoji="0" lang="en-US" altLang="en-US"/>
              <a:t>, </a:t>
            </a:r>
            <a:r>
              <a:rPr kumimoji="0" lang="en-US" altLang="en-US" i="1"/>
              <a:t>course_id</a:t>
            </a:r>
            <a:br>
              <a:rPr kumimoji="0" lang="en-US" altLang="en-US" i="1"/>
            </a:br>
            <a:r>
              <a:rPr kumimoji="0" lang="en-US" altLang="en-US" b="1"/>
              <a:t>from </a:t>
            </a:r>
            <a:r>
              <a:rPr kumimoji="0" lang="en-US" altLang="en-US" i="1"/>
              <a:t>instructor</a:t>
            </a:r>
            <a:r>
              <a:rPr kumimoji="0" lang="en-US" altLang="en-US"/>
              <a:t>, </a:t>
            </a:r>
            <a:r>
              <a:rPr kumimoji="0" lang="en-US" altLang="en-US" i="1"/>
              <a:t>teaches</a:t>
            </a:r>
            <a:br>
              <a:rPr kumimoji="0" lang="en-US" altLang="en-US" i="1"/>
            </a:br>
            <a:r>
              <a:rPr kumimoji="0" lang="en-US" altLang="en-US" b="1"/>
              <a:t>where </a:t>
            </a:r>
            <a:r>
              <a:rPr kumimoji="0" lang="en-US" altLang="en-US"/>
              <a:t>(</a:t>
            </a:r>
            <a:r>
              <a:rPr kumimoji="0" lang="en-US" altLang="en-US" i="1"/>
              <a:t>instructor</a:t>
            </a:r>
            <a:r>
              <a:rPr kumimoji="0" lang="en-US" altLang="en-US"/>
              <a:t>.</a:t>
            </a:r>
            <a:r>
              <a:rPr kumimoji="0" lang="en-US" altLang="en-US" i="1"/>
              <a:t>ID</a:t>
            </a:r>
            <a:r>
              <a:rPr kumimoji="0" lang="en-US" altLang="en-US"/>
              <a:t>, </a:t>
            </a:r>
            <a:r>
              <a:rPr kumimoji="0" lang="en-US" altLang="en-US" i="1"/>
              <a:t>dept_name</a:t>
            </a:r>
            <a:r>
              <a:rPr kumimoji="0" lang="en-US" altLang="en-US"/>
              <a:t>) = (</a:t>
            </a:r>
            <a:r>
              <a:rPr kumimoji="0" lang="en-US" altLang="en-US" i="1"/>
              <a:t>teaches</a:t>
            </a:r>
            <a:r>
              <a:rPr kumimoji="0" lang="en-US" altLang="en-US"/>
              <a:t>.</a:t>
            </a:r>
            <a:r>
              <a:rPr kumimoji="0" lang="en-US" altLang="en-US" i="1"/>
              <a:t>ID</a:t>
            </a:r>
            <a:r>
              <a:rPr kumimoji="0" lang="en-US" altLang="en-US"/>
              <a:t>, ’Biology’);</a:t>
            </a:r>
          </a:p>
          <a:p>
            <a:pPr lvl="1"/>
            <a:endParaRPr kumimoji="0" lang="en-US" altLang="en-US" sz="2000">
              <a:latin typeface="Times New Roman" panose="02020603050405020304" pitchFamily="18" charset="0"/>
            </a:endParaRPr>
          </a:p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39686579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Cartesian Product</a:t>
            </a:r>
          </a:p>
        </p:txBody>
      </p:sp>
      <p:sp>
        <p:nvSpPr>
          <p:cNvPr id="4003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  <p:pic>
        <p:nvPicPr>
          <p:cNvPr id="400388" name="Picture 4" descr="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6506"/>
          <a:stretch>
            <a:fillRect/>
          </a:stretch>
        </p:blipFill>
        <p:spPr bwMode="auto">
          <a:xfrm>
            <a:off x="4721225" y="1155700"/>
            <a:ext cx="3890963" cy="1565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00390" name="Text Box 6"/>
          <p:cNvSpPr txBox="1">
            <a:spLocks noChangeArrowheads="1"/>
          </p:cNvSpPr>
          <p:nvPr/>
        </p:nvSpPr>
        <p:spPr bwMode="auto">
          <a:xfrm>
            <a:off x="2043113" y="671513"/>
            <a:ext cx="1227137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000" i="1"/>
              <a:t>instructor</a:t>
            </a:r>
          </a:p>
        </p:txBody>
      </p:sp>
      <p:sp>
        <p:nvSpPr>
          <p:cNvPr id="400391" name="Text Box 7"/>
          <p:cNvSpPr txBox="1">
            <a:spLocks noChangeArrowheads="1"/>
          </p:cNvSpPr>
          <p:nvPr/>
        </p:nvSpPr>
        <p:spPr bwMode="auto">
          <a:xfrm>
            <a:off x="6383338" y="714375"/>
            <a:ext cx="1073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000" i="1"/>
              <a:t>teaches</a:t>
            </a:r>
          </a:p>
        </p:txBody>
      </p:sp>
      <p:pic>
        <p:nvPicPr>
          <p:cNvPr id="400392" name="Picture 8" descr="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0357"/>
          <a:stretch>
            <a:fillRect/>
          </a:stretch>
        </p:blipFill>
        <p:spPr bwMode="auto">
          <a:xfrm>
            <a:off x="514350" y="1230313"/>
            <a:ext cx="3883025" cy="1447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0225" y="2825750"/>
            <a:ext cx="6000750" cy="348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064979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Joins</a:t>
            </a:r>
          </a:p>
        </p:txBody>
      </p:sp>
      <p:sp>
        <p:nvSpPr>
          <p:cNvPr id="4014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14388" y="1093788"/>
            <a:ext cx="7996237" cy="4979987"/>
          </a:xfrm>
        </p:spPr>
        <p:txBody>
          <a:bodyPr/>
          <a:lstStyle/>
          <a:p>
            <a:r>
              <a:rPr lang="en-US" altLang="en-US"/>
              <a:t>For all instructors who have taught some course, find their names and the course ID of the courses they taught.</a:t>
            </a:r>
            <a:endParaRPr kumimoji="0" lang="en-US" altLang="en-US"/>
          </a:p>
          <a:p>
            <a:pPr>
              <a:buFont typeface="Monotype Sorts" charset="2"/>
              <a:buNone/>
            </a:pPr>
            <a:r>
              <a:rPr lang="en-US" altLang="en-US" b="1"/>
              <a:t>		 select </a:t>
            </a:r>
            <a:r>
              <a:rPr lang="en-US" altLang="en-US" i="1"/>
              <a:t>name, course_id</a:t>
            </a:r>
            <a:br>
              <a:rPr lang="en-US" altLang="en-US" i="1"/>
            </a:br>
            <a:r>
              <a:rPr lang="en-US" altLang="en-US" i="1"/>
              <a:t>          </a:t>
            </a:r>
            <a:r>
              <a:rPr lang="en-US" altLang="en-US" b="1"/>
              <a:t>from </a:t>
            </a:r>
            <a:r>
              <a:rPr lang="en-US" altLang="en-US" i="1"/>
              <a:t>instructor, teaches</a:t>
            </a:r>
            <a:br>
              <a:rPr lang="en-US" altLang="en-US" i="1"/>
            </a:br>
            <a:r>
              <a:rPr lang="en-US" altLang="en-US" i="1"/>
              <a:t>          </a:t>
            </a:r>
            <a:r>
              <a:rPr lang="en-US" altLang="en-US" b="1"/>
              <a:t>where  </a:t>
            </a:r>
            <a:r>
              <a:rPr lang="en-US" altLang="en-US" b="1" i="1"/>
              <a:t> </a:t>
            </a:r>
            <a:r>
              <a:rPr lang="en-US" altLang="en-US" i="1"/>
              <a:t>instructor.ID = teaches.ID</a:t>
            </a:r>
          </a:p>
          <a:p>
            <a:r>
              <a:rPr lang="en-US" altLang="en-US"/>
              <a:t>Find the course ID, semester, year and title of each course offered by the Comp. Sci. department</a:t>
            </a:r>
          </a:p>
          <a:p>
            <a:pPr>
              <a:buFont typeface="Monotype Sorts" charset="2"/>
              <a:buNone/>
            </a:pPr>
            <a:r>
              <a:rPr lang="en-US" altLang="en-US" b="1"/>
              <a:t>		select </a:t>
            </a:r>
            <a:r>
              <a:rPr lang="en-US" altLang="en-US" i="1"/>
              <a:t>section.course_id, semester, year, title</a:t>
            </a:r>
            <a:br>
              <a:rPr lang="en-US" altLang="en-US" i="1"/>
            </a:br>
            <a:r>
              <a:rPr lang="en-US" altLang="en-US" i="1"/>
              <a:t>          </a:t>
            </a:r>
            <a:r>
              <a:rPr lang="en-US" altLang="en-US" b="1"/>
              <a:t>from </a:t>
            </a:r>
            <a:r>
              <a:rPr lang="en-US" altLang="en-US" i="1"/>
              <a:t>section, course</a:t>
            </a:r>
            <a:br>
              <a:rPr lang="en-US" altLang="en-US" i="1"/>
            </a:br>
            <a:r>
              <a:rPr lang="en-US" altLang="en-US" i="1"/>
              <a:t>          </a:t>
            </a:r>
            <a:r>
              <a:rPr lang="en-US" altLang="en-US" b="1"/>
              <a:t>where  </a:t>
            </a:r>
            <a:r>
              <a:rPr lang="en-US" altLang="en-US" b="1" i="1"/>
              <a:t> </a:t>
            </a:r>
            <a:r>
              <a:rPr lang="en-US" altLang="en-US" i="1"/>
              <a:t>section.course_id = course.course_id  </a:t>
            </a:r>
            <a:r>
              <a:rPr lang="en-US" altLang="en-US" b="1"/>
              <a:t>and</a:t>
            </a:r>
            <a:br>
              <a:rPr lang="en-US" altLang="en-US" b="1"/>
            </a:br>
            <a:r>
              <a:rPr lang="en-US" altLang="en-US" b="1"/>
              <a:t>                         </a:t>
            </a:r>
            <a:r>
              <a:rPr lang="en-US" altLang="en-US" i="1"/>
              <a:t>dept_name =</a:t>
            </a:r>
            <a:r>
              <a:rPr lang="en-US" altLang="en-US"/>
              <a:t> ‘Comp. Sci.' </a:t>
            </a:r>
          </a:p>
        </p:txBody>
      </p:sp>
    </p:spTree>
    <p:extLst>
      <p:ext uri="{BB962C8B-B14F-4D97-AF65-F5344CB8AC3E}">
        <p14:creationId xmlns:p14="http://schemas.microsoft.com/office/powerpoint/2010/main" val="34790972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Natural Join</a:t>
            </a:r>
          </a:p>
        </p:txBody>
      </p:sp>
      <p:sp>
        <p:nvSpPr>
          <p:cNvPr id="4034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Natural join matches tuples with the same values for all common attributes, and retains only one copy of each common column</a:t>
            </a:r>
          </a:p>
          <a:p>
            <a:r>
              <a:rPr lang="en-US" altLang="en-US" b="1"/>
              <a:t>select </a:t>
            </a:r>
            <a:r>
              <a:rPr lang="en-US" altLang="en-US" i="1"/>
              <a:t>*</a:t>
            </a:r>
            <a:br>
              <a:rPr lang="en-US" altLang="en-US" i="1"/>
            </a:br>
            <a:r>
              <a:rPr lang="en-US" altLang="en-US" b="1"/>
              <a:t>from </a:t>
            </a:r>
            <a:r>
              <a:rPr lang="en-US" altLang="en-US" i="1"/>
              <a:t>instructor </a:t>
            </a:r>
            <a:r>
              <a:rPr lang="en-US" altLang="en-US" b="1"/>
              <a:t>natural join </a:t>
            </a:r>
            <a:r>
              <a:rPr lang="en-US" altLang="en-US" i="1"/>
              <a:t>teaches</a:t>
            </a:r>
            <a:r>
              <a:rPr lang="en-US" altLang="en-US"/>
              <a:t>;</a:t>
            </a:r>
          </a:p>
          <a:p>
            <a:endParaRPr lang="en-US" altLang="en-US"/>
          </a:p>
          <a:p>
            <a:endParaRPr lang="en-US" altLang="en-US"/>
          </a:p>
        </p:txBody>
      </p:sp>
      <p:pic>
        <p:nvPicPr>
          <p:cNvPr id="403460" name="Picture 4" descr="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6213"/>
          <a:stretch>
            <a:fillRect/>
          </a:stretch>
        </p:blipFill>
        <p:spPr bwMode="auto">
          <a:xfrm>
            <a:off x="1249363" y="2727325"/>
            <a:ext cx="6570662" cy="301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641647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Natural Join (Cont.)</a:t>
            </a:r>
          </a:p>
        </p:txBody>
      </p:sp>
      <p:sp>
        <p:nvSpPr>
          <p:cNvPr id="4044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31825" y="1093788"/>
            <a:ext cx="8121650" cy="5132387"/>
          </a:xfrm>
        </p:spPr>
        <p:txBody>
          <a:bodyPr/>
          <a:lstStyle/>
          <a:p>
            <a:r>
              <a:rPr lang="en-US" altLang="en-US"/>
              <a:t>Danger in natural join: beware of unrelated attributes with same name which get equated incorrectly</a:t>
            </a:r>
          </a:p>
          <a:p>
            <a:r>
              <a:rPr lang="en-US" altLang="en-US"/>
              <a:t>List the names of instructors along with the the titles of courses that they teach </a:t>
            </a:r>
          </a:p>
          <a:p>
            <a:r>
              <a:rPr lang="en-US" altLang="en-US"/>
              <a:t>Incorrect version (equates course.dept_name with instructor.dept_name)</a:t>
            </a:r>
          </a:p>
          <a:p>
            <a:pPr lvl="1"/>
            <a:r>
              <a:rPr lang="en-US" altLang="en-US" b="1"/>
              <a:t>select </a:t>
            </a:r>
            <a:r>
              <a:rPr lang="en-US" altLang="en-US" i="1"/>
              <a:t>name</a:t>
            </a:r>
            <a:r>
              <a:rPr lang="en-US" altLang="en-US"/>
              <a:t>, </a:t>
            </a:r>
            <a:r>
              <a:rPr lang="en-US" altLang="en-US" i="1"/>
              <a:t>title</a:t>
            </a:r>
            <a:br>
              <a:rPr lang="en-US" altLang="en-US" i="1"/>
            </a:br>
            <a:r>
              <a:rPr lang="en-US" altLang="en-US" b="1"/>
              <a:t>from </a:t>
            </a:r>
            <a:r>
              <a:rPr lang="en-US" altLang="en-US" i="1"/>
              <a:t>instructor </a:t>
            </a:r>
            <a:r>
              <a:rPr lang="en-US" altLang="en-US" b="1"/>
              <a:t>natural join </a:t>
            </a:r>
            <a:r>
              <a:rPr lang="en-US" altLang="en-US" i="1"/>
              <a:t>teaches </a:t>
            </a:r>
            <a:r>
              <a:rPr lang="en-US" altLang="en-US" b="1"/>
              <a:t>natural join </a:t>
            </a:r>
            <a:r>
              <a:rPr lang="en-US" altLang="en-US" i="1"/>
              <a:t>course</a:t>
            </a:r>
            <a:r>
              <a:rPr lang="en-US" altLang="en-US"/>
              <a:t>;</a:t>
            </a:r>
          </a:p>
          <a:p>
            <a:r>
              <a:rPr lang="en-US" altLang="en-US"/>
              <a:t>Correct version</a:t>
            </a:r>
          </a:p>
          <a:p>
            <a:pPr lvl="1"/>
            <a:r>
              <a:rPr lang="en-US" altLang="en-US" b="1"/>
              <a:t>select </a:t>
            </a:r>
            <a:r>
              <a:rPr lang="en-US" altLang="en-US" i="1"/>
              <a:t>name</a:t>
            </a:r>
            <a:r>
              <a:rPr lang="en-US" altLang="en-US"/>
              <a:t>, </a:t>
            </a:r>
            <a:r>
              <a:rPr lang="en-US" altLang="en-US" i="1"/>
              <a:t>title</a:t>
            </a:r>
            <a:br>
              <a:rPr lang="en-US" altLang="en-US" i="1"/>
            </a:br>
            <a:r>
              <a:rPr lang="en-US" altLang="en-US" b="1"/>
              <a:t>from </a:t>
            </a:r>
            <a:r>
              <a:rPr lang="en-US" altLang="en-US" i="1"/>
              <a:t>instructor </a:t>
            </a:r>
            <a:r>
              <a:rPr lang="en-US" altLang="en-US" b="1"/>
              <a:t>natural join </a:t>
            </a:r>
            <a:r>
              <a:rPr lang="en-US" altLang="en-US" i="1"/>
              <a:t>teaches</a:t>
            </a:r>
            <a:r>
              <a:rPr lang="en-US" altLang="en-US"/>
              <a:t>, </a:t>
            </a:r>
            <a:r>
              <a:rPr lang="en-US" altLang="en-US" i="1"/>
              <a:t>course</a:t>
            </a:r>
            <a:br>
              <a:rPr lang="en-US" altLang="en-US" i="1"/>
            </a:br>
            <a:r>
              <a:rPr lang="en-US" altLang="en-US" b="1"/>
              <a:t>where </a:t>
            </a:r>
            <a:r>
              <a:rPr lang="en-US" altLang="en-US" i="1"/>
              <a:t>teaches</a:t>
            </a:r>
            <a:r>
              <a:rPr lang="en-US" altLang="en-US"/>
              <a:t>.</a:t>
            </a:r>
            <a:r>
              <a:rPr lang="en-US" altLang="en-US" i="1"/>
              <a:t>course_id</a:t>
            </a:r>
            <a:r>
              <a:rPr lang="en-US" altLang="en-US"/>
              <a:t>= </a:t>
            </a:r>
            <a:r>
              <a:rPr lang="en-US" altLang="en-US" i="1"/>
              <a:t>course</a:t>
            </a:r>
            <a:r>
              <a:rPr lang="en-US" altLang="en-US"/>
              <a:t>.</a:t>
            </a:r>
            <a:r>
              <a:rPr lang="en-US" altLang="en-US" i="1"/>
              <a:t>course_id</a:t>
            </a:r>
            <a:r>
              <a:rPr lang="en-US" altLang="en-US"/>
              <a:t>;</a:t>
            </a:r>
          </a:p>
          <a:p>
            <a:r>
              <a:rPr lang="en-US" altLang="en-US"/>
              <a:t>Another correct version</a:t>
            </a:r>
          </a:p>
          <a:p>
            <a:pPr lvl="1"/>
            <a:r>
              <a:rPr lang="en-US" altLang="en-US" b="1"/>
              <a:t>select </a:t>
            </a:r>
            <a:r>
              <a:rPr lang="en-US" altLang="en-US" i="1"/>
              <a:t>name</a:t>
            </a:r>
            <a:r>
              <a:rPr lang="en-US" altLang="en-US"/>
              <a:t>, </a:t>
            </a:r>
            <a:r>
              <a:rPr lang="en-US" altLang="en-US" i="1"/>
              <a:t>title</a:t>
            </a:r>
            <a:br>
              <a:rPr lang="en-US" altLang="en-US" i="1"/>
            </a:br>
            <a:r>
              <a:rPr lang="en-US" altLang="en-US" b="1"/>
              <a:t>from </a:t>
            </a:r>
            <a:r>
              <a:rPr lang="en-US" altLang="en-US"/>
              <a:t>(</a:t>
            </a:r>
            <a:r>
              <a:rPr lang="en-US" altLang="en-US" i="1"/>
              <a:t>instructor </a:t>
            </a:r>
            <a:r>
              <a:rPr lang="en-US" altLang="en-US" b="1"/>
              <a:t>natural join </a:t>
            </a:r>
            <a:r>
              <a:rPr lang="en-US" altLang="en-US" i="1"/>
              <a:t>teaches</a:t>
            </a:r>
            <a:r>
              <a:rPr lang="en-US" altLang="en-US"/>
              <a:t>) </a:t>
            </a:r>
            <a:r>
              <a:rPr lang="en-US" altLang="en-US" b="1"/>
              <a:t>join </a:t>
            </a:r>
            <a:r>
              <a:rPr lang="en-US" altLang="en-US" i="1"/>
              <a:t>course </a:t>
            </a:r>
            <a:r>
              <a:rPr lang="en-US" altLang="en-US" b="1"/>
              <a:t>using</a:t>
            </a:r>
            <a:r>
              <a:rPr lang="en-US" altLang="en-US"/>
              <a:t>(</a:t>
            </a:r>
            <a:r>
              <a:rPr lang="en-US" altLang="en-US" i="1"/>
              <a:t>course_id</a:t>
            </a:r>
            <a:r>
              <a:rPr lang="en-US" altLang="en-US"/>
              <a:t>);</a:t>
            </a:r>
          </a:p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680145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506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488" tIns="44450" rIns="90488" bIns="44450" anchor="ctr"/>
          <a:lstStyle/>
          <a:p>
            <a:r>
              <a:rPr lang="en-US" altLang="en-US"/>
              <a:t>The Rename Operation</a:t>
            </a:r>
          </a:p>
        </p:txBody>
      </p:sp>
      <p:sp>
        <p:nvSpPr>
          <p:cNvPr id="4055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19100" y="1106488"/>
            <a:ext cx="8435975" cy="5208587"/>
          </a:xfrm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pPr>
              <a:tabLst>
                <a:tab pos="2055813" algn="l"/>
              </a:tabLst>
            </a:pPr>
            <a:r>
              <a:rPr lang="en-US" altLang="en-US"/>
              <a:t>The SQL allows renaming relations and attributes using the </a:t>
            </a:r>
            <a:r>
              <a:rPr lang="en-US" altLang="en-US" b="1"/>
              <a:t>as </a:t>
            </a:r>
            <a:r>
              <a:rPr lang="en-US" altLang="en-US"/>
              <a:t>clause:</a:t>
            </a:r>
          </a:p>
          <a:p>
            <a:pPr>
              <a:buFont typeface="Monotype Sorts" charset="2"/>
              <a:buNone/>
              <a:tabLst>
                <a:tab pos="2055813" algn="l"/>
              </a:tabLst>
            </a:pPr>
            <a:r>
              <a:rPr lang="en-US" altLang="en-US" i="1"/>
              <a:t>		old-name </a:t>
            </a:r>
            <a:r>
              <a:rPr lang="en-US" altLang="en-US" b="1"/>
              <a:t>as</a:t>
            </a:r>
            <a:r>
              <a:rPr lang="en-US" altLang="en-US" i="1"/>
              <a:t> new-name</a:t>
            </a:r>
          </a:p>
          <a:p>
            <a:pPr>
              <a:tabLst>
                <a:tab pos="2055813" algn="l"/>
              </a:tabLst>
            </a:pPr>
            <a:r>
              <a:rPr lang="en-US" altLang="en-US"/>
              <a:t>E.g. </a:t>
            </a:r>
          </a:p>
          <a:p>
            <a:pPr lvl="1">
              <a:tabLst>
                <a:tab pos="2055813" algn="l"/>
              </a:tabLst>
            </a:pPr>
            <a:r>
              <a:rPr lang="en-US" altLang="en-US" b="1"/>
              <a:t>select </a:t>
            </a:r>
            <a:r>
              <a:rPr lang="en-US" altLang="en-US" i="1"/>
              <a:t>ID, name, salary/12 </a:t>
            </a:r>
            <a:r>
              <a:rPr lang="en-US" altLang="en-US" b="1"/>
              <a:t>as </a:t>
            </a:r>
            <a:r>
              <a:rPr lang="en-US" altLang="en-US" i="1"/>
              <a:t>monthly_salary</a:t>
            </a:r>
            <a:br>
              <a:rPr lang="en-US" altLang="en-US" i="1"/>
            </a:br>
            <a:r>
              <a:rPr lang="en-US" altLang="en-US" b="1"/>
              <a:t>from </a:t>
            </a:r>
            <a:r>
              <a:rPr lang="en-US" altLang="en-US" i="1"/>
              <a:t>instructor</a:t>
            </a:r>
            <a:r>
              <a:rPr lang="en-US" altLang="en-US"/>
              <a:t/>
            </a:r>
            <a:br>
              <a:rPr lang="en-US" altLang="en-US"/>
            </a:br>
            <a:endParaRPr lang="en-US" altLang="en-US"/>
          </a:p>
          <a:p>
            <a:pPr>
              <a:tabLst>
                <a:tab pos="2055813" algn="l"/>
              </a:tabLst>
            </a:pPr>
            <a:r>
              <a:rPr lang="en-US" altLang="en-US"/>
              <a:t>Find the names of all instructors who have a higher salary than </a:t>
            </a:r>
            <a:br>
              <a:rPr lang="en-US" altLang="en-US"/>
            </a:br>
            <a:r>
              <a:rPr lang="en-US" altLang="en-US"/>
              <a:t>      some instructor in ‘Comp. Sci’.</a:t>
            </a:r>
          </a:p>
          <a:p>
            <a:pPr lvl="1">
              <a:tabLst>
                <a:tab pos="2055813" algn="l"/>
              </a:tabLst>
            </a:pPr>
            <a:r>
              <a:rPr lang="en-US" altLang="en-US" b="1"/>
              <a:t>select distinct </a:t>
            </a:r>
            <a:r>
              <a:rPr lang="en-US" altLang="en-US" i="1"/>
              <a:t>T. name</a:t>
            </a:r>
            <a:br>
              <a:rPr lang="en-US" altLang="en-US" i="1"/>
            </a:br>
            <a:r>
              <a:rPr lang="en-US" altLang="en-US" b="1"/>
              <a:t>from </a:t>
            </a:r>
            <a:r>
              <a:rPr lang="en-US" altLang="en-US" i="1"/>
              <a:t>instructor </a:t>
            </a:r>
            <a:r>
              <a:rPr lang="en-US" altLang="en-US" b="1"/>
              <a:t>as </a:t>
            </a:r>
            <a:r>
              <a:rPr lang="en-US" altLang="en-US" i="1"/>
              <a:t>T, instructor </a:t>
            </a:r>
            <a:r>
              <a:rPr lang="en-US" altLang="en-US" b="1"/>
              <a:t>as </a:t>
            </a:r>
            <a:r>
              <a:rPr lang="en-US" altLang="en-US" i="1"/>
              <a:t>S</a:t>
            </a:r>
            <a:br>
              <a:rPr lang="en-US" altLang="en-US" i="1"/>
            </a:br>
            <a:r>
              <a:rPr lang="en-US" altLang="en-US" b="1"/>
              <a:t>where </a:t>
            </a:r>
            <a:r>
              <a:rPr lang="en-US" altLang="en-US" i="1"/>
              <a:t>T.salary &gt; S.salary </a:t>
            </a:r>
            <a:r>
              <a:rPr lang="en-US" altLang="en-US" b="1"/>
              <a:t>and </a:t>
            </a:r>
            <a:r>
              <a:rPr lang="en-US" altLang="en-US" i="1"/>
              <a:t>S.dept_name = ‘Comp. Sci.’</a:t>
            </a:r>
            <a:endParaRPr lang="en-US" altLang="en-US"/>
          </a:p>
          <a:p>
            <a:pPr>
              <a:tabLst>
                <a:tab pos="2055813" algn="l"/>
              </a:tabLst>
            </a:pPr>
            <a:r>
              <a:rPr lang="en-US" altLang="en-US"/>
              <a:t>Keyword </a:t>
            </a:r>
            <a:r>
              <a:rPr lang="en-US" altLang="en-US" b="1"/>
              <a:t>as</a:t>
            </a:r>
            <a:r>
              <a:rPr lang="en-US" altLang="en-US"/>
              <a:t> is optional and may be omitted</a:t>
            </a:r>
            <a:br>
              <a:rPr lang="en-US" altLang="en-US"/>
            </a:br>
            <a:r>
              <a:rPr lang="en-US" altLang="en-US"/>
              <a:t>              </a:t>
            </a:r>
            <a:r>
              <a:rPr lang="en-US" altLang="en-US" i="1"/>
              <a:t>instructor </a:t>
            </a:r>
            <a:r>
              <a:rPr lang="en-US" altLang="en-US" b="1"/>
              <a:t>as </a:t>
            </a:r>
            <a:r>
              <a:rPr lang="en-US" altLang="en-US" i="1"/>
              <a:t>T ≡ instructor</a:t>
            </a:r>
            <a:r>
              <a:rPr lang="en-US" altLang="en-US" b="1"/>
              <a:t> </a:t>
            </a:r>
            <a:r>
              <a:rPr lang="en-US" altLang="en-US" i="1"/>
              <a:t>T</a:t>
            </a: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86563786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794" name="Rectangle 2"/>
          <p:cNvSpPr>
            <a:spLocks noGrp="1" noChangeArrowheads="1"/>
          </p:cNvSpPr>
          <p:nvPr>
            <p:ph type="title"/>
          </p:nvPr>
        </p:nvSpPr>
        <p:spPr>
          <a:xfrm>
            <a:off x="552450" y="38100"/>
            <a:ext cx="8077200" cy="609600"/>
          </a:xfrm>
        </p:spPr>
        <p:txBody>
          <a:bodyPr/>
          <a:lstStyle/>
          <a:p>
            <a:r>
              <a:rPr lang="en-US" altLang="en-US"/>
              <a:t>Set Operations</a:t>
            </a:r>
          </a:p>
        </p:txBody>
      </p:sp>
      <p:sp>
        <p:nvSpPr>
          <p:cNvPr id="4177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14388" y="1108075"/>
            <a:ext cx="7661275" cy="511175"/>
          </a:xfrm>
        </p:spPr>
        <p:txBody>
          <a:bodyPr/>
          <a:lstStyle/>
          <a:p>
            <a:pPr>
              <a:tabLst>
                <a:tab pos="1481138" algn="l"/>
              </a:tabLst>
            </a:pPr>
            <a:r>
              <a:rPr lang="en-US" altLang="en-US"/>
              <a:t>Find courses that ran in Fall 2009 or in Spring 2010</a:t>
            </a:r>
          </a:p>
        </p:txBody>
      </p:sp>
      <p:sp>
        <p:nvSpPr>
          <p:cNvPr id="417796" name="Text Box 4"/>
          <p:cNvSpPr txBox="1">
            <a:spLocks noChangeArrowheads="1"/>
          </p:cNvSpPr>
          <p:nvPr/>
        </p:nvSpPr>
        <p:spPr bwMode="auto">
          <a:xfrm>
            <a:off x="742950" y="4222750"/>
            <a:ext cx="5580063" cy="339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90000"/>
              </a:lnSpc>
              <a:spcBef>
                <a:spcPct val="35000"/>
              </a:spcBef>
              <a:buClr>
                <a:schemeClr val="tx2"/>
              </a:buClr>
              <a:buSzPct val="90000"/>
              <a:buFont typeface="Monotype Sorts" charset="2"/>
              <a:buChar char="n"/>
            </a:pPr>
            <a:r>
              <a:rPr kumimoji="1" lang="en-US" altLang="en-US" sz="1800"/>
              <a:t>  </a:t>
            </a:r>
            <a:r>
              <a:rPr kumimoji="1" lang="en-US" altLang="en-US"/>
              <a:t> Find courses that ran in Fall 2009 but not in Spring 2010</a:t>
            </a:r>
          </a:p>
        </p:txBody>
      </p:sp>
      <p:sp>
        <p:nvSpPr>
          <p:cNvPr id="417797" name="Text Box 5"/>
          <p:cNvSpPr txBox="1">
            <a:spLocks noChangeArrowheads="1"/>
          </p:cNvSpPr>
          <p:nvPr/>
        </p:nvSpPr>
        <p:spPr bwMode="auto">
          <a:xfrm>
            <a:off x="1141413" y="1560513"/>
            <a:ext cx="7540625" cy="915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35000"/>
              </a:spcBef>
              <a:buClr>
                <a:schemeClr val="tx2"/>
              </a:buClr>
              <a:buSzPct val="90000"/>
              <a:buFont typeface="Monotype Sorts" charset="2"/>
              <a:buNone/>
            </a:pPr>
            <a:r>
              <a:rPr kumimoji="1" lang="en-US" altLang="en-US" sz="1800"/>
              <a:t>(</a:t>
            </a:r>
            <a:r>
              <a:rPr kumimoji="1" lang="en-US" altLang="en-US" sz="1800" b="1"/>
              <a:t>select</a:t>
            </a:r>
            <a:r>
              <a:rPr kumimoji="1" lang="en-US" altLang="en-US" sz="1800"/>
              <a:t> </a:t>
            </a:r>
            <a:r>
              <a:rPr kumimoji="1" lang="en-US" altLang="en-US" sz="1800" i="1"/>
              <a:t>course_id </a:t>
            </a:r>
            <a:r>
              <a:rPr kumimoji="1" lang="en-US" altLang="en-US" sz="1800" b="1"/>
              <a:t>from </a:t>
            </a:r>
            <a:r>
              <a:rPr kumimoji="1" lang="en-US" altLang="en-US" sz="1800" i="1"/>
              <a:t>section </a:t>
            </a:r>
            <a:r>
              <a:rPr kumimoji="1" lang="en-US" altLang="en-US" sz="1800" b="1"/>
              <a:t>where </a:t>
            </a:r>
            <a:r>
              <a:rPr kumimoji="1" lang="en-US" altLang="en-US" sz="1800" i="1"/>
              <a:t>sem = </a:t>
            </a:r>
            <a:r>
              <a:rPr kumimoji="1" lang="en-US" altLang="en-US" sz="1800"/>
              <a:t>‘Fall’ </a:t>
            </a:r>
            <a:r>
              <a:rPr kumimoji="1" lang="en-US" altLang="en-US" sz="1800" b="1"/>
              <a:t>and </a:t>
            </a:r>
            <a:r>
              <a:rPr kumimoji="1" lang="en-US" altLang="en-US" sz="1800" i="1"/>
              <a:t>year = </a:t>
            </a:r>
            <a:r>
              <a:rPr kumimoji="1" lang="en-US" altLang="en-US" sz="1800"/>
              <a:t>2009)</a:t>
            </a:r>
            <a:br>
              <a:rPr kumimoji="1" lang="en-US" altLang="en-US" sz="1800"/>
            </a:br>
            <a:r>
              <a:rPr kumimoji="1" lang="en-US" altLang="en-US" sz="1800"/>
              <a:t> </a:t>
            </a:r>
            <a:r>
              <a:rPr kumimoji="1" lang="en-US" altLang="en-US" sz="1800" b="1"/>
              <a:t>union</a:t>
            </a:r>
            <a:br>
              <a:rPr kumimoji="1" lang="en-US" altLang="en-US" sz="1800" b="1"/>
            </a:br>
            <a:r>
              <a:rPr kumimoji="1" lang="en-US" altLang="en-US" sz="1800"/>
              <a:t>(</a:t>
            </a:r>
            <a:r>
              <a:rPr kumimoji="1" lang="en-US" altLang="en-US" sz="1800" b="1"/>
              <a:t>select</a:t>
            </a:r>
            <a:r>
              <a:rPr kumimoji="1" lang="en-US" altLang="en-US" sz="1800"/>
              <a:t> </a:t>
            </a:r>
            <a:r>
              <a:rPr kumimoji="1" lang="en-US" altLang="en-US" sz="1800" i="1"/>
              <a:t>course_id </a:t>
            </a:r>
            <a:r>
              <a:rPr kumimoji="1" lang="en-US" altLang="en-US" sz="1800" b="1"/>
              <a:t>from </a:t>
            </a:r>
            <a:r>
              <a:rPr kumimoji="1" lang="en-US" altLang="en-US" sz="1800" i="1"/>
              <a:t>section </a:t>
            </a:r>
            <a:r>
              <a:rPr kumimoji="1" lang="en-US" altLang="en-US" sz="1800" b="1"/>
              <a:t>where </a:t>
            </a:r>
            <a:r>
              <a:rPr kumimoji="1" lang="en-US" altLang="en-US" sz="1800" i="1"/>
              <a:t>sem = </a:t>
            </a:r>
            <a:r>
              <a:rPr kumimoji="1" lang="en-US" altLang="en-US" sz="1800"/>
              <a:t>‘Spring’ </a:t>
            </a:r>
            <a:r>
              <a:rPr kumimoji="1" lang="en-US" altLang="en-US" sz="1800" b="1"/>
              <a:t>and </a:t>
            </a:r>
            <a:r>
              <a:rPr kumimoji="1" lang="en-US" altLang="en-US" sz="1800" i="1"/>
              <a:t>year = </a:t>
            </a:r>
            <a:r>
              <a:rPr kumimoji="1" lang="en-US" altLang="en-US" sz="1800"/>
              <a:t>2010)</a:t>
            </a:r>
          </a:p>
        </p:txBody>
      </p:sp>
      <p:sp>
        <p:nvSpPr>
          <p:cNvPr id="417798" name="Text Box 6"/>
          <p:cNvSpPr txBox="1">
            <a:spLocks noChangeArrowheads="1"/>
          </p:cNvSpPr>
          <p:nvPr/>
        </p:nvSpPr>
        <p:spPr bwMode="auto">
          <a:xfrm>
            <a:off x="742950" y="2678113"/>
            <a:ext cx="52387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35000"/>
              </a:spcBef>
              <a:buClr>
                <a:schemeClr val="tx2"/>
              </a:buClr>
              <a:buSzPct val="90000"/>
              <a:buFont typeface="Monotype Sorts" charset="2"/>
              <a:buChar char="n"/>
            </a:pPr>
            <a:r>
              <a:rPr kumimoji="1" lang="en-US" altLang="en-US" sz="1800"/>
              <a:t>  </a:t>
            </a:r>
            <a:r>
              <a:rPr kumimoji="1" lang="en-US" altLang="en-US"/>
              <a:t>Find courses that ran in Fall 2009 and in Spring 2010</a:t>
            </a:r>
          </a:p>
        </p:txBody>
      </p:sp>
      <p:sp>
        <p:nvSpPr>
          <p:cNvPr id="417799" name="Text Box 7"/>
          <p:cNvSpPr txBox="1">
            <a:spLocks noChangeArrowheads="1"/>
          </p:cNvSpPr>
          <p:nvPr/>
        </p:nvSpPr>
        <p:spPr bwMode="auto">
          <a:xfrm>
            <a:off x="1198563" y="3094038"/>
            <a:ext cx="7540625" cy="915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35000"/>
              </a:spcBef>
              <a:buClr>
                <a:schemeClr val="tx2"/>
              </a:buClr>
              <a:buSzPct val="90000"/>
              <a:buFont typeface="Monotype Sorts" charset="2"/>
              <a:buNone/>
            </a:pPr>
            <a:r>
              <a:rPr kumimoji="1" lang="en-US" altLang="en-US" sz="1800"/>
              <a:t>(</a:t>
            </a:r>
            <a:r>
              <a:rPr kumimoji="1" lang="en-US" altLang="en-US" sz="1800" b="1"/>
              <a:t>select</a:t>
            </a:r>
            <a:r>
              <a:rPr kumimoji="1" lang="en-US" altLang="en-US" sz="1800"/>
              <a:t> </a:t>
            </a:r>
            <a:r>
              <a:rPr kumimoji="1" lang="en-US" altLang="en-US" sz="1800" i="1"/>
              <a:t>course_id </a:t>
            </a:r>
            <a:r>
              <a:rPr kumimoji="1" lang="en-US" altLang="en-US" sz="1800" b="1"/>
              <a:t>from </a:t>
            </a:r>
            <a:r>
              <a:rPr kumimoji="1" lang="en-US" altLang="en-US" sz="1800" i="1"/>
              <a:t>section </a:t>
            </a:r>
            <a:r>
              <a:rPr kumimoji="1" lang="en-US" altLang="en-US" sz="1800" b="1"/>
              <a:t>where </a:t>
            </a:r>
            <a:r>
              <a:rPr kumimoji="1" lang="en-US" altLang="en-US" sz="1800" i="1"/>
              <a:t>sem = </a:t>
            </a:r>
            <a:r>
              <a:rPr kumimoji="1" lang="en-US" altLang="en-US" sz="1800"/>
              <a:t>‘Fall’ </a:t>
            </a:r>
            <a:r>
              <a:rPr kumimoji="1" lang="en-US" altLang="en-US" sz="1800" b="1"/>
              <a:t>and </a:t>
            </a:r>
            <a:r>
              <a:rPr kumimoji="1" lang="en-US" altLang="en-US" sz="1800" i="1"/>
              <a:t>year = </a:t>
            </a:r>
            <a:r>
              <a:rPr kumimoji="1" lang="en-US" altLang="en-US" sz="1800"/>
              <a:t>2009)</a:t>
            </a:r>
            <a:br>
              <a:rPr kumimoji="1" lang="en-US" altLang="en-US" sz="1800"/>
            </a:br>
            <a:r>
              <a:rPr kumimoji="1" lang="en-US" altLang="en-US" sz="1800"/>
              <a:t> </a:t>
            </a:r>
            <a:r>
              <a:rPr kumimoji="1" lang="en-US" altLang="en-US" sz="1800" b="1"/>
              <a:t>intersect</a:t>
            </a:r>
            <a:br>
              <a:rPr kumimoji="1" lang="en-US" altLang="en-US" sz="1800" b="1"/>
            </a:br>
            <a:r>
              <a:rPr kumimoji="1" lang="en-US" altLang="en-US" sz="1800"/>
              <a:t>(</a:t>
            </a:r>
            <a:r>
              <a:rPr kumimoji="1" lang="en-US" altLang="en-US" sz="1800" b="1"/>
              <a:t>select</a:t>
            </a:r>
            <a:r>
              <a:rPr kumimoji="1" lang="en-US" altLang="en-US" sz="1800"/>
              <a:t> </a:t>
            </a:r>
            <a:r>
              <a:rPr kumimoji="1" lang="en-US" altLang="en-US" sz="1800" i="1"/>
              <a:t>course_id </a:t>
            </a:r>
            <a:r>
              <a:rPr kumimoji="1" lang="en-US" altLang="en-US" sz="1800" b="1"/>
              <a:t>from </a:t>
            </a:r>
            <a:r>
              <a:rPr kumimoji="1" lang="en-US" altLang="en-US" sz="1800" i="1"/>
              <a:t>section </a:t>
            </a:r>
            <a:r>
              <a:rPr kumimoji="1" lang="en-US" altLang="en-US" sz="1800" b="1"/>
              <a:t>where </a:t>
            </a:r>
            <a:r>
              <a:rPr kumimoji="1" lang="en-US" altLang="en-US" sz="1800" i="1"/>
              <a:t>sem = </a:t>
            </a:r>
            <a:r>
              <a:rPr kumimoji="1" lang="en-US" altLang="en-US" sz="1800"/>
              <a:t>‘Spring’ </a:t>
            </a:r>
            <a:r>
              <a:rPr kumimoji="1" lang="en-US" altLang="en-US" sz="1800" b="1"/>
              <a:t>and </a:t>
            </a:r>
            <a:r>
              <a:rPr kumimoji="1" lang="en-US" altLang="en-US" sz="1800" i="1"/>
              <a:t>year = </a:t>
            </a:r>
            <a:r>
              <a:rPr kumimoji="1" lang="en-US" altLang="en-US" sz="1800"/>
              <a:t>2010)</a:t>
            </a:r>
          </a:p>
        </p:txBody>
      </p:sp>
      <p:sp>
        <p:nvSpPr>
          <p:cNvPr id="417800" name="Text Box 8"/>
          <p:cNvSpPr txBox="1">
            <a:spLocks noChangeArrowheads="1"/>
          </p:cNvSpPr>
          <p:nvPr/>
        </p:nvSpPr>
        <p:spPr bwMode="auto">
          <a:xfrm>
            <a:off x="1271588" y="4754563"/>
            <a:ext cx="7540625" cy="915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35000"/>
              </a:spcBef>
              <a:buClr>
                <a:schemeClr val="tx2"/>
              </a:buClr>
              <a:buSzPct val="90000"/>
              <a:buFont typeface="Monotype Sorts" charset="2"/>
              <a:buNone/>
            </a:pPr>
            <a:r>
              <a:rPr kumimoji="1" lang="en-US" altLang="en-US" sz="1800"/>
              <a:t>(</a:t>
            </a:r>
            <a:r>
              <a:rPr kumimoji="1" lang="en-US" altLang="en-US" sz="1800" b="1"/>
              <a:t>select</a:t>
            </a:r>
            <a:r>
              <a:rPr kumimoji="1" lang="en-US" altLang="en-US" sz="1800"/>
              <a:t> </a:t>
            </a:r>
            <a:r>
              <a:rPr kumimoji="1" lang="en-US" altLang="en-US" sz="1800" i="1"/>
              <a:t>course_id </a:t>
            </a:r>
            <a:r>
              <a:rPr kumimoji="1" lang="en-US" altLang="en-US" sz="1800" b="1"/>
              <a:t>from </a:t>
            </a:r>
            <a:r>
              <a:rPr kumimoji="1" lang="en-US" altLang="en-US" sz="1800" i="1"/>
              <a:t>section </a:t>
            </a:r>
            <a:r>
              <a:rPr kumimoji="1" lang="en-US" altLang="en-US" sz="1800" b="1"/>
              <a:t>where </a:t>
            </a:r>
            <a:r>
              <a:rPr kumimoji="1" lang="en-US" altLang="en-US" sz="1800" i="1"/>
              <a:t>sem = </a:t>
            </a:r>
            <a:r>
              <a:rPr kumimoji="1" lang="en-US" altLang="en-US" sz="1800"/>
              <a:t>‘Fall’ </a:t>
            </a:r>
            <a:r>
              <a:rPr kumimoji="1" lang="en-US" altLang="en-US" sz="1800" b="1"/>
              <a:t>and </a:t>
            </a:r>
            <a:r>
              <a:rPr kumimoji="1" lang="en-US" altLang="en-US" sz="1800" i="1"/>
              <a:t>year = </a:t>
            </a:r>
            <a:r>
              <a:rPr kumimoji="1" lang="en-US" altLang="en-US" sz="1800"/>
              <a:t>2009)</a:t>
            </a:r>
            <a:br>
              <a:rPr kumimoji="1" lang="en-US" altLang="en-US" sz="1800"/>
            </a:br>
            <a:r>
              <a:rPr kumimoji="1" lang="en-US" altLang="en-US" sz="1800"/>
              <a:t> </a:t>
            </a:r>
            <a:r>
              <a:rPr kumimoji="1" lang="en-US" altLang="en-US" sz="1800" b="1"/>
              <a:t>except</a:t>
            </a:r>
            <a:br>
              <a:rPr kumimoji="1" lang="en-US" altLang="en-US" sz="1800" b="1"/>
            </a:br>
            <a:r>
              <a:rPr kumimoji="1" lang="en-US" altLang="en-US" sz="1800"/>
              <a:t>(</a:t>
            </a:r>
            <a:r>
              <a:rPr kumimoji="1" lang="en-US" altLang="en-US" sz="1800" b="1"/>
              <a:t>select</a:t>
            </a:r>
            <a:r>
              <a:rPr kumimoji="1" lang="en-US" altLang="en-US" sz="1800"/>
              <a:t> </a:t>
            </a:r>
            <a:r>
              <a:rPr kumimoji="1" lang="en-US" altLang="en-US" sz="1800" i="1"/>
              <a:t>course_id </a:t>
            </a:r>
            <a:r>
              <a:rPr kumimoji="1" lang="en-US" altLang="en-US" sz="1800" b="1"/>
              <a:t>from </a:t>
            </a:r>
            <a:r>
              <a:rPr kumimoji="1" lang="en-US" altLang="en-US" sz="1800" i="1"/>
              <a:t>section </a:t>
            </a:r>
            <a:r>
              <a:rPr kumimoji="1" lang="en-US" altLang="en-US" sz="1800" b="1"/>
              <a:t>where </a:t>
            </a:r>
            <a:r>
              <a:rPr kumimoji="1" lang="en-US" altLang="en-US" sz="1800" i="1"/>
              <a:t>sem = </a:t>
            </a:r>
            <a:r>
              <a:rPr kumimoji="1" lang="en-US" altLang="en-US" sz="1800"/>
              <a:t>‘Spring’ </a:t>
            </a:r>
            <a:r>
              <a:rPr kumimoji="1" lang="en-US" altLang="en-US" sz="1800" b="1"/>
              <a:t>and </a:t>
            </a:r>
            <a:r>
              <a:rPr kumimoji="1" lang="en-US" altLang="en-US" sz="1800" i="1"/>
              <a:t>year = </a:t>
            </a:r>
            <a:r>
              <a:rPr kumimoji="1" lang="en-US" altLang="en-US" sz="1800"/>
              <a:t>2010)</a:t>
            </a:r>
          </a:p>
        </p:txBody>
      </p:sp>
    </p:spTree>
    <p:extLst>
      <p:ext uri="{BB962C8B-B14F-4D97-AF65-F5344CB8AC3E}">
        <p14:creationId xmlns:p14="http://schemas.microsoft.com/office/powerpoint/2010/main" val="35620526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7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7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7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7797" grpId="0" autoUpdateAnimBg="0"/>
      <p:bldP spid="417799" grpId="0" autoUpdateAnimBg="0"/>
      <p:bldP spid="417800" grpId="0" autoUpdateAnimBg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Set Operations</a:t>
            </a:r>
          </a:p>
        </p:txBody>
      </p:sp>
      <p:sp>
        <p:nvSpPr>
          <p:cNvPr id="4198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09625" y="1095375"/>
            <a:ext cx="7661275" cy="4903788"/>
          </a:xfrm>
        </p:spPr>
        <p:txBody>
          <a:bodyPr/>
          <a:lstStyle/>
          <a:p>
            <a:r>
              <a:rPr lang="en-US" altLang="en-US"/>
              <a:t>Set operations </a:t>
            </a:r>
            <a:r>
              <a:rPr lang="en-US" altLang="en-US" b="1">
                <a:solidFill>
                  <a:srgbClr val="000099"/>
                </a:solidFill>
              </a:rPr>
              <a:t>union</a:t>
            </a:r>
            <a:r>
              <a:rPr lang="en-US" altLang="en-US" b="1"/>
              <a:t>, </a:t>
            </a:r>
            <a:r>
              <a:rPr lang="en-US" altLang="en-US" b="1">
                <a:solidFill>
                  <a:srgbClr val="000099"/>
                </a:solidFill>
              </a:rPr>
              <a:t>intersect</a:t>
            </a:r>
            <a:r>
              <a:rPr lang="en-US" altLang="en-US" b="1"/>
              <a:t>, </a:t>
            </a:r>
            <a:r>
              <a:rPr lang="en-US" altLang="en-US"/>
              <a:t>and </a:t>
            </a:r>
            <a:r>
              <a:rPr lang="en-US" altLang="en-US" b="1">
                <a:solidFill>
                  <a:srgbClr val="000099"/>
                </a:solidFill>
              </a:rPr>
              <a:t>except</a:t>
            </a:r>
            <a:r>
              <a:rPr lang="en-US" altLang="en-US" b="1"/>
              <a:t> </a:t>
            </a:r>
          </a:p>
          <a:p>
            <a:pPr lvl="1"/>
            <a:r>
              <a:rPr lang="en-US" altLang="en-US">
                <a:sym typeface="Symbol" panose="05050102010706020507" pitchFamily="18" charset="2"/>
              </a:rPr>
              <a:t>Each of the above operations automatically eliminates duplicates</a:t>
            </a:r>
          </a:p>
          <a:p>
            <a:r>
              <a:rPr lang="en-US" altLang="en-US">
                <a:sym typeface="Symbol" panose="05050102010706020507" pitchFamily="18" charset="2"/>
              </a:rPr>
              <a:t>To retain all duplicates use the corresponding multiset versions </a:t>
            </a:r>
            <a:r>
              <a:rPr lang="en-US" altLang="en-US" b="1">
                <a:solidFill>
                  <a:srgbClr val="000099"/>
                </a:solidFill>
                <a:sym typeface="Symbol" panose="05050102010706020507" pitchFamily="18" charset="2"/>
              </a:rPr>
              <a:t>union all, intersect all</a:t>
            </a:r>
            <a:r>
              <a:rPr lang="en-US" altLang="en-US" b="1">
                <a:sym typeface="Symbol" panose="05050102010706020507" pitchFamily="18" charset="2"/>
              </a:rPr>
              <a:t> </a:t>
            </a:r>
            <a:r>
              <a:rPr lang="en-US" altLang="en-US">
                <a:sym typeface="Symbol" panose="05050102010706020507" pitchFamily="18" charset="2"/>
              </a:rPr>
              <a:t>and </a:t>
            </a:r>
            <a:r>
              <a:rPr lang="en-US" altLang="en-US" b="1">
                <a:solidFill>
                  <a:srgbClr val="000099"/>
                </a:solidFill>
                <a:sym typeface="Symbol" panose="05050102010706020507" pitchFamily="18" charset="2"/>
              </a:rPr>
              <a:t>except all</a:t>
            </a:r>
            <a:r>
              <a:rPr lang="en-US" altLang="en-US" b="1">
                <a:sym typeface="Symbol" panose="05050102010706020507" pitchFamily="18" charset="2"/>
              </a:rPr>
              <a:t>.</a:t>
            </a:r>
            <a:br>
              <a:rPr lang="en-US" altLang="en-US" b="1">
                <a:sym typeface="Symbol" panose="05050102010706020507" pitchFamily="18" charset="2"/>
              </a:rPr>
            </a:br>
            <a:r>
              <a:rPr lang="en-US" altLang="en-US">
                <a:sym typeface="Symbol" panose="05050102010706020507" pitchFamily="18" charset="2"/>
              </a:rPr>
              <a:t/>
            </a:r>
            <a:br>
              <a:rPr lang="en-US" altLang="en-US">
                <a:sym typeface="Symbol" panose="05050102010706020507" pitchFamily="18" charset="2"/>
              </a:rPr>
            </a:br>
            <a:r>
              <a:rPr lang="en-US" altLang="en-US">
                <a:sym typeface="Symbol" panose="05050102010706020507" pitchFamily="18" charset="2"/>
              </a:rPr>
              <a:t>Suppose a tuple occurs </a:t>
            </a:r>
            <a:r>
              <a:rPr lang="en-US" altLang="en-US" i="1">
                <a:sym typeface="Symbol" panose="05050102010706020507" pitchFamily="18" charset="2"/>
              </a:rPr>
              <a:t>m</a:t>
            </a:r>
            <a:r>
              <a:rPr lang="en-US" altLang="en-US">
                <a:sym typeface="Symbol" panose="05050102010706020507" pitchFamily="18" charset="2"/>
              </a:rPr>
              <a:t> times in </a:t>
            </a:r>
            <a:r>
              <a:rPr lang="en-US" altLang="en-US" i="1">
                <a:sym typeface="Symbol" panose="05050102010706020507" pitchFamily="18" charset="2"/>
              </a:rPr>
              <a:t>r</a:t>
            </a:r>
            <a:r>
              <a:rPr lang="en-US" altLang="en-US">
                <a:sym typeface="Symbol" panose="05050102010706020507" pitchFamily="18" charset="2"/>
              </a:rPr>
              <a:t> and </a:t>
            </a:r>
            <a:r>
              <a:rPr lang="en-US" altLang="en-US" i="1">
                <a:sym typeface="Symbol" panose="05050102010706020507" pitchFamily="18" charset="2"/>
              </a:rPr>
              <a:t>n </a:t>
            </a:r>
            <a:r>
              <a:rPr lang="en-US" altLang="en-US">
                <a:sym typeface="Symbol" panose="05050102010706020507" pitchFamily="18" charset="2"/>
              </a:rPr>
              <a:t>times in </a:t>
            </a:r>
            <a:r>
              <a:rPr lang="en-US" altLang="en-US" i="1">
                <a:sym typeface="Symbol" panose="05050102010706020507" pitchFamily="18" charset="2"/>
              </a:rPr>
              <a:t>s, </a:t>
            </a:r>
            <a:r>
              <a:rPr lang="en-US" altLang="en-US">
                <a:sym typeface="Symbol" panose="05050102010706020507" pitchFamily="18" charset="2"/>
              </a:rPr>
              <a:t>then, it occurs:</a:t>
            </a:r>
          </a:p>
          <a:p>
            <a:pPr lvl="1"/>
            <a:r>
              <a:rPr lang="en-US" altLang="en-US" i="1"/>
              <a:t>m </a:t>
            </a:r>
            <a:r>
              <a:rPr lang="en-US" altLang="en-US" i="1" baseline="-25000"/>
              <a:t> </a:t>
            </a:r>
            <a:r>
              <a:rPr lang="en-US" altLang="en-US" i="1"/>
              <a:t>+ n </a:t>
            </a:r>
            <a:r>
              <a:rPr lang="en-US" altLang="en-US"/>
              <a:t>times in </a:t>
            </a:r>
            <a:r>
              <a:rPr lang="en-US" altLang="en-US" i="1"/>
              <a:t>r </a:t>
            </a:r>
            <a:r>
              <a:rPr lang="en-US" altLang="en-US" b="1"/>
              <a:t>union all </a:t>
            </a:r>
            <a:r>
              <a:rPr lang="en-US" altLang="en-US" i="1"/>
              <a:t>s</a:t>
            </a:r>
          </a:p>
          <a:p>
            <a:pPr lvl="1"/>
            <a:r>
              <a:rPr lang="en-US" altLang="en-US"/>
              <a:t>min(</a:t>
            </a:r>
            <a:r>
              <a:rPr lang="en-US" altLang="en-US" i="1"/>
              <a:t>m,n)</a:t>
            </a:r>
            <a:r>
              <a:rPr lang="en-US" altLang="en-US"/>
              <a:t> times in </a:t>
            </a:r>
            <a:r>
              <a:rPr lang="en-US" altLang="en-US" i="1"/>
              <a:t>r</a:t>
            </a:r>
            <a:r>
              <a:rPr lang="en-US" altLang="en-US"/>
              <a:t> </a:t>
            </a:r>
            <a:r>
              <a:rPr lang="en-US" altLang="en-US" b="1"/>
              <a:t>intersect all </a:t>
            </a:r>
            <a:r>
              <a:rPr lang="en-US" altLang="en-US" i="1"/>
              <a:t>s</a:t>
            </a:r>
          </a:p>
          <a:p>
            <a:pPr lvl="1"/>
            <a:r>
              <a:rPr lang="en-US" altLang="en-US"/>
              <a:t>max(0, </a:t>
            </a:r>
            <a:r>
              <a:rPr lang="en-US" altLang="en-US" i="1"/>
              <a:t>m – n)</a:t>
            </a:r>
            <a:r>
              <a:rPr lang="en-US" altLang="en-US"/>
              <a:t> times in </a:t>
            </a:r>
            <a:r>
              <a:rPr lang="en-US" altLang="en-US" i="1"/>
              <a:t>r</a:t>
            </a:r>
            <a:r>
              <a:rPr lang="en-US" altLang="en-US"/>
              <a:t> </a:t>
            </a:r>
            <a:r>
              <a:rPr lang="en-US" altLang="en-US" b="1"/>
              <a:t>except all </a:t>
            </a:r>
            <a:r>
              <a:rPr lang="en-US" altLang="en-US" i="1"/>
              <a:t>s</a:t>
            </a: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943656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8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Null Values</a:t>
            </a:r>
          </a:p>
        </p:txBody>
      </p:sp>
      <p:sp>
        <p:nvSpPr>
          <p:cNvPr id="4218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39775" y="1106488"/>
            <a:ext cx="7689850" cy="5156200"/>
          </a:xfrm>
        </p:spPr>
        <p:txBody>
          <a:bodyPr/>
          <a:lstStyle/>
          <a:p>
            <a:r>
              <a:rPr lang="en-US" altLang="en-US"/>
              <a:t>It is possible for tuples to have a null value, denoted by </a:t>
            </a:r>
            <a:r>
              <a:rPr lang="en-US" altLang="en-US" i="1"/>
              <a:t>null</a:t>
            </a:r>
            <a:r>
              <a:rPr lang="en-US" altLang="en-US"/>
              <a:t>, for some of their attributes</a:t>
            </a:r>
          </a:p>
          <a:p>
            <a:r>
              <a:rPr lang="en-US" altLang="en-US" i="1"/>
              <a:t>null</a:t>
            </a:r>
            <a:r>
              <a:rPr lang="en-US" altLang="en-US"/>
              <a:t> signifies an unknown value or that a value does not exist.</a:t>
            </a:r>
          </a:p>
          <a:p>
            <a:r>
              <a:rPr lang="en-US" altLang="en-US"/>
              <a:t>The result of any arithmetic expression involving </a:t>
            </a:r>
            <a:r>
              <a:rPr lang="en-US" altLang="en-US" i="1"/>
              <a:t>null</a:t>
            </a:r>
            <a:r>
              <a:rPr lang="en-US" altLang="en-US"/>
              <a:t> is </a:t>
            </a:r>
            <a:r>
              <a:rPr lang="en-US" altLang="en-US" i="1"/>
              <a:t>null</a:t>
            </a:r>
          </a:p>
          <a:p>
            <a:pPr lvl="1"/>
            <a:r>
              <a:rPr lang="en-US" altLang="en-US"/>
              <a:t>Example:  5 + </a:t>
            </a:r>
            <a:r>
              <a:rPr lang="en-US" altLang="en-US" i="1"/>
              <a:t>null</a:t>
            </a:r>
            <a:r>
              <a:rPr lang="en-US" altLang="en-US"/>
              <a:t>  returns null</a:t>
            </a:r>
          </a:p>
          <a:p>
            <a:r>
              <a:rPr lang="en-US" altLang="en-US"/>
              <a:t>The predicate  </a:t>
            </a:r>
            <a:r>
              <a:rPr lang="en-US" altLang="en-US" b="1"/>
              <a:t>is null</a:t>
            </a:r>
            <a:r>
              <a:rPr lang="en-US" altLang="en-US"/>
              <a:t> can be used to check for null values.</a:t>
            </a:r>
          </a:p>
          <a:p>
            <a:pPr lvl="1"/>
            <a:r>
              <a:rPr lang="en-US" altLang="en-US"/>
              <a:t>Example: Find all instructors whose salary is null</a:t>
            </a:r>
            <a:r>
              <a:rPr lang="en-US" altLang="en-US" i="1"/>
              <a:t>.</a:t>
            </a:r>
          </a:p>
          <a:p>
            <a:pPr>
              <a:buFont typeface="Monotype Sorts" charset="2"/>
              <a:buNone/>
            </a:pPr>
            <a:r>
              <a:rPr lang="en-US" altLang="en-US" b="1"/>
              <a:t>		select</a:t>
            </a:r>
            <a:r>
              <a:rPr lang="en-US" altLang="en-US" i="1"/>
              <a:t> name</a:t>
            </a:r>
            <a:br>
              <a:rPr lang="en-US" altLang="en-US" i="1"/>
            </a:br>
            <a:r>
              <a:rPr lang="en-US" altLang="en-US" i="1"/>
              <a:t>	</a:t>
            </a:r>
            <a:r>
              <a:rPr lang="en-US" altLang="en-US" b="1"/>
              <a:t>from</a:t>
            </a:r>
            <a:r>
              <a:rPr lang="en-US" altLang="en-US" i="1"/>
              <a:t> instructor</a:t>
            </a:r>
            <a:br>
              <a:rPr lang="en-US" altLang="en-US" i="1"/>
            </a:br>
            <a:r>
              <a:rPr lang="en-US" altLang="en-US" i="1"/>
              <a:t>	</a:t>
            </a:r>
            <a:r>
              <a:rPr lang="en-US" altLang="en-US" b="1"/>
              <a:t>where </a:t>
            </a:r>
            <a:r>
              <a:rPr lang="en-US" altLang="en-US" i="1"/>
              <a:t>salary </a:t>
            </a:r>
            <a:r>
              <a:rPr lang="en-US" altLang="en-US" b="1"/>
              <a:t>is null</a:t>
            </a:r>
            <a:endParaRPr lang="en-US" altLang="en-US"/>
          </a:p>
          <a:p>
            <a:pPr lvl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857466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938" name="Rectangle 2"/>
          <p:cNvSpPr>
            <a:spLocks noGrp="1" noChangeArrowheads="1"/>
          </p:cNvSpPr>
          <p:nvPr>
            <p:ph type="title"/>
          </p:nvPr>
        </p:nvSpPr>
        <p:spPr>
          <a:xfrm>
            <a:off x="871538" y="57150"/>
            <a:ext cx="8077200" cy="609600"/>
          </a:xfrm>
        </p:spPr>
        <p:txBody>
          <a:bodyPr/>
          <a:lstStyle/>
          <a:p>
            <a:r>
              <a:rPr lang="en-US" altLang="en-US"/>
              <a:t>Null Values and Three Valued Logic</a:t>
            </a:r>
          </a:p>
        </p:txBody>
      </p:sp>
      <p:sp>
        <p:nvSpPr>
          <p:cNvPr id="4239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39775" y="1106488"/>
            <a:ext cx="7661275" cy="4903787"/>
          </a:xfrm>
        </p:spPr>
        <p:txBody>
          <a:bodyPr/>
          <a:lstStyle/>
          <a:p>
            <a:r>
              <a:rPr lang="en-US" altLang="en-US"/>
              <a:t>Any comparison with </a:t>
            </a:r>
            <a:r>
              <a:rPr lang="en-US" altLang="en-US" i="1"/>
              <a:t>null</a:t>
            </a:r>
            <a:r>
              <a:rPr lang="en-US" altLang="en-US"/>
              <a:t> returns </a:t>
            </a:r>
            <a:r>
              <a:rPr lang="en-US" altLang="en-US" i="1"/>
              <a:t>unknown</a:t>
            </a:r>
          </a:p>
          <a:p>
            <a:pPr lvl="1"/>
            <a:r>
              <a:rPr lang="en-US" altLang="en-US"/>
              <a:t>Example</a:t>
            </a:r>
            <a:r>
              <a:rPr lang="en-US" altLang="en-US" i="1"/>
              <a:t>: 5 &lt; null   or   null &lt;&gt; null    or    null = null</a:t>
            </a:r>
          </a:p>
          <a:p>
            <a:r>
              <a:rPr lang="en-US" altLang="en-US"/>
              <a:t>Three-valued logic using the truth value </a:t>
            </a:r>
            <a:r>
              <a:rPr lang="en-US" altLang="en-US" i="1"/>
              <a:t>unknown</a:t>
            </a:r>
            <a:r>
              <a:rPr lang="en-US" altLang="en-US"/>
              <a:t>:</a:t>
            </a:r>
          </a:p>
          <a:p>
            <a:pPr lvl="1"/>
            <a:r>
              <a:rPr lang="en-US" altLang="en-US"/>
              <a:t>OR: (</a:t>
            </a:r>
            <a:r>
              <a:rPr lang="en-US" altLang="en-US" i="1"/>
              <a:t>unknown</a:t>
            </a:r>
            <a:r>
              <a:rPr lang="en-US" altLang="en-US"/>
              <a:t> </a:t>
            </a:r>
            <a:r>
              <a:rPr lang="en-US" altLang="en-US" b="1"/>
              <a:t>or</a:t>
            </a:r>
            <a:r>
              <a:rPr lang="en-US" altLang="en-US"/>
              <a:t> </a:t>
            </a:r>
            <a:r>
              <a:rPr lang="en-US" altLang="en-US" i="1"/>
              <a:t>true</a:t>
            </a:r>
            <a:r>
              <a:rPr lang="en-US" altLang="en-US"/>
              <a:t>)   = </a:t>
            </a:r>
            <a:r>
              <a:rPr lang="en-US" altLang="en-US" i="1"/>
              <a:t>true</a:t>
            </a:r>
            <a:r>
              <a:rPr lang="en-US" altLang="en-US"/>
              <a:t>,</a:t>
            </a:r>
            <a:br>
              <a:rPr lang="en-US" altLang="en-US"/>
            </a:br>
            <a:r>
              <a:rPr lang="en-US" altLang="en-US"/>
              <a:t>       (</a:t>
            </a:r>
            <a:r>
              <a:rPr lang="en-US" altLang="en-US" i="1"/>
              <a:t>unknown</a:t>
            </a:r>
            <a:r>
              <a:rPr lang="en-US" altLang="en-US"/>
              <a:t> </a:t>
            </a:r>
            <a:r>
              <a:rPr lang="en-US" altLang="en-US" b="1"/>
              <a:t>or</a:t>
            </a:r>
            <a:r>
              <a:rPr lang="en-US" altLang="en-US"/>
              <a:t> </a:t>
            </a:r>
            <a:r>
              <a:rPr lang="en-US" altLang="en-US" i="1"/>
              <a:t>false</a:t>
            </a:r>
            <a:r>
              <a:rPr lang="en-US" altLang="en-US"/>
              <a:t>)  = </a:t>
            </a:r>
            <a:r>
              <a:rPr lang="en-US" altLang="en-US" i="1"/>
              <a:t>unknown</a:t>
            </a:r>
            <a:r>
              <a:rPr lang="en-US" altLang="en-US"/>
              <a:t/>
            </a:r>
            <a:br>
              <a:rPr lang="en-US" altLang="en-US"/>
            </a:br>
            <a:r>
              <a:rPr lang="en-US" altLang="en-US"/>
              <a:t>       (</a:t>
            </a:r>
            <a:r>
              <a:rPr lang="en-US" altLang="en-US" i="1"/>
              <a:t>unknown </a:t>
            </a:r>
            <a:r>
              <a:rPr lang="en-US" altLang="en-US" b="1"/>
              <a:t>or</a:t>
            </a:r>
            <a:r>
              <a:rPr lang="en-US" altLang="en-US" i="1"/>
              <a:t> unknown) = unknown</a:t>
            </a:r>
          </a:p>
          <a:p>
            <a:pPr lvl="1"/>
            <a:r>
              <a:rPr lang="en-US" altLang="en-US"/>
              <a:t>AND:</a:t>
            </a:r>
            <a:r>
              <a:rPr lang="en-US" altLang="en-US" i="1"/>
              <a:t> (true</a:t>
            </a:r>
            <a:r>
              <a:rPr lang="en-US" altLang="en-US" b="1"/>
              <a:t> and </a:t>
            </a:r>
            <a:r>
              <a:rPr lang="en-US" altLang="en-US" i="1"/>
              <a:t>unknown)  = unknown,    </a:t>
            </a:r>
            <a:br>
              <a:rPr lang="en-US" altLang="en-US" i="1"/>
            </a:br>
            <a:r>
              <a:rPr lang="en-US" altLang="en-US" i="1"/>
              <a:t>         (false</a:t>
            </a:r>
            <a:r>
              <a:rPr lang="en-US" altLang="en-US" b="1"/>
              <a:t> and </a:t>
            </a:r>
            <a:r>
              <a:rPr lang="en-US" altLang="en-US" i="1"/>
              <a:t>unknown) = false,</a:t>
            </a:r>
            <a:br>
              <a:rPr lang="en-US" altLang="en-US" i="1"/>
            </a:br>
            <a:r>
              <a:rPr lang="en-US" altLang="en-US" i="1"/>
              <a:t>         (unknown </a:t>
            </a:r>
            <a:r>
              <a:rPr lang="en-US" altLang="en-US" b="1"/>
              <a:t>and</a:t>
            </a:r>
            <a:r>
              <a:rPr lang="en-US" altLang="en-US" i="1"/>
              <a:t> unknown) = unknown</a:t>
            </a:r>
          </a:p>
          <a:p>
            <a:pPr lvl="1"/>
            <a:r>
              <a:rPr lang="en-US" altLang="en-US"/>
              <a:t>NOT</a:t>
            </a:r>
            <a:r>
              <a:rPr lang="en-US" altLang="en-US" i="1"/>
              <a:t>:  (</a:t>
            </a:r>
            <a:r>
              <a:rPr lang="en-US" altLang="en-US" b="1"/>
              <a:t>not</a:t>
            </a:r>
            <a:r>
              <a:rPr lang="en-US" altLang="en-US" i="1"/>
              <a:t> unknown) = unknown</a:t>
            </a:r>
          </a:p>
          <a:p>
            <a:pPr lvl="1"/>
            <a:r>
              <a:rPr lang="en-US" altLang="en-US"/>
              <a:t>“</a:t>
            </a:r>
            <a:r>
              <a:rPr lang="en-US" altLang="en-US" i="1"/>
              <a:t>P</a:t>
            </a:r>
            <a:r>
              <a:rPr lang="en-US" altLang="en-US" b="1"/>
              <a:t> is unknown</a:t>
            </a:r>
            <a:r>
              <a:rPr lang="en-US" altLang="en-US"/>
              <a:t>”</a:t>
            </a:r>
            <a:r>
              <a:rPr lang="en-US" altLang="en-US" b="1"/>
              <a:t> </a:t>
            </a:r>
            <a:r>
              <a:rPr lang="en-US" altLang="en-US"/>
              <a:t>evaluates to true if predicate </a:t>
            </a:r>
            <a:r>
              <a:rPr lang="en-US" altLang="en-US" i="1"/>
              <a:t>P</a:t>
            </a:r>
            <a:r>
              <a:rPr lang="en-US" altLang="en-US"/>
              <a:t> evaluates to </a:t>
            </a:r>
            <a:r>
              <a:rPr lang="en-US" altLang="en-US" i="1"/>
              <a:t>unknown</a:t>
            </a:r>
          </a:p>
          <a:p>
            <a:r>
              <a:rPr lang="en-US" altLang="en-US"/>
              <a:t>Result of </a:t>
            </a:r>
            <a:r>
              <a:rPr lang="en-US" altLang="en-US" b="1"/>
              <a:t>where </a:t>
            </a:r>
            <a:r>
              <a:rPr lang="en-US" altLang="en-US"/>
              <a:t>clause predicate is treated as </a:t>
            </a:r>
            <a:r>
              <a:rPr lang="en-US" altLang="en-US" i="1"/>
              <a:t>false </a:t>
            </a:r>
            <a:r>
              <a:rPr lang="en-US" altLang="en-US"/>
              <a:t>if it evaluates to </a:t>
            </a:r>
            <a:r>
              <a:rPr lang="en-US" altLang="en-US" i="1"/>
              <a:t>unknown</a:t>
            </a: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899788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2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Nested Subqueries</a:t>
            </a:r>
          </a:p>
        </p:txBody>
      </p:sp>
      <p:sp>
        <p:nvSpPr>
          <p:cNvPr id="4372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39775" y="1106488"/>
            <a:ext cx="7848600" cy="4876800"/>
          </a:xfrm>
        </p:spPr>
        <p:txBody>
          <a:bodyPr/>
          <a:lstStyle/>
          <a:p>
            <a:r>
              <a:rPr lang="en-US" altLang="en-US"/>
              <a:t>SQL provides a mechanism for the nesting of subqueries.</a:t>
            </a:r>
          </a:p>
          <a:p>
            <a:r>
              <a:rPr lang="en-US" altLang="en-US"/>
              <a:t>A </a:t>
            </a:r>
            <a:r>
              <a:rPr lang="en-US" altLang="en-US" b="1">
                <a:solidFill>
                  <a:srgbClr val="000099"/>
                </a:solidFill>
              </a:rPr>
              <a:t>subquery</a:t>
            </a:r>
            <a:r>
              <a:rPr lang="en-US" altLang="en-US"/>
              <a:t> is a </a:t>
            </a:r>
            <a:r>
              <a:rPr lang="en-US" altLang="en-US" b="1"/>
              <a:t>select-from-where</a:t>
            </a:r>
            <a:r>
              <a:rPr lang="en-US" altLang="en-US"/>
              <a:t> expression that is nested within another query.</a:t>
            </a:r>
          </a:p>
          <a:p>
            <a:r>
              <a:rPr lang="en-US" altLang="en-US"/>
              <a:t>A common use of subqueries is to perform tests for set membership, set comparisons, and set cardinality.</a:t>
            </a:r>
          </a:p>
        </p:txBody>
      </p:sp>
    </p:spTree>
    <p:extLst>
      <p:ext uri="{BB962C8B-B14F-4D97-AF65-F5344CB8AC3E}">
        <p14:creationId xmlns:p14="http://schemas.microsoft.com/office/powerpoint/2010/main" val="23189966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2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Example Query</a:t>
            </a:r>
          </a:p>
        </p:txBody>
      </p:sp>
      <p:sp>
        <p:nvSpPr>
          <p:cNvPr id="4392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11213" y="1109663"/>
            <a:ext cx="7661275" cy="917575"/>
          </a:xfrm>
        </p:spPr>
        <p:txBody>
          <a:bodyPr/>
          <a:lstStyle/>
          <a:p>
            <a:pPr>
              <a:tabLst>
                <a:tab pos="1027113" algn="l"/>
              </a:tabLst>
            </a:pPr>
            <a:r>
              <a:rPr lang="en-US" altLang="en-US"/>
              <a:t>Find courses offered in Fall 2009 and in Spring 2010</a:t>
            </a:r>
          </a:p>
        </p:txBody>
      </p:sp>
      <p:sp>
        <p:nvSpPr>
          <p:cNvPr id="439300" name="Text Box 4"/>
          <p:cNvSpPr txBox="1">
            <a:spLocks noChangeArrowheads="1"/>
          </p:cNvSpPr>
          <p:nvPr/>
        </p:nvSpPr>
        <p:spPr bwMode="auto">
          <a:xfrm>
            <a:off x="758825" y="3595688"/>
            <a:ext cx="7688263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35000"/>
              </a:spcBef>
              <a:buClr>
                <a:schemeClr val="tx2"/>
              </a:buClr>
              <a:buSzPct val="90000"/>
              <a:buFont typeface="Monotype Sorts" charset="2"/>
              <a:buChar char="n"/>
            </a:pPr>
            <a:r>
              <a:rPr kumimoji="1" lang="en-US" altLang="en-US" sz="1800"/>
              <a:t>   Find courses offered in Fall 2009 but not in Spring 2010</a:t>
            </a:r>
            <a:endParaRPr lang="en-US" altLang="en-US" sz="1800">
              <a:latin typeface="Times New Roman" panose="02020603050405020304" pitchFamily="18" charset="0"/>
            </a:endParaRPr>
          </a:p>
        </p:txBody>
      </p:sp>
      <p:sp>
        <p:nvSpPr>
          <p:cNvPr id="439301" name="Text Box 5"/>
          <p:cNvSpPr txBox="1">
            <a:spLocks noChangeArrowheads="1"/>
          </p:cNvSpPr>
          <p:nvPr/>
        </p:nvSpPr>
        <p:spPr bwMode="auto">
          <a:xfrm>
            <a:off x="1849438" y="1698625"/>
            <a:ext cx="6216650" cy="1558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 b="1"/>
              <a:t>select distinct </a:t>
            </a:r>
            <a:r>
              <a:rPr lang="en-US" altLang="en-US" i="1"/>
              <a:t>course_id</a:t>
            </a:r>
          </a:p>
          <a:p>
            <a:r>
              <a:rPr lang="en-US" altLang="en-US" b="1"/>
              <a:t>from </a:t>
            </a:r>
            <a:r>
              <a:rPr lang="en-US" altLang="en-US" i="1"/>
              <a:t>section</a:t>
            </a:r>
          </a:p>
          <a:p>
            <a:r>
              <a:rPr lang="en-US" altLang="en-US" b="1"/>
              <a:t>where </a:t>
            </a:r>
            <a:r>
              <a:rPr lang="en-US" altLang="en-US" i="1"/>
              <a:t>semester </a:t>
            </a:r>
            <a:r>
              <a:rPr lang="en-US" altLang="en-US"/>
              <a:t>= ’Fall’ </a:t>
            </a:r>
            <a:r>
              <a:rPr lang="en-US" altLang="en-US" b="1"/>
              <a:t>and </a:t>
            </a:r>
            <a:r>
              <a:rPr lang="en-US" altLang="en-US" i="1"/>
              <a:t>year</a:t>
            </a:r>
            <a:r>
              <a:rPr lang="en-US" altLang="en-US"/>
              <a:t>= 2009 </a:t>
            </a:r>
            <a:r>
              <a:rPr lang="en-US" altLang="en-US" b="1"/>
              <a:t>and </a:t>
            </a:r>
            <a:br>
              <a:rPr lang="en-US" altLang="en-US" b="1"/>
            </a:br>
            <a:r>
              <a:rPr lang="en-US" altLang="en-US" b="1"/>
              <a:t>           </a:t>
            </a:r>
            <a:r>
              <a:rPr lang="en-US" altLang="en-US" i="1"/>
              <a:t>course_id </a:t>
            </a:r>
            <a:r>
              <a:rPr lang="en-US" altLang="en-US" b="1"/>
              <a:t>in </a:t>
            </a:r>
            <a:r>
              <a:rPr lang="en-US" altLang="en-US"/>
              <a:t>(</a:t>
            </a:r>
            <a:r>
              <a:rPr lang="en-US" altLang="en-US" b="1"/>
              <a:t>select </a:t>
            </a:r>
            <a:r>
              <a:rPr lang="en-US" altLang="en-US" i="1"/>
              <a:t>course_id</a:t>
            </a:r>
          </a:p>
          <a:p>
            <a:r>
              <a:rPr lang="en-US" altLang="en-US" b="1"/>
              <a:t>                                 from </a:t>
            </a:r>
            <a:r>
              <a:rPr lang="en-US" altLang="en-US" i="1"/>
              <a:t>section</a:t>
            </a:r>
          </a:p>
          <a:p>
            <a:r>
              <a:rPr lang="en-US" altLang="en-US" b="1"/>
              <a:t>                                 where </a:t>
            </a:r>
            <a:r>
              <a:rPr lang="en-US" altLang="en-US" i="1"/>
              <a:t>semester </a:t>
            </a:r>
            <a:r>
              <a:rPr lang="en-US" altLang="en-US"/>
              <a:t>= ’Spring’ </a:t>
            </a:r>
            <a:r>
              <a:rPr lang="en-US" altLang="en-US" b="1"/>
              <a:t>and </a:t>
            </a:r>
            <a:r>
              <a:rPr lang="en-US" altLang="en-US" i="1"/>
              <a:t>year</a:t>
            </a:r>
            <a:r>
              <a:rPr lang="en-US" altLang="en-US"/>
              <a:t>= 2010);</a:t>
            </a:r>
          </a:p>
        </p:txBody>
      </p:sp>
      <p:sp>
        <p:nvSpPr>
          <p:cNvPr id="439302" name="Text Box 6"/>
          <p:cNvSpPr txBox="1">
            <a:spLocks noChangeArrowheads="1"/>
          </p:cNvSpPr>
          <p:nvPr/>
        </p:nvSpPr>
        <p:spPr bwMode="auto">
          <a:xfrm>
            <a:off x="1925638" y="4225925"/>
            <a:ext cx="6216650" cy="1558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 b="1"/>
              <a:t>select distinct </a:t>
            </a:r>
            <a:r>
              <a:rPr lang="en-US" altLang="en-US" i="1"/>
              <a:t>course_id</a:t>
            </a:r>
          </a:p>
          <a:p>
            <a:r>
              <a:rPr lang="en-US" altLang="en-US" b="1"/>
              <a:t>from </a:t>
            </a:r>
            <a:r>
              <a:rPr lang="en-US" altLang="en-US" i="1"/>
              <a:t>section</a:t>
            </a:r>
          </a:p>
          <a:p>
            <a:r>
              <a:rPr lang="en-US" altLang="en-US" b="1"/>
              <a:t>where </a:t>
            </a:r>
            <a:r>
              <a:rPr lang="en-US" altLang="en-US" i="1"/>
              <a:t>semester </a:t>
            </a:r>
            <a:r>
              <a:rPr lang="en-US" altLang="en-US"/>
              <a:t>= ’Fall’ </a:t>
            </a:r>
            <a:r>
              <a:rPr lang="en-US" altLang="en-US" b="1"/>
              <a:t>and </a:t>
            </a:r>
            <a:r>
              <a:rPr lang="en-US" altLang="en-US" i="1"/>
              <a:t>year</a:t>
            </a:r>
            <a:r>
              <a:rPr lang="en-US" altLang="en-US"/>
              <a:t>= 2009 </a:t>
            </a:r>
            <a:r>
              <a:rPr lang="en-US" altLang="en-US" b="1"/>
              <a:t>and </a:t>
            </a:r>
            <a:br>
              <a:rPr lang="en-US" altLang="en-US" b="1"/>
            </a:br>
            <a:r>
              <a:rPr lang="en-US" altLang="en-US" b="1"/>
              <a:t>           </a:t>
            </a:r>
            <a:r>
              <a:rPr lang="en-US" altLang="en-US" i="1"/>
              <a:t>course_id  </a:t>
            </a:r>
            <a:r>
              <a:rPr lang="en-US" altLang="en-US" b="1"/>
              <a:t>not in </a:t>
            </a:r>
            <a:r>
              <a:rPr lang="en-US" altLang="en-US"/>
              <a:t>(</a:t>
            </a:r>
            <a:r>
              <a:rPr lang="en-US" altLang="en-US" b="1"/>
              <a:t>select </a:t>
            </a:r>
            <a:r>
              <a:rPr lang="en-US" altLang="en-US" i="1"/>
              <a:t>course_id</a:t>
            </a:r>
          </a:p>
          <a:p>
            <a:r>
              <a:rPr lang="en-US" altLang="en-US" b="1"/>
              <a:t>                                 from </a:t>
            </a:r>
            <a:r>
              <a:rPr lang="en-US" altLang="en-US" i="1"/>
              <a:t>section</a:t>
            </a:r>
          </a:p>
          <a:p>
            <a:r>
              <a:rPr lang="en-US" altLang="en-US" b="1"/>
              <a:t>                                 where </a:t>
            </a:r>
            <a:r>
              <a:rPr lang="en-US" altLang="en-US" i="1"/>
              <a:t>semester </a:t>
            </a:r>
            <a:r>
              <a:rPr lang="en-US" altLang="en-US"/>
              <a:t>= ’Spring’ </a:t>
            </a:r>
            <a:r>
              <a:rPr lang="en-US" altLang="en-US" b="1"/>
              <a:t>and </a:t>
            </a:r>
            <a:r>
              <a:rPr lang="en-US" altLang="en-US" i="1"/>
              <a:t>year</a:t>
            </a:r>
            <a:r>
              <a:rPr lang="en-US" altLang="en-US"/>
              <a:t>= 2010);</a:t>
            </a:r>
          </a:p>
        </p:txBody>
      </p:sp>
    </p:spTree>
    <p:extLst>
      <p:ext uri="{BB962C8B-B14F-4D97-AF65-F5344CB8AC3E}">
        <p14:creationId xmlns:p14="http://schemas.microsoft.com/office/powerpoint/2010/main" val="42107514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9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9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9301" grpId="0" autoUpdateAnimBg="0"/>
      <p:bldP spid="439302" grpId="0" autoUpdateAnimBg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3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Example Query</a:t>
            </a:r>
          </a:p>
        </p:txBody>
      </p:sp>
      <p:sp>
        <p:nvSpPr>
          <p:cNvPr id="4413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39775" y="1106488"/>
            <a:ext cx="7661275" cy="760412"/>
          </a:xfrm>
        </p:spPr>
        <p:txBody>
          <a:bodyPr/>
          <a:lstStyle/>
          <a:p>
            <a:pPr defTabSz="915988">
              <a:tabLst>
                <a:tab pos="684213" algn="l"/>
                <a:tab pos="1250950" algn="l"/>
              </a:tabLst>
            </a:pPr>
            <a:r>
              <a:rPr lang="en-US" altLang="en-US"/>
              <a:t>Find the total number of (distinct) studentswho have taken course sections taught by the instructor with </a:t>
            </a:r>
            <a:r>
              <a:rPr lang="en-US" altLang="en-US" i="1"/>
              <a:t>ID </a:t>
            </a:r>
            <a:r>
              <a:rPr lang="en-US" altLang="en-US"/>
              <a:t>10101</a:t>
            </a:r>
          </a:p>
          <a:p>
            <a:pPr defTabSz="915988">
              <a:tabLst>
                <a:tab pos="684213" algn="l"/>
                <a:tab pos="1250950" algn="l"/>
              </a:tabLst>
            </a:pPr>
            <a:endParaRPr lang="en-US" altLang="en-US" i="1"/>
          </a:p>
        </p:txBody>
      </p:sp>
      <p:sp>
        <p:nvSpPr>
          <p:cNvPr id="441348" name="Text Box 4"/>
          <p:cNvSpPr txBox="1">
            <a:spLocks noChangeArrowheads="1"/>
          </p:cNvSpPr>
          <p:nvPr/>
        </p:nvSpPr>
        <p:spPr bwMode="auto">
          <a:xfrm>
            <a:off x="742950" y="4610100"/>
            <a:ext cx="8056563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35000"/>
              </a:spcBef>
              <a:buClr>
                <a:schemeClr val="tx2"/>
              </a:buClr>
              <a:buSzPct val="90000"/>
              <a:buFont typeface="Monotype Sorts" charset="2"/>
              <a:buChar char="n"/>
            </a:pPr>
            <a:r>
              <a:rPr kumimoji="1" lang="en-US" altLang="en-US" sz="1800">
                <a:solidFill>
                  <a:schemeClr val="tx2"/>
                </a:solidFill>
              </a:rPr>
              <a:t>  Note</a:t>
            </a:r>
            <a:r>
              <a:rPr kumimoji="1" lang="en-US" altLang="en-US" sz="1800"/>
              <a:t>: Above query can be written in a much simpler manner.  The </a:t>
            </a:r>
            <a:br>
              <a:rPr kumimoji="1" lang="en-US" altLang="en-US" sz="1800"/>
            </a:br>
            <a:r>
              <a:rPr kumimoji="1" lang="en-US" altLang="en-US" sz="1800"/>
              <a:t>               formulation above is simply to illustrate SQL features.</a:t>
            </a:r>
          </a:p>
        </p:txBody>
      </p:sp>
      <p:sp>
        <p:nvSpPr>
          <p:cNvPr id="441349" name="Text Box 5"/>
          <p:cNvSpPr txBox="1">
            <a:spLocks noChangeArrowheads="1"/>
          </p:cNvSpPr>
          <p:nvPr/>
        </p:nvSpPr>
        <p:spPr bwMode="auto">
          <a:xfrm>
            <a:off x="1787525" y="2449513"/>
            <a:ext cx="5749925" cy="1558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b="1"/>
              <a:t>select count </a:t>
            </a:r>
            <a:r>
              <a:rPr lang="en-US" altLang="en-US"/>
              <a:t>(</a:t>
            </a:r>
            <a:r>
              <a:rPr lang="en-US" altLang="en-US" b="1"/>
              <a:t>distinct </a:t>
            </a:r>
            <a:r>
              <a:rPr lang="en-US" altLang="en-US" i="1"/>
              <a:t>ID</a:t>
            </a:r>
            <a:r>
              <a:rPr lang="en-US" altLang="en-US"/>
              <a:t>)</a:t>
            </a:r>
          </a:p>
          <a:p>
            <a:r>
              <a:rPr lang="en-US" altLang="en-US" b="1"/>
              <a:t>from </a:t>
            </a:r>
            <a:r>
              <a:rPr lang="en-US" altLang="en-US" i="1"/>
              <a:t>takes</a:t>
            </a:r>
          </a:p>
          <a:p>
            <a:r>
              <a:rPr lang="en-US" altLang="en-US" b="1"/>
              <a:t>where </a:t>
            </a:r>
            <a:r>
              <a:rPr lang="en-US" altLang="en-US"/>
              <a:t>(</a:t>
            </a:r>
            <a:r>
              <a:rPr lang="en-US" altLang="en-US" i="1"/>
              <a:t>course_id</a:t>
            </a:r>
            <a:r>
              <a:rPr lang="en-US" altLang="en-US"/>
              <a:t>, </a:t>
            </a:r>
            <a:r>
              <a:rPr lang="en-US" altLang="en-US" i="1"/>
              <a:t>sec_id</a:t>
            </a:r>
            <a:r>
              <a:rPr lang="en-US" altLang="en-US"/>
              <a:t>, </a:t>
            </a:r>
            <a:r>
              <a:rPr lang="en-US" altLang="en-US" i="1"/>
              <a:t>semester</a:t>
            </a:r>
            <a:r>
              <a:rPr lang="en-US" altLang="en-US"/>
              <a:t>, </a:t>
            </a:r>
            <a:r>
              <a:rPr lang="en-US" altLang="en-US" i="1"/>
              <a:t>year</a:t>
            </a:r>
            <a:r>
              <a:rPr lang="en-US" altLang="en-US"/>
              <a:t>) </a:t>
            </a:r>
            <a:r>
              <a:rPr lang="en-US" altLang="en-US" b="1"/>
              <a:t>in </a:t>
            </a:r>
            <a:br>
              <a:rPr lang="en-US" altLang="en-US" b="1"/>
            </a:br>
            <a:r>
              <a:rPr lang="en-US" altLang="en-US" b="1"/>
              <a:t>                                </a:t>
            </a:r>
            <a:r>
              <a:rPr lang="en-US" altLang="en-US"/>
              <a:t>(</a:t>
            </a:r>
            <a:r>
              <a:rPr lang="en-US" altLang="en-US" b="1"/>
              <a:t>select </a:t>
            </a:r>
            <a:r>
              <a:rPr lang="en-US" altLang="en-US" i="1"/>
              <a:t>course_id</a:t>
            </a:r>
            <a:r>
              <a:rPr lang="en-US" altLang="en-US"/>
              <a:t>, </a:t>
            </a:r>
            <a:r>
              <a:rPr lang="en-US" altLang="en-US" i="1"/>
              <a:t>sec_id</a:t>
            </a:r>
            <a:r>
              <a:rPr lang="en-US" altLang="en-US"/>
              <a:t>, </a:t>
            </a:r>
            <a:r>
              <a:rPr lang="en-US" altLang="en-US" i="1"/>
              <a:t>semester</a:t>
            </a:r>
            <a:r>
              <a:rPr lang="en-US" altLang="en-US"/>
              <a:t>, </a:t>
            </a:r>
            <a:r>
              <a:rPr lang="en-US" altLang="en-US" i="1"/>
              <a:t>year</a:t>
            </a:r>
          </a:p>
          <a:p>
            <a:r>
              <a:rPr lang="en-US" altLang="en-US" b="1"/>
              <a:t>                                 from </a:t>
            </a:r>
            <a:r>
              <a:rPr lang="en-US" altLang="en-US" i="1"/>
              <a:t>teaches</a:t>
            </a:r>
          </a:p>
          <a:p>
            <a:r>
              <a:rPr lang="en-US" altLang="en-US" b="1"/>
              <a:t>                                 where </a:t>
            </a:r>
            <a:r>
              <a:rPr lang="en-US" altLang="en-US" i="1"/>
              <a:t>teaches</a:t>
            </a:r>
            <a:r>
              <a:rPr lang="en-US" altLang="en-US"/>
              <a:t>.</a:t>
            </a:r>
            <a:r>
              <a:rPr lang="en-US" altLang="en-US" i="1"/>
              <a:t>ID</a:t>
            </a:r>
            <a:r>
              <a:rPr lang="en-US" altLang="en-US"/>
              <a:t>= 10101);</a:t>
            </a:r>
          </a:p>
        </p:txBody>
      </p:sp>
    </p:spTree>
    <p:extLst>
      <p:ext uri="{BB962C8B-B14F-4D97-AF65-F5344CB8AC3E}">
        <p14:creationId xmlns:p14="http://schemas.microsoft.com/office/powerpoint/2010/main" val="7921831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1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1349" grpId="0" autoUpdateAnimBg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9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Aggregate Functions</a:t>
            </a:r>
          </a:p>
        </p:txBody>
      </p:sp>
      <p:sp>
        <p:nvSpPr>
          <p:cNvPr id="4259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14388" y="1093788"/>
            <a:ext cx="7010400" cy="3897312"/>
          </a:xfrm>
        </p:spPr>
        <p:txBody>
          <a:bodyPr/>
          <a:lstStyle/>
          <a:p>
            <a:pPr>
              <a:tabLst>
                <a:tab pos="2222500" algn="l"/>
              </a:tabLst>
            </a:pPr>
            <a:r>
              <a:rPr lang="en-US" altLang="en-US"/>
              <a:t>These functions operate on the multiset of values of a column of a relation, and return a value</a:t>
            </a:r>
          </a:p>
          <a:p>
            <a:pPr>
              <a:buFont typeface="Monotype Sorts" charset="2"/>
              <a:buNone/>
              <a:tabLst>
                <a:tab pos="2222500" algn="l"/>
              </a:tabLst>
            </a:pPr>
            <a:r>
              <a:rPr lang="en-US" altLang="en-US"/>
              <a:t>		</a:t>
            </a:r>
            <a:r>
              <a:rPr lang="en-US" altLang="en-US" b="1"/>
              <a:t>avg: </a:t>
            </a:r>
            <a:r>
              <a:rPr lang="en-US" altLang="en-US"/>
              <a:t>average value</a:t>
            </a:r>
            <a:br>
              <a:rPr lang="en-US" altLang="en-US"/>
            </a:br>
            <a:r>
              <a:rPr lang="en-US" altLang="en-US"/>
              <a:t>	</a:t>
            </a:r>
            <a:r>
              <a:rPr lang="en-US" altLang="en-US" b="1"/>
              <a:t>min:  </a:t>
            </a:r>
            <a:r>
              <a:rPr lang="en-US" altLang="en-US"/>
              <a:t>minimum value</a:t>
            </a:r>
            <a:br>
              <a:rPr lang="en-US" altLang="en-US"/>
            </a:br>
            <a:r>
              <a:rPr lang="en-US" altLang="en-US"/>
              <a:t>	</a:t>
            </a:r>
            <a:r>
              <a:rPr lang="en-US" altLang="en-US" b="1"/>
              <a:t>max:  </a:t>
            </a:r>
            <a:r>
              <a:rPr lang="en-US" altLang="en-US"/>
              <a:t>maximum value</a:t>
            </a:r>
            <a:br>
              <a:rPr lang="en-US" altLang="en-US"/>
            </a:br>
            <a:r>
              <a:rPr lang="en-US" altLang="en-US"/>
              <a:t>	</a:t>
            </a:r>
            <a:r>
              <a:rPr lang="en-US" altLang="en-US" b="1"/>
              <a:t>sum:  </a:t>
            </a:r>
            <a:r>
              <a:rPr lang="en-US" altLang="en-US"/>
              <a:t>sum of values</a:t>
            </a:r>
            <a:br>
              <a:rPr lang="en-US" altLang="en-US"/>
            </a:br>
            <a:r>
              <a:rPr lang="en-US" altLang="en-US"/>
              <a:t>	</a:t>
            </a:r>
            <a:r>
              <a:rPr lang="en-US" altLang="en-US" b="1"/>
              <a:t>count:  </a:t>
            </a:r>
            <a:r>
              <a:rPr lang="en-US" altLang="en-US"/>
              <a:t>number of values</a:t>
            </a:r>
          </a:p>
        </p:txBody>
      </p:sp>
    </p:spTree>
    <p:extLst>
      <p:ext uri="{BB962C8B-B14F-4D97-AF65-F5344CB8AC3E}">
        <p14:creationId xmlns:p14="http://schemas.microsoft.com/office/powerpoint/2010/main" val="22431618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0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Aggregate Functions (Cont.)</a:t>
            </a:r>
          </a:p>
        </p:txBody>
      </p:sp>
      <p:sp>
        <p:nvSpPr>
          <p:cNvPr id="4280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14388" y="1108075"/>
            <a:ext cx="7843837" cy="5251450"/>
          </a:xfrm>
        </p:spPr>
        <p:txBody>
          <a:bodyPr/>
          <a:lstStyle/>
          <a:p>
            <a:pPr>
              <a:tabLst>
                <a:tab pos="1711325" algn="l"/>
              </a:tabLst>
            </a:pPr>
            <a:r>
              <a:rPr lang="en-US" altLang="en-US"/>
              <a:t>Find the average salary of instructors in the Computer Science department </a:t>
            </a:r>
          </a:p>
          <a:p>
            <a:pPr lvl="1">
              <a:tabLst>
                <a:tab pos="1711325" algn="l"/>
              </a:tabLst>
            </a:pPr>
            <a:r>
              <a:rPr lang="en-US" altLang="en-US" b="1"/>
              <a:t>select avg </a:t>
            </a:r>
            <a:r>
              <a:rPr lang="en-US" altLang="en-US"/>
              <a:t>(</a:t>
            </a:r>
            <a:r>
              <a:rPr lang="en-US" altLang="en-US" i="1"/>
              <a:t>salary</a:t>
            </a:r>
            <a:r>
              <a:rPr lang="en-US" altLang="en-US"/>
              <a:t>)</a:t>
            </a:r>
            <a:br>
              <a:rPr lang="en-US" altLang="en-US"/>
            </a:br>
            <a:r>
              <a:rPr lang="en-US" altLang="en-US" b="1"/>
              <a:t>from </a:t>
            </a:r>
            <a:r>
              <a:rPr lang="en-US" altLang="en-US" i="1"/>
              <a:t>instructor</a:t>
            </a:r>
            <a:br>
              <a:rPr lang="en-US" altLang="en-US" i="1"/>
            </a:br>
            <a:r>
              <a:rPr lang="en-US" altLang="en-US" b="1"/>
              <a:t>where </a:t>
            </a:r>
            <a:r>
              <a:rPr lang="en-US" altLang="en-US" i="1"/>
              <a:t>dept_name</a:t>
            </a:r>
            <a:r>
              <a:rPr lang="en-US" altLang="en-US"/>
              <a:t>= ’Comp. Sci.’;</a:t>
            </a:r>
          </a:p>
          <a:p>
            <a:pPr>
              <a:tabLst>
                <a:tab pos="1711325" algn="l"/>
              </a:tabLst>
            </a:pPr>
            <a:r>
              <a:rPr kumimoji="0" lang="en-US" altLang="en-US"/>
              <a:t>Find the total number of instructors who teach a course in the Spring 2010 semester</a:t>
            </a:r>
          </a:p>
          <a:p>
            <a:pPr lvl="1">
              <a:tabLst>
                <a:tab pos="1711325" algn="l"/>
              </a:tabLst>
            </a:pPr>
            <a:r>
              <a:rPr kumimoji="0" lang="en-US" altLang="en-US" b="1"/>
              <a:t>select count </a:t>
            </a:r>
            <a:r>
              <a:rPr kumimoji="0" lang="en-US" altLang="en-US"/>
              <a:t>(</a:t>
            </a:r>
            <a:r>
              <a:rPr kumimoji="0" lang="en-US" altLang="en-US" b="1"/>
              <a:t>distinct </a:t>
            </a:r>
            <a:r>
              <a:rPr kumimoji="0" lang="en-US" altLang="en-US" i="1"/>
              <a:t>ID</a:t>
            </a:r>
            <a:r>
              <a:rPr kumimoji="0" lang="en-US" altLang="en-US"/>
              <a:t>)</a:t>
            </a:r>
            <a:br>
              <a:rPr kumimoji="0" lang="en-US" altLang="en-US"/>
            </a:br>
            <a:r>
              <a:rPr kumimoji="0" lang="en-US" altLang="en-US" b="1"/>
              <a:t>from </a:t>
            </a:r>
            <a:r>
              <a:rPr kumimoji="0" lang="en-US" altLang="en-US" i="1"/>
              <a:t>teaches</a:t>
            </a:r>
            <a:br>
              <a:rPr kumimoji="0" lang="en-US" altLang="en-US" i="1"/>
            </a:br>
            <a:r>
              <a:rPr kumimoji="0" lang="en-US" altLang="en-US" b="1"/>
              <a:t>where </a:t>
            </a:r>
            <a:r>
              <a:rPr kumimoji="0" lang="en-US" altLang="en-US" i="1"/>
              <a:t>semester </a:t>
            </a:r>
            <a:r>
              <a:rPr kumimoji="0" lang="en-US" altLang="en-US"/>
              <a:t>= ’Spring’ </a:t>
            </a:r>
            <a:r>
              <a:rPr kumimoji="0" lang="en-US" altLang="en-US" b="1"/>
              <a:t>and </a:t>
            </a:r>
            <a:r>
              <a:rPr kumimoji="0" lang="en-US" altLang="en-US" i="1"/>
              <a:t>year </a:t>
            </a:r>
            <a:r>
              <a:rPr kumimoji="0" lang="en-US" altLang="en-US"/>
              <a:t>= 2010</a:t>
            </a:r>
          </a:p>
          <a:p>
            <a:pPr>
              <a:tabLst>
                <a:tab pos="1711325" algn="l"/>
              </a:tabLst>
            </a:pPr>
            <a:r>
              <a:rPr kumimoji="0" lang="en-US" altLang="en-US"/>
              <a:t>Find the number of tuples in the </a:t>
            </a:r>
            <a:r>
              <a:rPr kumimoji="0" lang="en-US" altLang="en-US" i="1"/>
              <a:t>course </a:t>
            </a:r>
            <a:r>
              <a:rPr kumimoji="0" lang="en-US" altLang="en-US"/>
              <a:t>relation</a:t>
            </a:r>
          </a:p>
          <a:p>
            <a:pPr lvl="1">
              <a:tabLst>
                <a:tab pos="1711325" algn="l"/>
              </a:tabLst>
            </a:pPr>
            <a:r>
              <a:rPr kumimoji="0" lang="en-US" altLang="en-US" b="1"/>
              <a:t>select count </a:t>
            </a:r>
            <a:r>
              <a:rPr kumimoji="0" lang="en-US" altLang="en-US"/>
              <a:t>(*)</a:t>
            </a:r>
            <a:br>
              <a:rPr kumimoji="0" lang="en-US" altLang="en-US"/>
            </a:br>
            <a:r>
              <a:rPr kumimoji="0" lang="en-US" altLang="en-US" b="1"/>
              <a:t>from </a:t>
            </a:r>
            <a:r>
              <a:rPr kumimoji="0" lang="en-US" altLang="en-US" i="1"/>
              <a:t>course</a:t>
            </a:r>
            <a:r>
              <a:rPr kumimoji="0" lang="en-US" altLang="en-US"/>
              <a:t>;</a:t>
            </a:r>
          </a:p>
          <a:p>
            <a:pPr>
              <a:tabLst>
                <a:tab pos="1711325" algn="l"/>
              </a:tabLst>
            </a:pPr>
            <a:endParaRPr kumimoji="0" lang="en-US" altLang="en-US"/>
          </a:p>
          <a:p>
            <a:pPr lvl="1">
              <a:tabLst>
                <a:tab pos="1711325" algn="l"/>
              </a:tabLst>
            </a:pPr>
            <a:endParaRPr kumimoji="0" lang="en-US" altLang="en-US"/>
          </a:p>
          <a:p>
            <a:pPr>
              <a:tabLst>
                <a:tab pos="1711325" algn="l"/>
              </a:tabLst>
            </a:pPr>
            <a:endParaRPr lang="en-US" altLang="en-US"/>
          </a:p>
        </p:txBody>
      </p:sp>
      <p:sp>
        <p:nvSpPr>
          <p:cNvPr id="428036" name="Text Box 4"/>
          <p:cNvSpPr txBox="1">
            <a:spLocks noChangeArrowheads="1"/>
          </p:cNvSpPr>
          <p:nvPr/>
        </p:nvSpPr>
        <p:spPr bwMode="auto">
          <a:xfrm>
            <a:off x="758825" y="2813050"/>
            <a:ext cx="7681913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1" lang="en-US" altLang="en-US" sz="1800"/>
              <a:t>   </a:t>
            </a: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343408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Aggregate Functions – Group By</a:t>
            </a:r>
          </a:p>
        </p:txBody>
      </p:sp>
      <p:sp>
        <p:nvSpPr>
          <p:cNvPr id="4300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0413" y="1160463"/>
            <a:ext cx="8008937" cy="1995487"/>
          </a:xfrm>
        </p:spPr>
        <p:txBody>
          <a:bodyPr/>
          <a:lstStyle/>
          <a:p>
            <a:pPr>
              <a:tabLst>
                <a:tab pos="625475" algn="l"/>
              </a:tabLst>
            </a:pPr>
            <a:r>
              <a:rPr lang="en-US" altLang="en-US"/>
              <a:t>Find the average salary of instructors in each department</a:t>
            </a:r>
          </a:p>
          <a:p>
            <a:pPr lvl="1">
              <a:tabLst>
                <a:tab pos="625475" algn="l"/>
              </a:tabLst>
            </a:pPr>
            <a:r>
              <a:rPr lang="en-US" altLang="en-US" b="1"/>
              <a:t>select </a:t>
            </a:r>
            <a:r>
              <a:rPr lang="en-US" altLang="en-US" i="1"/>
              <a:t>dept_name</a:t>
            </a:r>
            <a:r>
              <a:rPr lang="en-US" altLang="en-US"/>
              <a:t>, </a:t>
            </a:r>
            <a:r>
              <a:rPr lang="en-US" altLang="en-US" b="1"/>
              <a:t>avg </a:t>
            </a:r>
            <a:r>
              <a:rPr lang="en-US" altLang="en-US"/>
              <a:t>(</a:t>
            </a:r>
            <a:r>
              <a:rPr lang="en-US" altLang="en-US" i="1"/>
              <a:t>salary</a:t>
            </a:r>
            <a:r>
              <a:rPr lang="en-US" altLang="en-US"/>
              <a:t>)</a:t>
            </a:r>
            <a:br>
              <a:rPr lang="en-US" altLang="en-US"/>
            </a:br>
            <a:r>
              <a:rPr lang="en-US" altLang="en-US" b="1"/>
              <a:t>from </a:t>
            </a:r>
            <a:r>
              <a:rPr lang="en-US" altLang="en-US" i="1"/>
              <a:t>instructor</a:t>
            </a:r>
            <a:br>
              <a:rPr lang="en-US" altLang="en-US" i="1"/>
            </a:br>
            <a:r>
              <a:rPr lang="en-US" altLang="en-US" b="1"/>
              <a:t>group by </a:t>
            </a:r>
            <a:r>
              <a:rPr lang="en-US" altLang="en-US" i="1"/>
              <a:t>dept_name</a:t>
            </a:r>
            <a:r>
              <a:rPr lang="en-US" altLang="en-US"/>
              <a:t>;</a:t>
            </a:r>
          </a:p>
          <a:p>
            <a:pPr lvl="1">
              <a:tabLst>
                <a:tab pos="625475" algn="l"/>
              </a:tabLst>
            </a:pPr>
            <a:endParaRPr lang="en-US" altLang="en-US"/>
          </a:p>
          <a:p>
            <a:pPr lvl="1">
              <a:tabLst>
                <a:tab pos="625475" algn="l"/>
              </a:tabLst>
            </a:pPr>
            <a:endParaRPr lang="en-US" altLang="en-US"/>
          </a:p>
        </p:txBody>
      </p:sp>
      <p:pic>
        <p:nvPicPr>
          <p:cNvPr id="430084" name="Picture 4" descr="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463" y="2571750"/>
            <a:ext cx="4056062" cy="3648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30085" name="Picture 5" descr="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29275" y="3122613"/>
            <a:ext cx="2411413" cy="2670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30086" name="Text Box 6"/>
          <p:cNvSpPr txBox="1">
            <a:spLocks noChangeArrowheads="1"/>
          </p:cNvSpPr>
          <p:nvPr/>
        </p:nvSpPr>
        <p:spPr bwMode="auto">
          <a:xfrm>
            <a:off x="7129463" y="3228975"/>
            <a:ext cx="882650" cy="212725"/>
          </a:xfrm>
          <a:prstGeom prst="rect">
            <a:avLst/>
          </a:prstGeom>
          <a:solidFill>
            <a:srgbClr val="99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r>
              <a:rPr lang="en-US" altLang="en-US" sz="1400" i="1"/>
              <a:t>avg_salary</a:t>
            </a:r>
          </a:p>
        </p:txBody>
      </p:sp>
    </p:spTree>
    <p:extLst>
      <p:ext uri="{BB962C8B-B14F-4D97-AF65-F5344CB8AC3E}">
        <p14:creationId xmlns:p14="http://schemas.microsoft.com/office/powerpoint/2010/main" val="42544068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1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Aggregation (Cont.)</a:t>
            </a:r>
          </a:p>
        </p:txBody>
      </p:sp>
      <p:sp>
        <p:nvSpPr>
          <p:cNvPr id="432131" name="Text Box 3"/>
          <p:cNvSpPr txBox="1"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en-US" altLang="en-US"/>
              <a:t>Attributes in </a:t>
            </a:r>
            <a:r>
              <a:rPr lang="en-US" altLang="en-US" b="1"/>
              <a:t>select </a:t>
            </a:r>
            <a:r>
              <a:rPr lang="en-US" altLang="en-US"/>
              <a:t>clause outside of aggregate functions must appear in </a:t>
            </a:r>
            <a:r>
              <a:rPr lang="en-US" altLang="en-US" b="1"/>
              <a:t>group by</a:t>
            </a:r>
            <a:r>
              <a:rPr lang="en-US" altLang="en-US"/>
              <a:t> list</a:t>
            </a:r>
          </a:p>
          <a:p>
            <a:pPr lvl="1"/>
            <a:r>
              <a:rPr lang="en-US" altLang="en-US"/>
              <a:t>/* erroneous query */</a:t>
            </a:r>
            <a:br>
              <a:rPr lang="en-US" altLang="en-US"/>
            </a:br>
            <a:r>
              <a:rPr lang="en-US" altLang="en-US" b="1"/>
              <a:t>select </a:t>
            </a:r>
            <a:r>
              <a:rPr lang="en-US" altLang="en-US" i="1"/>
              <a:t>dept_name</a:t>
            </a:r>
            <a:r>
              <a:rPr lang="en-US" altLang="en-US"/>
              <a:t>, </a:t>
            </a:r>
            <a:r>
              <a:rPr lang="en-US" altLang="en-US" i="1"/>
              <a:t>ID</a:t>
            </a:r>
            <a:r>
              <a:rPr lang="en-US" altLang="en-US"/>
              <a:t>, </a:t>
            </a:r>
            <a:r>
              <a:rPr lang="en-US" altLang="en-US" b="1"/>
              <a:t>avg </a:t>
            </a:r>
            <a:r>
              <a:rPr lang="en-US" altLang="en-US"/>
              <a:t>(</a:t>
            </a:r>
            <a:r>
              <a:rPr lang="en-US" altLang="en-US" i="1"/>
              <a:t>salary</a:t>
            </a:r>
            <a:r>
              <a:rPr lang="en-US" altLang="en-US"/>
              <a:t>)</a:t>
            </a:r>
            <a:br>
              <a:rPr lang="en-US" altLang="en-US"/>
            </a:br>
            <a:r>
              <a:rPr lang="en-US" altLang="en-US" b="1"/>
              <a:t>from </a:t>
            </a:r>
            <a:r>
              <a:rPr lang="en-US" altLang="en-US" i="1"/>
              <a:t>instructor</a:t>
            </a:r>
            <a:br>
              <a:rPr lang="en-US" altLang="en-US" i="1"/>
            </a:br>
            <a:r>
              <a:rPr lang="en-US" altLang="en-US" b="1"/>
              <a:t>group by </a:t>
            </a:r>
            <a:r>
              <a:rPr lang="en-US" altLang="en-US" i="1"/>
              <a:t>dept_name</a:t>
            </a:r>
            <a:r>
              <a:rPr lang="en-US" altLang="en-US"/>
              <a:t>;</a:t>
            </a:r>
          </a:p>
          <a:p>
            <a:pPr lvl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953882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2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2131" grpId="0" autoUpdateAnimBg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154" name="Rectangle 2"/>
          <p:cNvSpPr>
            <a:spLocks noGrp="1" noChangeArrowheads="1"/>
          </p:cNvSpPr>
          <p:nvPr>
            <p:ph type="title"/>
          </p:nvPr>
        </p:nvSpPr>
        <p:spPr>
          <a:xfrm>
            <a:off x="923925" y="33338"/>
            <a:ext cx="8077200" cy="609600"/>
          </a:xfrm>
        </p:spPr>
        <p:txBody>
          <a:bodyPr/>
          <a:lstStyle/>
          <a:p>
            <a:r>
              <a:rPr lang="en-US" altLang="en-US"/>
              <a:t>Aggregate Functions – Having Clause</a:t>
            </a:r>
          </a:p>
        </p:txBody>
      </p:sp>
      <p:sp>
        <p:nvSpPr>
          <p:cNvPr id="4331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14388" y="1193800"/>
            <a:ext cx="7661275" cy="773113"/>
          </a:xfrm>
        </p:spPr>
        <p:txBody>
          <a:bodyPr/>
          <a:lstStyle/>
          <a:p>
            <a:pPr>
              <a:tabLst>
                <a:tab pos="1489075" algn="l"/>
              </a:tabLst>
            </a:pPr>
            <a:r>
              <a:rPr lang="en-US" altLang="en-US"/>
              <a:t>Find the names and average salaries of all departments whose average salary is greater than 42000</a:t>
            </a:r>
          </a:p>
        </p:txBody>
      </p:sp>
      <p:sp>
        <p:nvSpPr>
          <p:cNvPr id="433156" name="Text Box 4"/>
          <p:cNvSpPr txBox="1">
            <a:spLocks noChangeArrowheads="1"/>
          </p:cNvSpPr>
          <p:nvPr/>
        </p:nvSpPr>
        <p:spPr bwMode="auto">
          <a:xfrm>
            <a:off x="658813" y="3567113"/>
            <a:ext cx="7842250" cy="1190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35000"/>
              </a:spcBef>
              <a:buClr>
                <a:schemeClr val="tx2"/>
              </a:buClr>
              <a:buSzPct val="90000"/>
              <a:buFont typeface="Monotype Sorts" charset="2"/>
              <a:buNone/>
            </a:pPr>
            <a:r>
              <a:rPr kumimoji="1" lang="en-US" altLang="en-US" sz="1800">
                <a:solidFill>
                  <a:schemeClr val="tx2"/>
                </a:solidFill>
              </a:rPr>
              <a:t>       </a:t>
            </a:r>
            <a:r>
              <a:rPr kumimoji="1" lang="en-US" altLang="en-US" sz="1800"/>
              <a:t>Note:  predicates in the </a:t>
            </a:r>
            <a:r>
              <a:rPr kumimoji="1" lang="en-US" altLang="en-US" sz="1800" b="1"/>
              <a:t>having</a:t>
            </a:r>
            <a:r>
              <a:rPr kumimoji="1" lang="en-US" altLang="en-US" sz="1800"/>
              <a:t> clause are applied after the </a:t>
            </a:r>
            <a:br>
              <a:rPr kumimoji="1" lang="en-US" altLang="en-US" sz="1800"/>
            </a:br>
            <a:r>
              <a:rPr kumimoji="1" lang="en-US" altLang="en-US" sz="1800"/>
              <a:t>                 formation of groups whereas predicates in the </a:t>
            </a:r>
            <a:r>
              <a:rPr kumimoji="1" lang="en-US" altLang="en-US" sz="1800" b="1"/>
              <a:t>where</a:t>
            </a:r>
            <a:r>
              <a:rPr kumimoji="1" lang="en-US" altLang="en-US" sz="1800"/>
              <a:t> </a:t>
            </a:r>
            <a:br>
              <a:rPr kumimoji="1" lang="en-US" altLang="en-US" sz="1800"/>
            </a:br>
            <a:r>
              <a:rPr kumimoji="1" lang="en-US" altLang="en-US" sz="1800"/>
              <a:t>                 clause are applied before forming groups</a:t>
            </a:r>
          </a:p>
          <a:p>
            <a:endParaRPr lang="en-US" altLang="en-US" sz="1800">
              <a:latin typeface="Times New Roman" panose="02020603050405020304" pitchFamily="18" charset="0"/>
            </a:endParaRPr>
          </a:p>
        </p:txBody>
      </p:sp>
      <p:sp>
        <p:nvSpPr>
          <p:cNvPr id="433157" name="Text Box 5"/>
          <p:cNvSpPr txBox="1">
            <a:spLocks noChangeArrowheads="1"/>
          </p:cNvSpPr>
          <p:nvPr/>
        </p:nvSpPr>
        <p:spPr bwMode="auto">
          <a:xfrm>
            <a:off x="1677988" y="2114550"/>
            <a:ext cx="5861050" cy="1069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 b="1"/>
              <a:t>select </a:t>
            </a:r>
            <a:r>
              <a:rPr lang="en-US" altLang="en-US" i="1"/>
              <a:t>dept_name</a:t>
            </a:r>
            <a:r>
              <a:rPr lang="en-US" altLang="en-US"/>
              <a:t>, </a:t>
            </a:r>
            <a:r>
              <a:rPr lang="en-US" altLang="en-US" b="1"/>
              <a:t>avg </a:t>
            </a:r>
            <a:r>
              <a:rPr lang="en-US" altLang="en-US"/>
              <a:t>(</a:t>
            </a:r>
            <a:r>
              <a:rPr lang="en-US" altLang="en-US" i="1"/>
              <a:t>salary</a:t>
            </a:r>
            <a:r>
              <a:rPr lang="en-US" altLang="en-US"/>
              <a:t>)</a:t>
            </a:r>
          </a:p>
          <a:p>
            <a:r>
              <a:rPr lang="en-US" altLang="en-US" b="1"/>
              <a:t>from </a:t>
            </a:r>
            <a:r>
              <a:rPr lang="en-US" altLang="en-US" i="1"/>
              <a:t>instructor</a:t>
            </a:r>
          </a:p>
          <a:p>
            <a:r>
              <a:rPr lang="en-US" altLang="en-US" b="1"/>
              <a:t>group by </a:t>
            </a:r>
            <a:r>
              <a:rPr lang="en-US" altLang="en-US" i="1"/>
              <a:t>dept_name</a:t>
            </a:r>
          </a:p>
          <a:p>
            <a:r>
              <a:rPr lang="en-US" altLang="en-US" b="1"/>
              <a:t>having avg </a:t>
            </a:r>
            <a:r>
              <a:rPr lang="en-US" altLang="en-US"/>
              <a:t>(</a:t>
            </a:r>
            <a:r>
              <a:rPr lang="en-US" altLang="en-US" i="1"/>
              <a:t>salary</a:t>
            </a:r>
            <a:r>
              <a:rPr lang="en-US" altLang="en-US"/>
              <a:t>) &gt; 42000;</a:t>
            </a:r>
          </a:p>
        </p:txBody>
      </p:sp>
    </p:spTree>
    <p:extLst>
      <p:ext uri="{BB962C8B-B14F-4D97-AF65-F5344CB8AC3E}">
        <p14:creationId xmlns:p14="http://schemas.microsoft.com/office/powerpoint/2010/main" val="13908466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3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3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3156" grpId="0" autoUpdateAnimBg="0"/>
      <p:bldP spid="433157" grpId="0" autoUpdateAnimBg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2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Null Values and Aggregates</a:t>
            </a:r>
          </a:p>
        </p:txBody>
      </p:sp>
      <p:sp>
        <p:nvSpPr>
          <p:cNvPr id="4352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39775" y="1106488"/>
            <a:ext cx="7840663" cy="4667250"/>
          </a:xfrm>
        </p:spPr>
        <p:txBody>
          <a:bodyPr/>
          <a:lstStyle/>
          <a:p>
            <a:pPr>
              <a:tabLst>
                <a:tab pos="1830388" algn="l"/>
                <a:tab pos="2232025" algn="l"/>
              </a:tabLst>
            </a:pPr>
            <a:r>
              <a:rPr lang="en-US" altLang="en-US"/>
              <a:t>Total all salaries</a:t>
            </a:r>
          </a:p>
          <a:p>
            <a:pPr>
              <a:buFont typeface="Monotype Sorts" charset="2"/>
              <a:buNone/>
              <a:tabLst>
                <a:tab pos="1830388" algn="l"/>
                <a:tab pos="2232025" algn="l"/>
              </a:tabLst>
            </a:pPr>
            <a:r>
              <a:rPr lang="en-US" altLang="en-US"/>
              <a:t>		</a:t>
            </a:r>
            <a:r>
              <a:rPr lang="en-US" altLang="en-US" b="1"/>
              <a:t>select sum</a:t>
            </a:r>
            <a:r>
              <a:rPr lang="en-US" altLang="en-US"/>
              <a:t> (</a:t>
            </a:r>
            <a:r>
              <a:rPr lang="en-US" altLang="en-US" i="1"/>
              <a:t>salary </a:t>
            </a:r>
            <a:r>
              <a:rPr lang="en-US" altLang="en-US"/>
              <a:t>)</a:t>
            </a:r>
            <a:r>
              <a:rPr lang="en-US" altLang="en-US" i="1"/>
              <a:t/>
            </a:r>
            <a:br>
              <a:rPr lang="en-US" altLang="en-US" i="1"/>
            </a:br>
            <a:r>
              <a:rPr lang="en-US" altLang="en-US" i="1"/>
              <a:t>	</a:t>
            </a:r>
            <a:r>
              <a:rPr lang="en-US" altLang="en-US" b="1"/>
              <a:t>from</a:t>
            </a:r>
            <a:r>
              <a:rPr lang="en-US" altLang="en-US" i="1"/>
              <a:t> instructor</a:t>
            </a:r>
            <a:endParaRPr lang="en-US" altLang="en-US"/>
          </a:p>
          <a:p>
            <a:pPr lvl="1">
              <a:tabLst>
                <a:tab pos="1830388" algn="l"/>
                <a:tab pos="2232025" algn="l"/>
              </a:tabLst>
            </a:pPr>
            <a:r>
              <a:rPr lang="en-US" altLang="en-US"/>
              <a:t>Above statement ignores null amounts</a:t>
            </a:r>
          </a:p>
          <a:p>
            <a:pPr lvl="1">
              <a:tabLst>
                <a:tab pos="1830388" algn="l"/>
                <a:tab pos="2232025" algn="l"/>
              </a:tabLst>
            </a:pPr>
            <a:r>
              <a:rPr lang="en-US" altLang="en-US"/>
              <a:t>Result is </a:t>
            </a:r>
            <a:r>
              <a:rPr lang="en-US" altLang="en-US" i="1"/>
              <a:t>null</a:t>
            </a:r>
            <a:r>
              <a:rPr lang="en-US" altLang="en-US"/>
              <a:t> if there is no non-null amount</a:t>
            </a:r>
          </a:p>
          <a:p>
            <a:pPr>
              <a:tabLst>
                <a:tab pos="1830388" algn="l"/>
                <a:tab pos="2232025" algn="l"/>
              </a:tabLst>
            </a:pPr>
            <a:r>
              <a:rPr lang="en-US" altLang="en-US"/>
              <a:t>All aggregate operations except </a:t>
            </a:r>
            <a:r>
              <a:rPr lang="en-US" altLang="en-US" b="1"/>
              <a:t>count(*)</a:t>
            </a:r>
            <a:r>
              <a:rPr lang="en-US" altLang="en-US"/>
              <a:t> ignore tuples with null values on the aggregated attributes</a:t>
            </a:r>
          </a:p>
          <a:p>
            <a:pPr>
              <a:tabLst>
                <a:tab pos="1830388" algn="l"/>
                <a:tab pos="2232025" algn="l"/>
              </a:tabLst>
            </a:pPr>
            <a:r>
              <a:rPr lang="en-US" altLang="en-US"/>
              <a:t>What if collection has only null values?</a:t>
            </a:r>
          </a:p>
          <a:p>
            <a:pPr lvl="1">
              <a:tabLst>
                <a:tab pos="1830388" algn="l"/>
                <a:tab pos="2232025" algn="l"/>
              </a:tabLst>
            </a:pPr>
            <a:r>
              <a:rPr lang="en-US" altLang="en-US"/>
              <a:t>count returns 0</a:t>
            </a:r>
          </a:p>
          <a:p>
            <a:pPr lvl="1">
              <a:tabLst>
                <a:tab pos="1830388" algn="l"/>
                <a:tab pos="2232025" algn="l"/>
              </a:tabLst>
            </a:pPr>
            <a:r>
              <a:rPr lang="en-US" altLang="en-US"/>
              <a:t>all other aggregates return null</a:t>
            </a:r>
          </a:p>
        </p:txBody>
      </p:sp>
    </p:spTree>
    <p:extLst>
      <p:ext uri="{BB962C8B-B14F-4D97-AF65-F5344CB8AC3E}">
        <p14:creationId xmlns:p14="http://schemas.microsoft.com/office/powerpoint/2010/main" val="3940863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2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2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394" name="Rectangle 2"/>
          <p:cNvSpPr>
            <a:spLocks noGrp="1" noChangeArrowheads="1"/>
          </p:cNvSpPr>
          <p:nvPr>
            <p:ph type="title"/>
          </p:nvPr>
        </p:nvSpPr>
        <p:spPr>
          <a:xfrm>
            <a:off x="552450" y="9525"/>
            <a:ext cx="8077200" cy="609600"/>
          </a:xfrm>
        </p:spPr>
        <p:txBody>
          <a:bodyPr/>
          <a:lstStyle/>
          <a:p>
            <a:r>
              <a:rPr lang="en-US" altLang="en-US"/>
              <a:t>Set Comparison</a:t>
            </a:r>
          </a:p>
        </p:txBody>
      </p:sp>
      <p:sp>
        <p:nvSpPr>
          <p:cNvPr id="4433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39775" y="1106488"/>
            <a:ext cx="7661275" cy="766762"/>
          </a:xfrm>
        </p:spPr>
        <p:txBody>
          <a:bodyPr/>
          <a:lstStyle/>
          <a:p>
            <a:pPr defTabSz="915988">
              <a:tabLst>
                <a:tab pos="1830388" algn="l"/>
              </a:tabLst>
            </a:pPr>
            <a:r>
              <a:rPr lang="en-US" altLang="en-US"/>
              <a:t>Find names of instructors with salary greater than that of some (at least one) instructor in the Biology department.</a:t>
            </a:r>
          </a:p>
        </p:txBody>
      </p:sp>
      <p:sp>
        <p:nvSpPr>
          <p:cNvPr id="443396" name="Text Box 4"/>
          <p:cNvSpPr txBox="1">
            <a:spLocks noChangeArrowheads="1"/>
          </p:cNvSpPr>
          <p:nvPr/>
        </p:nvSpPr>
        <p:spPr bwMode="auto">
          <a:xfrm>
            <a:off x="739775" y="3411538"/>
            <a:ext cx="723582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35000"/>
              </a:spcBef>
              <a:buClr>
                <a:schemeClr val="tx2"/>
              </a:buClr>
              <a:buSzPct val="90000"/>
              <a:buFont typeface="Monotype Sorts" charset="2"/>
              <a:buChar char="n"/>
            </a:pPr>
            <a:r>
              <a:rPr kumimoji="1" lang="en-US" altLang="en-US" sz="1800"/>
              <a:t>  Same query using &gt; </a:t>
            </a:r>
            <a:r>
              <a:rPr kumimoji="1" lang="en-US" altLang="en-US" sz="1800" b="1"/>
              <a:t>some</a:t>
            </a:r>
            <a:r>
              <a:rPr kumimoji="1" lang="en-US" altLang="en-US" sz="1800"/>
              <a:t> clause</a:t>
            </a:r>
            <a:endParaRPr lang="en-US" altLang="en-US" sz="1800">
              <a:latin typeface="Times New Roman" panose="02020603050405020304" pitchFamily="18" charset="0"/>
            </a:endParaRPr>
          </a:p>
        </p:txBody>
      </p:sp>
      <p:sp>
        <p:nvSpPr>
          <p:cNvPr id="443397" name="Text Box 5"/>
          <p:cNvSpPr txBox="1">
            <a:spLocks noChangeArrowheads="1"/>
          </p:cNvSpPr>
          <p:nvPr/>
        </p:nvSpPr>
        <p:spPr bwMode="auto">
          <a:xfrm>
            <a:off x="1824038" y="3995738"/>
            <a:ext cx="3440112" cy="1314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b="1"/>
              <a:t>select </a:t>
            </a:r>
            <a:r>
              <a:rPr lang="en-US" altLang="en-US" i="1"/>
              <a:t>name</a:t>
            </a:r>
          </a:p>
          <a:p>
            <a:r>
              <a:rPr lang="en-US" altLang="en-US" b="1"/>
              <a:t>from </a:t>
            </a:r>
            <a:r>
              <a:rPr lang="en-US" altLang="en-US" i="1"/>
              <a:t>instructor</a:t>
            </a:r>
          </a:p>
          <a:p>
            <a:r>
              <a:rPr lang="en-US" altLang="en-US" b="1"/>
              <a:t>where </a:t>
            </a:r>
            <a:r>
              <a:rPr lang="en-US" altLang="en-US" i="1"/>
              <a:t>salary </a:t>
            </a:r>
            <a:r>
              <a:rPr lang="en-US" altLang="en-US"/>
              <a:t>&gt; </a:t>
            </a:r>
            <a:r>
              <a:rPr lang="en-US" altLang="en-US" b="1"/>
              <a:t>some </a:t>
            </a:r>
            <a:r>
              <a:rPr lang="en-US" altLang="en-US"/>
              <a:t>(</a:t>
            </a:r>
            <a:r>
              <a:rPr lang="en-US" altLang="en-US" b="1"/>
              <a:t>select </a:t>
            </a:r>
            <a:r>
              <a:rPr lang="en-US" altLang="en-US" i="1"/>
              <a:t>salary</a:t>
            </a:r>
          </a:p>
          <a:p>
            <a:r>
              <a:rPr lang="en-US" altLang="en-US" b="1"/>
              <a:t>from </a:t>
            </a:r>
            <a:r>
              <a:rPr lang="en-US" altLang="en-US" i="1"/>
              <a:t>instructor</a:t>
            </a:r>
          </a:p>
          <a:p>
            <a:r>
              <a:rPr lang="en-US" altLang="en-US" b="1"/>
              <a:t>where </a:t>
            </a:r>
            <a:r>
              <a:rPr lang="en-US" altLang="en-US" i="1"/>
              <a:t>dept name </a:t>
            </a:r>
            <a:r>
              <a:rPr lang="en-US" altLang="en-US"/>
              <a:t>= ’Biology’);</a:t>
            </a:r>
          </a:p>
        </p:txBody>
      </p:sp>
      <p:sp>
        <p:nvSpPr>
          <p:cNvPr id="443398" name="Text Box 6"/>
          <p:cNvSpPr txBox="1">
            <a:spLocks noChangeArrowheads="1"/>
          </p:cNvSpPr>
          <p:nvPr/>
        </p:nvSpPr>
        <p:spPr bwMode="auto">
          <a:xfrm>
            <a:off x="1952625" y="1957388"/>
            <a:ext cx="5275263" cy="825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 b="1"/>
              <a:t>select distinct </a:t>
            </a:r>
            <a:r>
              <a:rPr lang="en-US" altLang="en-US" i="1"/>
              <a:t>T</a:t>
            </a:r>
            <a:r>
              <a:rPr lang="en-US" altLang="en-US"/>
              <a:t>.</a:t>
            </a:r>
            <a:r>
              <a:rPr lang="en-US" altLang="en-US" i="1"/>
              <a:t>name</a:t>
            </a:r>
          </a:p>
          <a:p>
            <a:r>
              <a:rPr lang="en-US" altLang="en-US" b="1"/>
              <a:t>from </a:t>
            </a:r>
            <a:r>
              <a:rPr lang="en-US" altLang="en-US" i="1"/>
              <a:t>instructor </a:t>
            </a:r>
            <a:r>
              <a:rPr lang="en-US" altLang="en-US" b="1"/>
              <a:t>as </a:t>
            </a:r>
            <a:r>
              <a:rPr lang="en-US" altLang="en-US" i="1"/>
              <a:t>T</a:t>
            </a:r>
            <a:r>
              <a:rPr lang="en-US" altLang="en-US"/>
              <a:t>, </a:t>
            </a:r>
            <a:r>
              <a:rPr lang="en-US" altLang="en-US" i="1"/>
              <a:t>instructor </a:t>
            </a:r>
            <a:r>
              <a:rPr lang="en-US" altLang="en-US" b="1"/>
              <a:t>as </a:t>
            </a:r>
            <a:r>
              <a:rPr lang="en-US" altLang="en-US" i="1"/>
              <a:t>S</a:t>
            </a:r>
          </a:p>
          <a:p>
            <a:r>
              <a:rPr lang="en-US" altLang="en-US" b="1"/>
              <a:t>where </a:t>
            </a:r>
            <a:r>
              <a:rPr lang="en-US" altLang="en-US" i="1"/>
              <a:t>T.salary </a:t>
            </a:r>
            <a:r>
              <a:rPr lang="en-US" altLang="en-US"/>
              <a:t>&gt; </a:t>
            </a:r>
            <a:r>
              <a:rPr lang="en-US" altLang="en-US" i="1"/>
              <a:t>S.salary </a:t>
            </a:r>
            <a:r>
              <a:rPr lang="en-US" altLang="en-US" b="1"/>
              <a:t>and </a:t>
            </a:r>
            <a:r>
              <a:rPr lang="en-US" altLang="en-US" i="1"/>
              <a:t>S.dept name </a:t>
            </a:r>
            <a:r>
              <a:rPr lang="en-US" altLang="en-US"/>
              <a:t>= ’Biology’;</a:t>
            </a:r>
          </a:p>
        </p:txBody>
      </p:sp>
    </p:spTree>
    <p:extLst>
      <p:ext uri="{BB962C8B-B14F-4D97-AF65-F5344CB8AC3E}">
        <p14:creationId xmlns:p14="http://schemas.microsoft.com/office/powerpoint/2010/main" val="23162758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3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3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3397" grpId="0" autoUpdateAnimBg="0"/>
      <p:bldP spid="443398" grpId="0" autoUpdateAnimBg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946" name="Rectangle 2"/>
          <p:cNvSpPr>
            <a:spLocks noGrp="1" noChangeArrowheads="1"/>
          </p:cNvSpPr>
          <p:nvPr>
            <p:ph type="title"/>
          </p:nvPr>
        </p:nvSpPr>
        <p:spPr>
          <a:xfrm>
            <a:off x="909638" y="33338"/>
            <a:ext cx="8077200" cy="609600"/>
          </a:xfrm>
        </p:spPr>
        <p:txBody>
          <a:bodyPr/>
          <a:lstStyle/>
          <a:p>
            <a:r>
              <a:rPr lang="en-US" altLang="en-US"/>
              <a:t>Modification of the Database – Deletion</a:t>
            </a:r>
          </a:p>
        </p:txBody>
      </p:sp>
      <p:sp>
        <p:nvSpPr>
          <p:cNvPr id="4669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39775" y="1106488"/>
            <a:ext cx="7747000" cy="5175250"/>
          </a:xfrm>
        </p:spPr>
        <p:txBody>
          <a:bodyPr/>
          <a:lstStyle/>
          <a:p>
            <a:pPr>
              <a:tabLst>
                <a:tab pos="1652588" algn="l"/>
                <a:tab pos="2633663" algn="l"/>
              </a:tabLst>
            </a:pPr>
            <a:r>
              <a:rPr lang="en-US" altLang="en-US"/>
              <a:t>Delete all instructors</a:t>
            </a:r>
          </a:p>
          <a:p>
            <a:pPr>
              <a:buFont typeface="Monotype Sorts" charset="2"/>
              <a:buNone/>
              <a:tabLst>
                <a:tab pos="1652588" algn="l"/>
                <a:tab pos="2633663" algn="l"/>
              </a:tabLst>
            </a:pPr>
            <a:r>
              <a:rPr lang="en-US" altLang="en-US"/>
              <a:t>		</a:t>
            </a:r>
            <a:r>
              <a:rPr lang="en-US" altLang="en-US" b="1"/>
              <a:t>delete from </a:t>
            </a:r>
            <a:r>
              <a:rPr lang="en-US" altLang="en-US" i="1"/>
              <a:t>instructor</a:t>
            </a:r>
            <a:r>
              <a:rPr lang="en-US" altLang="en-US">
                <a:latin typeface="Century Gothic" panose="020B0502020202020204" pitchFamily="34" charset="0"/>
              </a:rPr>
              <a:t> </a:t>
            </a:r>
          </a:p>
          <a:p>
            <a:pPr>
              <a:buFont typeface="Monotype Sorts" charset="2"/>
              <a:buNone/>
              <a:tabLst>
                <a:tab pos="1652588" algn="l"/>
                <a:tab pos="2633663" algn="l"/>
              </a:tabLst>
            </a:pPr>
            <a:endParaRPr lang="en-US" altLang="en-US">
              <a:latin typeface="Century Gothic" panose="020B0502020202020204" pitchFamily="34" charset="0"/>
            </a:endParaRPr>
          </a:p>
          <a:p>
            <a:pPr>
              <a:tabLst>
                <a:tab pos="1652588" algn="l"/>
                <a:tab pos="2633663" algn="l"/>
              </a:tabLst>
            </a:pPr>
            <a:r>
              <a:rPr lang="en-US" altLang="en-US"/>
              <a:t>Delete all instructors from the Finance department</a:t>
            </a:r>
            <a:br>
              <a:rPr lang="en-US" altLang="en-US"/>
            </a:br>
            <a:r>
              <a:rPr lang="en-US" altLang="en-US"/>
              <a:t>                     </a:t>
            </a:r>
            <a:r>
              <a:rPr lang="en-US" altLang="en-US" b="1"/>
              <a:t>delete from </a:t>
            </a:r>
            <a:r>
              <a:rPr lang="en-US" altLang="en-US" i="1"/>
              <a:t>instructor</a:t>
            </a:r>
            <a:br>
              <a:rPr lang="en-US" altLang="en-US" i="1"/>
            </a:br>
            <a:r>
              <a:rPr lang="en-US" altLang="en-US" i="1"/>
              <a:t>                     </a:t>
            </a:r>
            <a:r>
              <a:rPr lang="en-US" altLang="en-US" b="1"/>
              <a:t>where </a:t>
            </a:r>
            <a:r>
              <a:rPr lang="en-US" altLang="en-US" i="1"/>
              <a:t>dept_name</a:t>
            </a:r>
            <a:r>
              <a:rPr lang="en-US" altLang="en-US"/>
              <a:t>= ’Finance’;</a:t>
            </a:r>
          </a:p>
          <a:p>
            <a:pPr>
              <a:tabLst>
                <a:tab pos="1652588" algn="l"/>
                <a:tab pos="2633663" algn="l"/>
              </a:tabLst>
            </a:pPr>
            <a:r>
              <a:rPr lang="en-US" altLang="en-US"/>
              <a:t>Delete all tuples in the </a:t>
            </a:r>
            <a:r>
              <a:rPr lang="en-US" altLang="en-US" i="1"/>
              <a:t>instructor </a:t>
            </a:r>
            <a:r>
              <a:rPr lang="en-US" altLang="en-US"/>
              <a:t>relation for those instructors associated with a department located in the Watson building.</a:t>
            </a:r>
          </a:p>
          <a:p>
            <a:pPr>
              <a:buFont typeface="Monotype Sorts" charset="2"/>
              <a:buNone/>
              <a:tabLst>
                <a:tab pos="1652588" algn="l"/>
                <a:tab pos="2633663" algn="l"/>
              </a:tabLst>
            </a:pPr>
            <a:r>
              <a:rPr lang="en-US" altLang="en-US" b="1"/>
              <a:t>		delete from </a:t>
            </a:r>
            <a:r>
              <a:rPr lang="en-US" altLang="en-US" i="1"/>
              <a:t>instructor</a:t>
            </a:r>
            <a:br>
              <a:rPr lang="en-US" altLang="en-US" i="1"/>
            </a:br>
            <a:r>
              <a:rPr lang="en-US" altLang="en-US" i="1"/>
              <a:t>                     </a:t>
            </a:r>
            <a:r>
              <a:rPr lang="en-US" altLang="en-US" b="1"/>
              <a:t>where </a:t>
            </a:r>
            <a:r>
              <a:rPr lang="en-US" altLang="en-US" i="1"/>
              <a:t>dept name </a:t>
            </a:r>
            <a:r>
              <a:rPr lang="en-US" altLang="en-US" b="1"/>
              <a:t>in </a:t>
            </a:r>
            <a:r>
              <a:rPr lang="en-US" altLang="en-US"/>
              <a:t>(</a:t>
            </a:r>
            <a:r>
              <a:rPr lang="en-US" altLang="en-US" b="1"/>
              <a:t>select </a:t>
            </a:r>
            <a:r>
              <a:rPr lang="en-US" altLang="en-US" i="1"/>
              <a:t>dept name</a:t>
            </a:r>
            <a:br>
              <a:rPr lang="en-US" altLang="en-US" i="1"/>
            </a:br>
            <a:r>
              <a:rPr lang="en-US" altLang="en-US" i="1"/>
              <a:t>                                                        </a:t>
            </a:r>
            <a:r>
              <a:rPr lang="en-US" altLang="en-US" b="1"/>
              <a:t>from </a:t>
            </a:r>
            <a:r>
              <a:rPr lang="en-US" altLang="en-US" i="1"/>
              <a:t>department</a:t>
            </a:r>
            <a:br>
              <a:rPr lang="en-US" altLang="en-US" i="1"/>
            </a:br>
            <a:r>
              <a:rPr lang="en-US" altLang="en-US" i="1"/>
              <a:t>                                                        </a:t>
            </a:r>
            <a:r>
              <a:rPr lang="en-US" altLang="en-US" b="1"/>
              <a:t>where </a:t>
            </a:r>
            <a:r>
              <a:rPr lang="en-US" altLang="en-US" i="1"/>
              <a:t>building </a:t>
            </a:r>
            <a:r>
              <a:rPr lang="en-US" altLang="en-US"/>
              <a:t>= ’Watson’);</a:t>
            </a:r>
          </a:p>
          <a:p>
            <a:pPr>
              <a:tabLst>
                <a:tab pos="1652588" algn="l"/>
                <a:tab pos="2633663" algn="l"/>
              </a:tabLst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893354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9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Example Query</a:t>
            </a:r>
          </a:p>
        </p:txBody>
      </p:sp>
      <p:sp>
        <p:nvSpPr>
          <p:cNvPr id="4689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09625" y="1109663"/>
            <a:ext cx="7661275" cy="1268412"/>
          </a:xfrm>
        </p:spPr>
        <p:txBody>
          <a:bodyPr/>
          <a:lstStyle/>
          <a:p>
            <a:pPr>
              <a:tabLst>
                <a:tab pos="1370013" algn="l"/>
                <a:tab pos="3140075" algn="l"/>
              </a:tabLst>
            </a:pPr>
            <a:r>
              <a:rPr lang="en-US" altLang="en-US"/>
              <a:t>Delete all instructors whose salary is less than the average salary of instructors</a:t>
            </a:r>
          </a:p>
        </p:txBody>
      </p:sp>
      <p:sp>
        <p:nvSpPr>
          <p:cNvPr id="468996" name="Text Box 4"/>
          <p:cNvSpPr txBox="1">
            <a:spLocks noChangeArrowheads="1"/>
          </p:cNvSpPr>
          <p:nvPr/>
        </p:nvSpPr>
        <p:spPr bwMode="auto">
          <a:xfrm>
            <a:off x="920750" y="2160588"/>
            <a:ext cx="741521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1" lang="en-US" altLang="en-US" sz="2000" b="1"/>
              <a:t>delete from </a:t>
            </a:r>
            <a:r>
              <a:rPr kumimoji="1" lang="en-US" altLang="en-US" sz="2000" i="1"/>
              <a:t>instructor</a:t>
            </a:r>
          </a:p>
          <a:p>
            <a:r>
              <a:rPr kumimoji="1" lang="en-US" altLang="en-US" sz="2000" b="1"/>
              <a:t>where </a:t>
            </a:r>
            <a:r>
              <a:rPr kumimoji="1" lang="en-US" altLang="en-US" sz="2000" i="1"/>
              <a:t>salary</a:t>
            </a:r>
            <a:r>
              <a:rPr kumimoji="1" lang="en-US" altLang="en-US" sz="2000"/>
              <a:t>&lt; (</a:t>
            </a:r>
            <a:r>
              <a:rPr kumimoji="1" lang="en-US" altLang="en-US" sz="2000" b="1"/>
              <a:t>select avg </a:t>
            </a:r>
            <a:r>
              <a:rPr kumimoji="1" lang="en-US" altLang="en-US" sz="2000"/>
              <a:t>(</a:t>
            </a:r>
            <a:r>
              <a:rPr kumimoji="1" lang="en-US" altLang="en-US" sz="2000" i="1"/>
              <a:t>salary</a:t>
            </a:r>
            <a:r>
              <a:rPr kumimoji="1" lang="en-US" altLang="en-US" sz="2000"/>
              <a:t>) </a:t>
            </a:r>
            <a:r>
              <a:rPr kumimoji="1" lang="en-US" altLang="en-US" sz="2000" b="1"/>
              <a:t>from </a:t>
            </a:r>
            <a:r>
              <a:rPr kumimoji="1" lang="en-US" altLang="en-US" sz="2000" i="1"/>
              <a:t>instructor</a:t>
            </a:r>
            <a:r>
              <a:rPr kumimoji="1" lang="en-US" altLang="en-US" sz="2000"/>
              <a:t>);</a:t>
            </a:r>
          </a:p>
        </p:txBody>
      </p:sp>
      <p:sp>
        <p:nvSpPr>
          <p:cNvPr id="468997" name="Text Box 5"/>
          <p:cNvSpPr txBox="1">
            <a:spLocks noChangeArrowheads="1"/>
          </p:cNvSpPr>
          <p:nvPr/>
        </p:nvSpPr>
        <p:spPr bwMode="auto">
          <a:xfrm>
            <a:off x="676275" y="3521075"/>
            <a:ext cx="8140700" cy="20304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93750" indent="-3365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02393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lvl="1">
              <a:spcBef>
                <a:spcPct val="35000"/>
              </a:spcBef>
              <a:buClr>
                <a:schemeClr val="bg2"/>
              </a:buClr>
              <a:buSzPct val="80000"/>
              <a:buFont typeface="Monotype Sorts" charset="2"/>
              <a:buChar char="l"/>
            </a:pPr>
            <a:r>
              <a:rPr kumimoji="1" lang="en-US" altLang="en-US" sz="1800">
                <a:latin typeface="Helvetica" panose="020B0504020202030204" pitchFamily="34" charset="0"/>
              </a:rPr>
              <a:t>Problem:  as we delete tuples from deposit, the average salary changes</a:t>
            </a:r>
          </a:p>
          <a:p>
            <a:pPr lvl="1">
              <a:spcBef>
                <a:spcPct val="35000"/>
              </a:spcBef>
              <a:buClr>
                <a:schemeClr val="bg2"/>
              </a:buClr>
              <a:buSzPct val="80000"/>
              <a:buFont typeface="Monotype Sorts" charset="2"/>
              <a:buChar char="l"/>
            </a:pPr>
            <a:r>
              <a:rPr kumimoji="1" lang="en-US" altLang="en-US" sz="1800">
                <a:latin typeface="Helvetica" panose="020B0504020202030204" pitchFamily="34" charset="0"/>
              </a:rPr>
              <a:t>Solution used in SQL:</a:t>
            </a:r>
          </a:p>
          <a:p>
            <a:pPr lvl="1">
              <a:spcBef>
                <a:spcPct val="35000"/>
              </a:spcBef>
              <a:buClr>
                <a:srgbClr val="CC6600"/>
              </a:buClr>
              <a:buSzPct val="105000"/>
              <a:buFont typeface="Monotype Sorts" charset="2"/>
              <a:buNone/>
            </a:pPr>
            <a:r>
              <a:rPr kumimoji="1" lang="en-US" altLang="en-US" sz="1800">
                <a:latin typeface="Helvetica" panose="020B0504020202030204" pitchFamily="34" charset="0"/>
              </a:rPr>
              <a:t>       1.   First, compute </a:t>
            </a:r>
            <a:r>
              <a:rPr kumimoji="1" lang="en-US" altLang="en-US" sz="1800" b="1">
                <a:latin typeface="Helvetica" panose="020B0504020202030204" pitchFamily="34" charset="0"/>
              </a:rPr>
              <a:t>avg</a:t>
            </a:r>
            <a:r>
              <a:rPr kumimoji="1" lang="en-US" altLang="en-US" sz="1800">
                <a:latin typeface="Helvetica" panose="020B0504020202030204" pitchFamily="34" charset="0"/>
              </a:rPr>
              <a:t> salary and find all tuples to delete</a:t>
            </a:r>
          </a:p>
          <a:p>
            <a:pPr lvl="1">
              <a:spcBef>
                <a:spcPct val="35000"/>
              </a:spcBef>
              <a:buClr>
                <a:srgbClr val="CC6600"/>
              </a:buClr>
              <a:buSzPct val="105000"/>
              <a:buFont typeface="Monotype Sorts" charset="2"/>
              <a:buNone/>
            </a:pPr>
            <a:r>
              <a:rPr kumimoji="1" lang="en-US" altLang="en-US" sz="1800">
                <a:latin typeface="Helvetica" panose="020B0504020202030204" pitchFamily="34" charset="0"/>
              </a:rPr>
              <a:t>       2.   Next, delete all tuples found above (without recomputing </a:t>
            </a:r>
            <a:r>
              <a:rPr kumimoji="1" lang="en-US" altLang="en-US" sz="1800" b="1">
                <a:latin typeface="Helvetica" panose="020B0504020202030204" pitchFamily="34" charset="0"/>
              </a:rPr>
              <a:t>avg</a:t>
            </a:r>
            <a:r>
              <a:rPr kumimoji="1" lang="en-US" altLang="en-US" sz="1800">
                <a:latin typeface="Helvetica" panose="020B0504020202030204" pitchFamily="34" charset="0"/>
              </a:rPr>
              <a:t> or   </a:t>
            </a:r>
            <a:br>
              <a:rPr kumimoji="1" lang="en-US" altLang="en-US" sz="1800">
                <a:latin typeface="Helvetica" panose="020B0504020202030204" pitchFamily="34" charset="0"/>
              </a:rPr>
            </a:br>
            <a:r>
              <a:rPr kumimoji="1" lang="en-US" altLang="en-US" sz="1800">
                <a:latin typeface="Helvetica" panose="020B0504020202030204" pitchFamily="34" charset="0"/>
              </a:rPr>
              <a:t>       retesting the tuples)</a:t>
            </a:r>
            <a:endParaRPr lang="en-US" altLang="en-US" sz="1800"/>
          </a:p>
        </p:txBody>
      </p:sp>
    </p:spTree>
    <p:extLst>
      <p:ext uri="{BB962C8B-B14F-4D97-AF65-F5344CB8AC3E}">
        <p14:creationId xmlns:p14="http://schemas.microsoft.com/office/powerpoint/2010/main" val="9184551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8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8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8996" grpId="0" autoUpdateAnimBg="0"/>
      <p:bldP spid="468997" grpId="0" autoUpdateAnimBg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42" name="Rectangle 2"/>
          <p:cNvSpPr>
            <a:spLocks noGrp="1" noChangeArrowheads="1"/>
          </p:cNvSpPr>
          <p:nvPr>
            <p:ph type="title"/>
          </p:nvPr>
        </p:nvSpPr>
        <p:spPr>
          <a:xfrm>
            <a:off x="969963" y="177800"/>
            <a:ext cx="8077200" cy="457200"/>
          </a:xfrm>
        </p:spPr>
        <p:txBody>
          <a:bodyPr/>
          <a:lstStyle/>
          <a:p>
            <a:r>
              <a:rPr lang="en-US" altLang="en-US"/>
              <a:t>Modification of the Database – Insertion</a:t>
            </a:r>
          </a:p>
        </p:txBody>
      </p:sp>
      <p:sp>
        <p:nvSpPr>
          <p:cNvPr id="4710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39775" y="1106488"/>
            <a:ext cx="7848600" cy="4876800"/>
          </a:xfrm>
        </p:spPr>
        <p:txBody>
          <a:bodyPr/>
          <a:lstStyle/>
          <a:p>
            <a:pPr>
              <a:tabLst>
                <a:tab pos="1204913" algn="l"/>
                <a:tab pos="1890713" algn="l"/>
              </a:tabLst>
            </a:pPr>
            <a:r>
              <a:rPr lang="en-US" altLang="en-US"/>
              <a:t>Add a new tuple to </a:t>
            </a:r>
            <a:r>
              <a:rPr lang="en-US" altLang="en-US" i="1"/>
              <a:t>course</a:t>
            </a:r>
          </a:p>
          <a:p>
            <a:pPr>
              <a:buFont typeface="Monotype Sorts" charset="2"/>
              <a:buNone/>
              <a:tabLst>
                <a:tab pos="1204913" algn="l"/>
                <a:tab pos="1890713" algn="l"/>
              </a:tabLst>
            </a:pPr>
            <a:r>
              <a:rPr lang="en-US" altLang="en-US" b="1"/>
              <a:t>	      insert into </a:t>
            </a:r>
            <a:r>
              <a:rPr lang="en-US" altLang="en-US" i="1"/>
              <a:t>course</a:t>
            </a:r>
            <a:br>
              <a:rPr lang="en-US" altLang="en-US" i="1"/>
            </a:br>
            <a:r>
              <a:rPr lang="en-US" altLang="en-US" i="1"/>
              <a:t>             </a:t>
            </a:r>
            <a:r>
              <a:rPr lang="en-US" altLang="en-US" b="1"/>
              <a:t>values </a:t>
            </a:r>
            <a:r>
              <a:rPr lang="en-US" altLang="en-US"/>
              <a:t>(’CS-437’, ’Database Systems’, ’Comp. Sci.’, 4);</a:t>
            </a:r>
          </a:p>
          <a:p>
            <a:pPr>
              <a:buFont typeface="Monotype Sorts" charset="2"/>
              <a:buNone/>
              <a:tabLst>
                <a:tab pos="1204913" algn="l"/>
                <a:tab pos="1890713" algn="l"/>
              </a:tabLst>
            </a:pPr>
            <a:endParaRPr lang="en-US" altLang="en-US"/>
          </a:p>
          <a:p>
            <a:pPr>
              <a:tabLst>
                <a:tab pos="1204913" algn="l"/>
                <a:tab pos="1890713" algn="l"/>
              </a:tabLst>
            </a:pPr>
            <a:r>
              <a:rPr lang="en-US" altLang="en-US"/>
              <a:t>or equivalently</a:t>
            </a:r>
            <a:br>
              <a:rPr lang="en-US" altLang="en-US"/>
            </a:br>
            <a:r>
              <a:rPr lang="en-US" altLang="en-US"/>
              <a:t>      </a:t>
            </a:r>
            <a:r>
              <a:rPr lang="en-US" altLang="en-US" b="1"/>
              <a:t>insert into </a:t>
            </a:r>
            <a:r>
              <a:rPr lang="en-US" altLang="en-US" i="1"/>
              <a:t>course </a:t>
            </a:r>
            <a:r>
              <a:rPr lang="en-US" altLang="en-US"/>
              <a:t>(</a:t>
            </a:r>
            <a:r>
              <a:rPr lang="en-US" altLang="en-US" i="1"/>
              <a:t>course_id</a:t>
            </a:r>
            <a:r>
              <a:rPr lang="en-US" altLang="en-US"/>
              <a:t>, </a:t>
            </a:r>
            <a:r>
              <a:rPr lang="en-US" altLang="en-US" i="1"/>
              <a:t>title</a:t>
            </a:r>
            <a:r>
              <a:rPr lang="en-US" altLang="en-US"/>
              <a:t>, </a:t>
            </a:r>
            <a:r>
              <a:rPr lang="en-US" altLang="en-US" i="1"/>
              <a:t>dept_name</a:t>
            </a:r>
            <a:r>
              <a:rPr lang="en-US" altLang="en-US"/>
              <a:t>, </a:t>
            </a:r>
            <a:r>
              <a:rPr lang="en-US" altLang="en-US" i="1"/>
              <a:t>credits</a:t>
            </a:r>
            <a:r>
              <a:rPr lang="en-US" altLang="en-US"/>
              <a:t>)</a:t>
            </a:r>
            <a:br>
              <a:rPr lang="en-US" altLang="en-US"/>
            </a:br>
            <a:r>
              <a:rPr lang="en-US" altLang="en-US"/>
              <a:t>             </a:t>
            </a:r>
            <a:r>
              <a:rPr lang="en-US" altLang="en-US" b="1"/>
              <a:t>values </a:t>
            </a:r>
            <a:r>
              <a:rPr lang="en-US" altLang="en-US"/>
              <a:t>(’CS-437’, ’Database Systems’, ’Comp. Sci.’, 4);</a:t>
            </a:r>
          </a:p>
          <a:p>
            <a:pPr>
              <a:buFont typeface="Monotype Sorts" charset="2"/>
              <a:buNone/>
              <a:tabLst>
                <a:tab pos="1204913" algn="l"/>
                <a:tab pos="1890713" algn="l"/>
              </a:tabLst>
            </a:pPr>
            <a:endParaRPr lang="en-US" altLang="en-US"/>
          </a:p>
          <a:p>
            <a:pPr>
              <a:tabLst>
                <a:tab pos="1204913" algn="l"/>
                <a:tab pos="1890713" algn="l"/>
              </a:tabLst>
            </a:pPr>
            <a:r>
              <a:rPr lang="en-US" altLang="en-US"/>
              <a:t>Add a new tuple to </a:t>
            </a:r>
            <a:r>
              <a:rPr lang="en-US" altLang="en-US" i="1"/>
              <a:t>student </a:t>
            </a:r>
            <a:r>
              <a:rPr lang="en-US" altLang="en-US"/>
              <a:t>with </a:t>
            </a:r>
            <a:r>
              <a:rPr lang="en-US" altLang="en-US" i="1"/>
              <a:t>tot_creds </a:t>
            </a:r>
            <a:r>
              <a:rPr lang="en-US" altLang="en-US"/>
              <a:t>set to null</a:t>
            </a:r>
          </a:p>
          <a:p>
            <a:pPr>
              <a:buFont typeface="Monotype Sorts" charset="2"/>
              <a:buNone/>
              <a:tabLst>
                <a:tab pos="1204913" algn="l"/>
                <a:tab pos="1890713" algn="l"/>
              </a:tabLst>
            </a:pPr>
            <a:r>
              <a:rPr lang="en-US" altLang="en-US" b="1"/>
              <a:t>	      insert into </a:t>
            </a:r>
            <a:r>
              <a:rPr lang="en-US" altLang="en-US" i="1"/>
              <a:t>student</a:t>
            </a:r>
            <a:br>
              <a:rPr lang="en-US" altLang="en-US" i="1"/>
            </a:br>
            <a:r>
              <a:rPr lang="en-US" altLang="en-US" i="1"/>
              <a:t>             </a:t>
            </a:r>
            <a:r>
              <a:rPr lang="en-US" altLang="en-US" b="1"/>
              <a:t>values </a:t>
            </a:r>
            <a:r>
              <a:rPr lang="en-US" altLang="en-US"/>
              <a:t>(’3003’, ’Green’, ’Finance’, </a:t>
            </a:r>
            <a:r>
              <a:rPr lang="en-US" altLang="en-US" i="1"/>
              <a:t>null</a:t>
            </a:r>
            <a:r>
              <a:rPr lang="en-US" altLang="en-US"/>
              <a:t>);</a:t>
            </a:r>
          </a:p>
          <a:p>
            <a:pPr>
              <a:buFont typeface="Monotype Sorts" charset="2"/>
              <a:buNone/>
              <a:tabLst>
                <a:tab pos="1204913" algn="l"/>
                <a:tab pos="1890713" algn="l"/>
              </a:tabLst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92787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090" name="Rectangle 2"/>
          <p:cNvSpPr>
            <a:spLocks noGrp="1" noChangeArrowheads="1"/>
          </p:cNvSpPr>
          <p:nvPr>
            <p:ph type="title"/>
          </p:nvPr>
        </p:nvSpPr>
        <p:spPr>
          <a:xfrm>
            <a:off x="889000" y="203200"/>
            <a:ext cx="8058150" cy="457200"/>
          </a:xfrm>
        </p:spPr>
        <p:txBody>
          <a:bodyPr/>
          <a:lstStyle/>
          <a:p>
            <a:r>
              <a:rPr lang="en-US" altLang="en-US"/>
              <a:t>Modification of the Database – Insertion</a:t>
            </a:r>
          </a:p>
        </p:txBody>
      </p:sp>
      <p:sp>
        <p:nvSpPr>
          <p:cNvPr id="4730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39775" y="1106488"/>
            <a:ext cx="8115300" cy="5270500"/>
          </a:xfrm>
        </p:spPr>
        <p:txBody>
          <a:bodyPr/>
          <a:lstStyle/>
          <a:p>
            <a:pPr>
              <a:tabLst>
                <a:tab pos="908050" algn="l"/>
              </a:tabLst>
            </a:pPr>
            <a:r>
              <a:rPr lang="en-US" altLang="en-US"/>
              <a:t>Add all instructors to the </a:t>
            </a:r>
            <a:r>
              <a:rPr lang="en-US" altLang="en-US" i="1"/>
              <a:t>student</a:t>
            </a:r>
            <a:r>
              <a:rPr lang="en-US" altLang="en-US"/>
              <a:t> relation with tot_creds set to 0</a:t>
            </a:r>
          </a:p>
          <a:p>
            <a:pPr>
              <a:buFont typeface="Monotype Sorts" charset="2"/>
              <a:buNone/>
              <a:tabLst>
                <a:tab pos="908050" algn="l"/>
              </a:tabLst>
            </a:pPr>
            <a:r>
              <a:rPr lang="en-US" altLang="en-US"/>
              <a:t>	    </a:t>
            </a:r>
            <a:r>
              <a:rPr lang="en-US" altLang="en-US" b="1"/>
              <a:t>insert into </a:t>
            </a:r>
            <a:r>
              <a:rPr lang="en-US" altLang="en-US" i="1"/>
              <a:t>student</a:t>
            </a:r>
            <a:br>
              <a:rPr lang="en-US" altLang="en-US" i="1"/>
            </a:br>
            <a:r>
              <a:rPr lang="en-US" altLang="en-US" i="1"/>
              <a:t>	</a:t>
            </a:r>
            <a:r>
              <a:rPr lang="en-US" altLang="en-US" b="1"/>
              <a:t>select </a:t>
            </a:r>
            <a:r>
              <a:rPr lang="en-US" altLang="en-US" i="1"/>
              <a:t>ID, name, dept_name, 0</a:t>
            </a:r>
            <a:br>
              <a:rPr lang="en-US" altLang="en-US" i="1"/>
            </a:br>
            <a:r>
              <a:rPr lang="en-US" altLang="en-US" i="1"/>
              <a:t>         </a:t>
            </a:r>
            <a:r>
              <a:rPr lang="en-US" altLang="en-US" b="1"/>
              <a:t>from </a:t>
            </a:r>
            <a:r>
              <a:rPr lang="en-US" altLang="en-US" i="1"/>
              <a:t>  instructor</a:t>
            </a:r>
          </a:p>
          <a:p>
            <a:pPr>
              <a:tabLst>
                <a:tab pos="908050" algn="l"/>
              </a:tabLst>
            </a:pPr>
            <a:r>
              <a:rPr lang="en-US" altLang="en-US"/>
              <a:t>The </a:t>
            </a:r>
            <a:r>
              <a:rPr lang="en-US" altLang="en-US" b="1"/>
              <a:t>select from where</a:t>
            </a:r>
            <a:r>
              <a:rPr lang="en-US" altLang="en-US"/>
              <a:t> statement is evaluated fully before any of its results are inserted into the relation (otherwise queries like</a:t>
            </a:r>
            <a:br>
              <a:rPr lang="en-US" altLang="en-US"/>
            </a:br>
            <a:r>
              <a:rPr lang="en-US" altLang="en-US"/>
              <a:t>	</a:t>
            </a:r>
            <a:r>
              <a:rPr lang="en-US" altLang="en-US" b="1"/>
              <a:t>insert into</a:t>
            </a:r>
            <a:r>
              <a:rPr lang="en-US" altLang="en-US"/>
              <a:t> </a:t>
            </a:r>
            <a:r>
              <a:rPr lang="en-US" altLang="en-US" i="1"/>
              <a:t>table</a:t>
            </a:r>
            <a:r>
              <a:rPr lang="en-US" altLang="en-US"/>
              <a:t>1 </a:t>
            </a:r>
            <a:r>
              <a:rPr lang="en-US" altLang="en-US" b="1"/>
              <a:t>select</a:t>
            </a:r>
            <a:r>
              <a:rPr lang="en-US" altLang="en-US"/>
              <a:t> * </a:t>
            </a:r>
            <a:r>
              <a:rPr lang="en-US" altLang="en-US" b="1"/>
              <a:t>from</a:t>
            </a:r>
            <a:r>
              <a:rPr lang="en-US" altLang="en-US"/>
              <a:t> </a:t>
            </a:r>
            <a:r>
              <a:rPr lang="en-US" altLang="en-US" i="1"/>
              <a:t>table</a:t>
            </a:r>
            <a:r>
              <a:rPr lang="en-US" altLang="en-US"/>
              <a:t>1</a:t>
            </a:r>
            <a:br>
              <a:rPr lang="en-US" altLang="en-US"/>
            </a:br>
            <a:r>
              <a:rPr lang="en-US" altLang="en-US"/>
              <a:t>would cause problems)</a:t>
            </a:r>
          </a:p>
        </p:txBody>
      </p:sp>
    </p:spTree>
    <p:extLst>
      <p:ext uri="{BB962C8B-B14F-4D97-AF65-F5344CB8AC3E}">
        <p14:creationId xmlns:p14="http://schemas.microsoft.com/office/powerpoint/2010/main" val="12825959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138" name="Rectangle 2"/>
          <p:cNvSpPr>
            <a:spLocks noGrp="1" noChangeArrowheads="1"/>
          </p:cNvSpPr>
          <p:nvPr>
            <p:ph type="title"/>
          </p:nvPr>
        </p:nvSpPr>
        <p:spPr>
          <a:xfrm>
            <a:off x="881063" y="38100"/>
            <a:ext cx="8077200" cy="609600"/>
          </a:xfrm>
        </p:spPr>
        <p:txBody>
          <a:bodyPr/>
          <a:lstStyle/>
          <a:p>
            <a:r>
              <a:rPr lang="en-US" altLang="en-US"/>
              <a:t>Modification of the Database – Updates</a:t>
            </a:r>
          </a:p>
        </p:txBody>
      </p:sp>
      <p:sp>
        <p:nvSpPr>
          <p:cNvPr id="4751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39775" y="1106488"/>
            <a:ext cx="7848600" cy="4876800"/>
          </a:xfrm>
        </p:spPr>
        <p:txBody>
          <a:bodyPr/>
          <a:lstStyle/>
          <a:p>
            <a:pPr>
              <a:tabLst>
                <a:tab pos="2336800" algn="l"/>
              </a:tabLst>
            </a:pPr>
            <a:r>
              <a:rPr lang="en-US" altLang="en-US"/>
              <a:t>Increase salaries of instructors whose salary is over $100,000 by 3%, and all others receive a 5% raise</a:t>
            </a:r>
          </a:p>
          <a:p>
            <a:pPr lvl="1">
              <a:tabLst>
                <a:tab pos="2336800" algn="l"/>
              </a:tabLst>
            </a:pPr>
            <a:r>
              <a:rPr lang="en-US" altLang="en-US"/>
              <a:t>Write two </a:t>
            </a:r>
            <a:r>
              <a:rPr lang="en-US" altLang="en-US" b="1"/>
              <a:t>update </a:t>
            </a:r>
            <a:r>
              <a:rPr lang="en-US" altLang="en-US"/>
              <a:t>statements:</a:t>
            </a:r>
          </a:p>
          <a:p>
            <a:pPr lvl="1">
              <a:buFont typeface="Monotype Sorts" charset="2"/>
              <a:buNone/>
              <a:tabLst>
                <a:tab pos="2336800" algn="l"/>
              </a:tabLst>
            </a:pPr>
            <a:r>
              <a:rPr lang="en-US" altLang="en-US"/>
              <a:t>	           </a:t>
            </a:r>
            <a:r>
              <a:rPr lang="en-US" altLang="en-US" b="1">
                <a:sym typeface="Symbol" panose="05050102010706020507" pitchFamily="18" charset="2"/>
              </a:rPr>
              <a:t>update </a:t>
            </a:r>
            <a:r>
              <a:rPr lang="en-US" altLang="en-US" i="1">
                <a:sym typeface="Symbol" panose="05050102010706020507" pitchFamily="18" charset="2"/>
              </a:rPr>
              <a:t>instructor</a:t>
            </a:r>
            <a:br>
              <a:rPr lang="en-US" altLang="en-US" i="1">
                <a:sym typeface="Symbol" panose="05050102010706020507" pitchFamily="18" charset="2"/>
              </a:rPr>
            </a:br>
            <a:r>
              <a:rPr lang="en-US" altLang="en-US" i="1">
                <a:sym typeface="Symbol" panose="05050102010706020507" pitchFamily="18" charset="2"/>
              </a:rPr>
              <a:t>               </a:t>
            </a:r>
            <a:r>
              <a:rPr lang="en-US" altLang="en-US" b="1">
                <a:sym typeface="Symbol" panose="05050102010706020507" pitchFamily="18" charset="2"/>
              </a:rPr>
              <a:t>set </a:t>
            </a:r>
            <a:r>
              <a:rPr lang="en-US" altLang="en-US" i="1">
                <a:sym typeface="Symbol" panose="05050102010706020507" pitchFamily="18" charset="2"/>
              </a:rPr>
              <a:t>salary </a:t>
            </a:r>
            <a:r>
              <a:rPr lang="en-US" altLang="en-US">
                <a:sym typeface="Symbol" panose="05050102010706020507" pitchFamily="18" charset="2"/>
              </a:rPr>
              <a:t>= </a:t>
            </a:r>
            <a:r>
              <a:rPr lang="en-US" altLang="en-US" i="1">
                <a:sym typeface="Symbol" panose="05050102010706020507" pitchFamily="18" charset="2"/>
              </a:rPr>
              <a:t>salary </a:t>
            </a:r>
            <a:r>
              <a:rPr lang="en-US" altLang="en-US">
                <a:sym typeface="Symbol" panose="05050102010706020507" pitchFamily="18" charset="2"/>
              </a:rPr>
              <a:t>* 1.03</a:t>
            </a:r>
            <a:br>
              <a:rPr lang="en-US" altLang="en-US">
                <a:sym typeface="Symbol" panose="05050102010706020507" pitchFamily="18" charset="2"/>
              </a:rPr>
            </a:br>
            <a:r>
              <a:rPr lang="en-US" altLang="en-US">
                <a:sym typeface="Symbol" panose="05050102010706020507" pitchFamily="18" charset="2"/>
              </a:rPr>
              <a:t>               </a:t>
            </a:r>
            <a:r>
              <a:rPr lang="en-US" altLang="en-US" b="1">
                <a:sym typeface="Symbol" panose="05050102010706020507" pitchFamily="18" charset="2"/>
              </a:rPr>
              <a:t>where </a:t>
            </a:r>
            <a:r>
              <a:rPr lang="en-US" altLang="en-US" i="1">
                <a:sym typeface="Symbol" panose="05050102010706020507" pitchFamily="18" charset="2"/>
              </a:rPr>
              <a:t>salary </a:t>
            </a:r>
            <a:r>
              <a:rPr lang="en-US" altLang="en-US">
                <a:sym typeface="Symbol" panose="05050102010706020507" pitchFamily="18" charset="2"/>
              </a:rPr>
              <a:t>&gt; 100000;</a:t>
            </a:r>
            <a:br>
              <a:rPr lang="en-US" altLang="en-US">
                <a:sym typeface="Symbol" panose="05050102010706020507" pitchFamily="18" charset="2"/>
              </a:rPr>
            </a:br>
            <a:r>
              <a:rPr lang="en-US" altLang="en-US">
                <a:sym typeface="Symbol" panose="05050102010706020507" pitchFamily="18" charset="2"/>
              </a:rPr>
              <a:t>           </a:t>
            </a:r>
            <a:r>
              <a:rPr lang="en-US" altLang="en-US" b="1">
                <a:sym typeface="Symbol" panose="05050102010706020507" pitchFamily="18" charset="2"/>
              </a:rPr>
              <a:t>update </a:t>
            </a:r>
            <a:r>
              <a:rPr lang="en-US" altLang="en-US" i="1">
                <a:sym typeface="Symbol" panose="05050102010706020507" pitchFamily="18" charset="2"/>
              </a:rPr>
              <a:t>instructor</a:t>
            </a:r>
            <a:br>
              <a:rPr lang="en-US" altLang="en-US" i="1">
                <a:sym typeface="Symbol" panose="05050102010706020507" pitchFamily="18" charset="2"/>
              </a:rPr>
            </a:br>
            <a:r>
              <a:rPr lang="en-US" altLang="en-US" i="1">
                <a:sym typeface="Symbol" panose="05050102010706020507" pitchFamily="18" charset="2"/>
              </a:rPr>
              <a:t>                </a:t>
            </a:r>
            <a:r>
              <a:rPr lang="en-US" altLang="en-US" b="1">
                <a:sym typeface="Symbol" panose="05050102010706020507" pitchFamily="18" charset="2"/>
              </a:rPr>
              <a:t>set </a:t>
            </a:r>
            <a:r>
              <a:rPr lang="en-US" altLang="en-US" i="1">
                <a:sym typeface="Symbol" panose="05050102010706020507" pitchFamily="18" charset="2"/>
              </a:rPr>
              <a:t>salary </a:t>
            </a:r>
            <a:r>
              <a:rPr lang="en-US" altLang="en-US">
                <a:sym typeface="Symbol" panose="05050102010706020507" pitchFamily="18" charset="2"/>
              </a:rPr>
              <a:t>= </a:t>
            </a:r>
            <a:r>
              <a:rPr lang="en-US" altLang="en-US" i="1">
                <a:sym typeface="Symbol" panose="05050102010706020507" pitchFamily="18" charset="2"/>
              </a:rPr>
              <a:t>salary </a:t>
            </a:r>
            <a:r>
              <a:rPr lang="en-US" altLang="en-US">
                <a:sym typeface="Symbol" panose="05050102010706020507" pitchFamily="18" charset="2"/>
              </a:rPr>
              <a:t>* 1.05</a:t>
            </a:r>
            <a:br>
              <a:rPr lang="en-US" altLang="en-US">
                <a:sym typeface="Symbol" panose="05050102010706020507" pitchFamily="18" charset="2"/>
              </a:rPr>
            </a:br>
            <a:r>
              <a:rPr lang="en-US" altLang="en-US">
                <a:sym typeface="Symbol" panose="05050102010706020507" pitchFamily="18" charset="2"/>
              </a:rPr>
              <a:t>                </a:t>
            </a:r>
            <a:r>
              <a:rPr lang="en-US" altLang="en-US" b="1">
                <a:sym typeface="Symbol" panose="05050102010706020507" pitchFamily="18" charset="2"/>
              </a:rPr>
              <a:t>where </a:t>
            </a:r>
            <a:r>
              <a:rPr lang="en-US" altLang="en-US" i="1">
                <a:sym typeface="Symbol" panose="05050102010706020507" pitchFamily="18" charset="2"/>
              </a:rPr>
              <a:t>salary </a:t>
            </a:r>
            <a:r>
              <a:rPr lang="en-US" altLang="en-US">
                <a:sym typeface="Symbol" panose="05050102010706020507" pitchFamily="18" charset="2"/>
              </a:rPr>
              <a:t>&lt;= 100000;</a:t>
            </a:r>
          </a:p>
          <a:p>
            <a:pPr lvl="1">
              <a:tabLst>
                <a:tab pos="2336800" algn="l"/>
              </a:tabLst>
            </a:pPr>
            <a:r>
              <a:rPr lang="en-US" altLang="en-US">
                <a:sym typeface="Symbol" panose="05050102010706020507" pitchFamily="18" charset="2"/>
              </a:rPr>
              <a:t>The order is important</a:t>
            </a:r>
          </a:p>
          <a:p>
            <a:pPr lvl="1">
              <a:tabLst>
                <a:tab pos="2336800" algn="l"/>
              </a:tabLst>
            </a:pPr>
            <a:r>
              <a:rPr lang="en-US" altLang="en-US">
                <a:sym typeface="Symbol" panose="05050102010706020507" pitchFamily="18" charset="2"/>
              </a:rPr>
              <a:t>Can be done better using the </a:t>
            </a:r>
            <a:r>
              <a:rPr lang="en-US" altLang="en-US" b="1">
                <a:sym typeface="Symbol" panose="05050102010706020507" pitchFamily="18" charset="2"/>
              </a:rPr>
              <a:t>case </a:t>
            </a:r>
            <a:r>
              <a:rPr lang="en-US" altLang="en-US">
                <a:sym typeface="Symbol" panose="05050102010706020507" pitchFamily="18" charset="2"/>
              </a:rPr>
              <a:t>statement (next slide)</a:t>
            </a:r>
          </a:p>
        </p:txBody>
      </p:sp>
    </p:spTree>
    <p:extLst>
      <p:ext uri="{BB962C8B-B14F-4D97-AF65-F5344CB8AC3E}">
        <p14:creationId xmlns:p14="http://schemas.microsoft.com/office/powerpoint/2010/main" val="23401234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6F9FA"/>
          </a:solidFill>
          <a:ln>
            <a:solidFill>
              <a:srgbClr val="F6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743200" cy="384048"/>
          </a:xfrm>
          <a:prstGeom prst="roundRect">
            <a:avLst/>
          </a:prstGeom>
          <a:solidFill>
            <a:srgbClr val="DEF7EB"/>
          </a:solidFill>
          <a:ln>
            <a:solidFill>
              <a:srgbClr val="DEF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>
            <a:normAutofit/>
          </a:bodyPr>
          <a:lstStyle/>
          <a:p>
            <a:pPr algn="ctr">
              <a:defRPr sz="1200" b="1">
                <a:solidFill>
                  <a:srgbClr val="085461"/>
                </a:solidFill>
              </a:defRPr>
            </a:pPr>
            <a:r>
              <a:t>JOIN SESSION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51560"/>
            <a:ext cx="539496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D4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>
            <a:normAutofit/>
          </a:bodyPr>
          <a:lstStyle/>
          <a:p>
            <a:pPr algn="l">
              <a:defRPr sz="1800" b="1">
                <a:solidFill>
                  <a:srgbClr val="0F172A"/>
                </a:solidFill>
              </a:defRPr>
            </a:pPr>
            <a:r>
              <a:t>Session code: ________</a:t>
            </a:r>
            <a:br/>
            <a:br/>
            <a:r>
              <a:t>Join link:</a:t>
            </a:r>
            <a:br/>
            <a:r>
              <a:t>________</a:t>
            </a:r>
            <a:br/>
          </a:p>
        </p:txBody>
      </p:sp>
      <p:sp>
        <p:nvSpPr>
          <p:cNvPr id="5" name="Rounded Rectangle 4"/>
          <p:cNvSpPr/>
          <p:nvPr/>
        </p:nvSpPr>
        <p:spPr>
          <a:xfrm>
            <a:off x="6400800" y="1051560"/>
            <a:ext cx="201168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4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>
            <a:normAutofit/>
          </a:bodyPr>
          <a:lstStyle/>
          <a:p>
            <a:pPr algn="ctr">
              <a:defRPr sz="1600" b="1">
                <a:solidFill>
                  <a:srgbClr val="167784"/>
                </a:solidFill>
              </a:defRPr>
            </a:pPr>
            <a:r>
              <a:t>QR code</a:t>
            </a:r>
            <a:br/>
            <a:r>
              <a:t>placeholder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6F9FA"/>
          </a:solidFill>
          <a:ln>
            <a:solidFill>
              <a:srgbClr val="F6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743200" cy="384048"/>
          </a:xfrm>
          <a:prstGeom prst="roundRect">
            <a:avLst/>
          </a:prstGeom>
          <a:solidFill>
            <a:srgbClr val="DEF7EB"/>
          </a:solidFill>
          <a:ln>
            <a:solidFill>
              <a:srgbClr val="DEF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>
            <a:normAutofit/>
          </a:bodyPr>
          <a:lstStyle/>
          <a:p>
            <a:pPr algn="ctr">
              <a:defRPr sz="1200" b="1">
                <a:solidFill>
                  <a:srgbClr val="085461"/>
                </a:solidFill>
              </a:defRPr>
            </a:pPr>
            <a:r>
              <a:t>QUESTION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0" y="411480"/>
            <a:ext cx="2926080" cy="384048"/>
          </a:xfrm>
          <a:prstGeom prst="rect">
            <a:avLst/>
          </a:prstGeom>
          <a:noFill/>
        </p:spPr>
        <p:txBody>
          <a:bodyPr wrap="square" lIns="164592" rIns="164592" tIns="73152" bIns="73152">
            <a:normAutofit/>
          </a:bodyPr>
          <a:lstStyle/>
          <a:p>
            <a:pPr algn="r">
              <a:defRPr sz="1100" b="1">
                <a:solidFill>
                  <a:srgbClr val="475569"/>
                </a:solidFill>
              </a:defRPr>
            </a:pPr>
            <a:r>
              <a:t>Apply | Hard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051560"/>
            <a:ext cx="768096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4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>
            <a:normAutofit/>
          </a:bodyPr>
          <a:lstStyle/>
          <a:p>
            <a:pPr algn="l">
              <a:defRPr sz="2400" b="1">
                <a:solidFill>
                  <a:srgbClr val="0F172A"/>
                </a:solidFill>
              </a:defRPr>
            </a:pPr>
            <a:r>
              <a:t>Which statement correctly describes the concept of a relation schema?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697480"/>
            <a:ext cx="3739896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4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>
            <a:normAutofit/>
          </a:bodyPr>
          <a:lstStyle/>
          <a:p>
            <a:pPr algn="l">
              <a:defRPr sz="1600" b="1">
                <a:solidFill>
                  <a:srgbClr val="1E293B"/>
                </a:solidFill>
              </a:defRPr>
            </a:pPr>
            <a:r>
              <a:t>A. attributes (or columns) tuples (or rows) Data is stored in tables we call relations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72584" y="2697480"/>
            <a:ext cx="3739896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4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>
            <a:normAutofit/>
          </a:bodyPr>
          <a:lstStyle/>
          <a:p>
            <a:pPr algn="l">
              <a:defRPr sz="1600" b="1">
                <a:solidFill>
                  <a:srgbClr val="1E293B"/>
                </a:solidFill>
              </a:defRPr>
            </a:pPr>
            <a:r>
              <a:t>B. The Relational Model depends on storage order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611880"/>
            <a:ext cx="3739896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4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>
            <a:normAutofit/>
          </a:bodyPr>
          <a:lstStyle/>
          <a:p>
            <a:pPr algn="l">
              <a:defRPr sz="1600" b="1">
                <a:solidFill>
                  <a:srgbClr val="1E293B"/>
                </a:solidFill>
              </a:defRPr>
            </a:pPr>
            <a:r>
              <a:t>C. The Relational Model changes when examples are reordered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72584" y="3611880"/>
            <a:ext cx="3739896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4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>
            <a:normAutofit/>
          </a:bodyPr>
          <a:lstStyle/>
          <a:p>
            <a:pPr algn="l">
              <a:defRPr sz="1600" b="1">
                <a:solidFill>
                  <a:srgbClr val="1E293B"/>
                </a:solidFill>
              </a:defRPr>
            </a:pPr>
            <a:r>
              <a:t>D. The Relational Model is defined by one sample value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63640"/>
            <a:ext cx="7680960" cy="256032"/>
          </a:xfrm>
          <a:prstGeom prst="rect">
            <a:avLst/>
          </a:prstGeom>
          <a:noFill/>
        </p:spPr>
        <p:txBody>
          <a:bodyPr wrap="square" lIns="164592" rIns="164592" tIns="73152" bIns="73152">
            <a:normAutofit/>
          </a:bodyPr>
          <a:lstStyle/>
          <a:p>
            <a:pPr algn="ctr">
              <a:defRPr sz="1100" b="0">
                <a:solidFill>
                  <a:srgbClr val="475569"/>
                </a:solidFill>
              </a:defRPr>
            </a:pPr>
            <a:r>
              <a:t>Discuss, answer, then reveal feedback in the live session.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6F9FA"/>
          </a:solidFill>
          <a:ln>
            <a:solidFill>
              <a:srgbClr val="F6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743200" cy="384048"/>
          </a:xfrm>
          <a:prstGeom prst="roundRect">
            <a:avLst/>
          </a:prstGeom>
          <a:solidFill>
            <a:srgbClr val="DEF7EB"/>
          </a:solidFill>
          <a:ln>
            <a:solidFill>
              <a:srgbClr val="DEF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>
            <a:normAutofit/>
          </a:bodyPr>
          <a:lstStyle/>
          <a:p>
            <a:pPr algn="ctr">
              <a:defRPr sz="1200" b="1">
                <a:solidFill>
                  <a:srgbClr val="085461"/>
                </a:solidFill>
              </a:defRPr>
            </a:pPr>
            <a:r>
              <a:t>QUESTION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0" y="411480"/>
            <a:ext cx="2926080" cy="384048"/>
          </a:xfrm>
          <a:prstGeom prst="rect">
            <a:avLst/>
          </a:prstGeom>
          <a:noFill/>
        </p:spPr>
        <p:txBody>
          <a:bodyPr wrap="square" lIns="164592" rIns="164592" tIns="73152" bIns="73152">
            <a:normAutofit/>
          </a:bodyPr>
          <a:lstStyle/>
          <a:p>
            <a:pPr algn="r">
              <a:defRPr sz="1100" b="1">
                <a:solidFill>
                  <a:srgbClr val="475569"/>
                </a:solidFill>
              </a:defRPr>
            </a:pPr>
            <a:r>
              <a:t>Apply | Hard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051560"/>
            <a:ext cx="768096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4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>
            <a:normAutofit/>
          </a:bodyPr>
          <a:lstStyle/>
          <a:p>
            <a:pPr algn="l">
              <a:defRPr sz="2400" b="1">
                <a:solidFill>
                  <a:srgbClr val="0F172A"/>
                </a:solidFill>
              </a:defRPr>
            </a:pPr>
            <a:r>
              <a:t>Which statement correctly describes Attribute Types?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697480"/>
            <a:ext cx="3739896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4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>
            <a:normAutofit/>
          </a:bodyPr>
          <a:lstStyle/>
          <a:p>
            <a:pPr algn="l">
              <a:defRPr sz="1600" b="1">
                <a:solidFill>
                  <a:srgbClr val="1E293B"/>
                </a:solidFill>
              </a:defRPr>
            </a:pPr>
            <a:r>
              <a:t>A. Attribute Types depends on storage order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72584" y="2697480"/>
            <a:ext cx="3739896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4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>
            <a:normAutofit/>
          </a:bodyPr>
          <a:lstStyle/>
          <a:p>
            <a:pPr algn="l">
              <a:defRPr sz="1600" b="1">
                <a:solidFill>
                  <a:srgbClr val="1E293B"/>
                </a:solidFill>
              </a:defRPr>
            </a:pPr>
            <a:r>
              <a:t>B. Attribute Types changes when examples are reordered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611880"/>
            <a:ext cx="3739896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4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>
            <a:normAutofit/>
          </a:bodyPr>
          <a:lstStyle/>
          <a:p>
            <a:pPr algn="l">
              <a:defRPr sz="1600" b="1">
                <a:solidFill>
                  <a:srgbClr val="1E293B"/>
                </a:solidFill>
              </a:defRPr>
            </a:pPr>
            <a:r>
              <a:t>C. Attribute Types is defined by one sample value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72584" y="3611880"/>
            <a:ext cx="3739896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4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>
            <a:normAutofit/>
          </a:bodyPr>
          <a:lstStyle/>
          <a:p>
            <a:pPr algn="l">
              <a:defRPr sz="1600" b="1">
                <a:solidFill>
                  <a:srgbClr val="1E293B"/>
                </a:solidFill>
              </a:defRPr>
            </a:pPr>
            <a:r>
              <a:t>D. attributes (or columns) tuples (or rows) Data is stored in tables we call relations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63640"/>
            <a:ext cx="7680960" cy="256032"/>
          </a:xfrm>
          <a:prstGeom prst="rect">
            <a:avLst/>
          </a:prstGeom>
          <a:noFill/>
        </p:spPr>
        <p:txBody>
          <a:bodyPr wrap="square" lIns="164592" rIns="164592" tIns="73152" bIns="73152">
            <a:normAutofit/>
          </a:bodyPr>
          <a:lstStyle/>
          <a:p>
            <a:pPr algn="ctr">
              <a:defRPr sz="1100" b="0">
                <a:solidFill>
                  <a:srgbClr val="475569"/>
                </a:solidFill>
              </a:defRPr>
            </a:pPr>
            <a:r>
              <a:t>Discuss, answer, then reveal feedback in the live session.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6F9FA"/>
          </a:solidFill>
          <a:ln>
            <a:solidFill>
              <a:srgbClr val="F6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743200" cy="384048"/>
          </a:xfrm>
          <a:prstGeom prst="roundRect">
            <a:avLst/>
          </a:prstGeom>
          <a:solidFill>
            <a:srgbClr val="DEF7EB"/>
          </a:solidFill>
          <a:ln>
            <a:solidFill>
              <a:srgbClr val="DEF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>
            <a:normAutofit/>
          </a:bodyPr>
          <a:lstStyle/>
          <a:p>
            <a:pPr algn="ctr">
              <a:defRPr sz="1200" b="1">
                <a:solidFill>
                  <a:srgbClr val="085461"/>
                </a:solidFill>
              </a:defRPr>
            </a:pPr>
            <a:r>
              <a:t>QUESTION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0" y="411480"/>
            <a:ext cx="2926080" cy="384048"/>
          </a:xfrm>
          <a:prstGeom prst="rect">
            <a:avLst/>
          </a:prstGeom>
          <a:noFill/>
        </p:spPr>
        <p:txBody>
          <a:bodyPr wrap="square" lIns="164592" rIns="164592" tIns="73152" bIns="73152">
            <a:normAutofit/>
          </a:bodyPr>
          <a:lstStyle/>
          <a:p>
            <a:pPr algn="r">
              <a:defRPr sz="1100" b="1">
                <a:solidFill>
                  <a:srgbClr val="475569"/>
                </a:solidFill>
              </a:defRPr>
            </a:pPr>
            <a:r>
              <a:t>Analyze | Hard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051560"/>
            <a:ext cx="768096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4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>
            <a:normAutofit/>
          </a:bodyPr>
          <a:lstStyle/>
          <a:p>
            <a:pPr algn="l">
              <a:defRPr sz="2400" b="1">
                <a:solidFill>
                  <a:srgbClr val="0F172A"/>
                </a:solidFill>
              </a:defRPr>
            </a:pPr>
            <a:r>
              <a:t>Which statement correctly describes Relation Schema and Instance?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697480"/>
            <a:ext cx="3739896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4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>
            <a:normAutofit/>
          </a:bodyPr>
          <a:lstStyle/>
          <a:p>
            <a:pPr algn="l">
              <a:defRPr sz="1600" b="1">
                <a:solidFill>
                  <a:srgbClr val="1E293B"/>
                </a:solidFill>
              </a:defRPr>
            </a:pPr>
            <a:r>
              <a:t>A. A1, A2,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72584" y="2697480"/>
            <a:ext cx="3739896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4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>
            <a:normAutofit/>
          </a:bodyPr>
          <a:lstStyle/>
          <a:p>
            <a:pPr algn="l">
              <a:defRPr sz="1600" b="1">
                <a:solidFill>
                  <a:srgbClr val="1E293B"/>
                </a:solidFill>
              </a:defRPr>
            </a:pPr>
            <a:r>
              <a:t>B. Formally, given sets D1, D2,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611880"/>
            <a:ext cx="3739896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4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>
            <a:normAutofit/>
          </a:bodyPr>
          <a:lstStyle/>
          <a:p>
            <a:pPr algn="l">
              <a:defRPr sz="1600" b="1">
                <a:solidFill>
                  <a:srgbClr val="1E293B"/>
                </a:solidFill>
              </a:defRPr>
            </a:pPr>
            <a:r>
              <a:t>C. A1, A2, …, An are attributes R = (A1, A2, …, An ) is 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72584" y="3611880"/>
            <a:ext cx="3739896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4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>
            <a:normAutofit/>
          </a:bodyPr>
          <a:lstStyle/>
          <a:p>
            <a:pPr algn="l">
              <a:defRPr sz="1600" b="1">
                <a:solidFill>
                  <a:srgbClr val="1E293B"/>
                </a:solidFill>
              </a:defRPr>
            </a:pPr>
            <a:r>
              <a:t>D. Relation Schema and Instance depends on storage order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63640"/>
            <a:ext cx="7680960" cy="256032"/>
          </a:xfrm>
          <a:prstGeom prst="rect">
            <a:avLst/>
          </a:prstGeom>
          <a:noFill/>
        </p:spPr>
        <p:txBody>
          <a:bodyPr wrap="square" lIns="164592" rIns="164592" tIns="73152" bIns="73152">
            <a:normAutofit/>
          </a:bodyPr>
          <a:lstStyle/>
          <a:p>
            <a:pPr algn="ctr">
              <a:defRPr sz="1100" b="0">
                <a:solidFill>
                  <a:srgbClr val="475569"/>
                </a:solidFill>
              </a:defRPr>
            </a:pPr>
            <a:r>
              <a:t>Discuss, answer, then reveal feedback in the live session.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6F9FA"/>
          </a:solidFill>
          <a:ln>
            <a:solidFill>
              <a:srgbClr val="F6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743200" cy="384048"/>
          </a:xfrm>
          <a:prstGeom prst="roundRect">
            <a:avLst/>
          </a:prstGeom>
          <a:solidFill>
            <a:srgbClr val="DEF7EB"/>
          </a:solidFill>
          <a:ln>
            <a:solidFill>
              <a:srgbClr val="DEF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>
            <a:normAutofit/>
          </a:bodyPr>
          <a:lstStyle/>
          <a:p>
            <a:pPr algn="ctr">
              <a:defRPr sz="1200" b="1">
                <a:solidFill>
                  <a:srgbClr val="085461"/>
                </a:solidFill>
              </a:defRPr>
            </a:pPr>
            <a:r>
              <a:t>QUESTION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0" y="411480"/>
            <a:ext cx="2926080" cy="384048"/>
          </a:xfrm>
          <a:prstGeom prst="rect">
            <a:avLst/>
          </a:prstGeom>
          <a:noFill/>
        </p:spPr>
        <p:txBody>
          <a:bodyPr wrap="square" lIns="164592" rIns="164592" tIns="73152" bIns="73152">
            <a:normAutofit/>
          </a:bodyPr>
          <a:lstStyle/>
          <a:p>
            <a:pPr algn="r">
              <a:defRPr sz="1100" b="1">
                <a:solidFill>
                  <a:srgbClr val="475569"/>
                </a:solidFill>
              </a:defRPr>
            </a:pPr>
            <a:r>
              <a:t>Understand | Hard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051560"/>
            <a:ext cx="768096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4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>
            <a:normAutofit/>
          </a:bodyPr>
          <a:lstStyle/>
          <a:p>
            <a:pPr algn="l">
              <a:defRPr sz="2400" b="1">
                <a:solidFill>
                  <a:srgbClr val="0F172A"/>
                </a:solidFill>
              </a:defRPr>
            </a:pPr>
            <a:r>
              <a:t>In a few words or one short sentence, Explain why Database matters in this lesson.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788920"/>
            <a:ext cx="768096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4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>
            <a:normAutofit/>
          </a:bodyPr>
          <a:lstStyle/>
          <a:p>
            <a:pPr algn="ctr">
              <a:defRPr sz="1800" b="1">
                <a:solidFill>
                  <a:srgbClr val="167784"/>
                </a:solidFill>
              </a:defRPr>
            </a:pPr>
            <a:r>
              <a:t>Write your short answer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263640"/>
            <a:ext cx="7680960" cy="256032"/>
          </a:xfrm>
          <a:prstGeom prst="rect">
            <a:avLst/>
          </a:prstGeom>
          <a:noFill/>
        </p:spPr>
        <p:txBody>
          <a:bodyPr wrap="square" lIns="164592" rIns="164592" tIns="73152" bIns="73152">
            <a:normAutofit/>
          </a:bodyPr>
          <a:lstStyle/>
          <a:p>
            <a:pPr algn="ctr">
              <a:defRPr sz="1100" b="0">
                <a:solidFill>
                  <a:srgbClr val="475569"/>
                </a:solidFill>
              </a:defRPr>
            </a:pPr>
            <a:r>
              <a:t>Discuss, answer, then reveal feedback in the live session.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2_db-5-grey">
  <a:themeElements>
    <a:clrScheme name="">
      <a:dk1>
        <a:srgbClr val="000000"/>
      </a:dk1>
      <a:lt1>
        <a:srgbClr val="CCECFF"/>
      </a:lt1>
      <a:dk2>
        <a:srgbClr val="CC3300"/>
      </a:dk2>
      <a:lt2>
        <a:srgbClr val="666699"/>
      </a:lt2>
      <a:accent1>
        <a:srgbClr val="FFFFFF"/>
      </a:accent1>
      <a:accent2>
        <a:srgbClr val="CCCC00"/>
      </a:accent2>
      <a:accent3>
        <a:srgbClr val="E2F4FF"/>
      </a:accent3>
      <a:accent4>
        <a:srgbClr val="000000"/>
      </a:accent4>
      <a:accent5>
        <a:srgbClr val="FFFFFF"/>
      </a:accent5>
      <a:accent6>
        <a:srgbClr val="B9B900"/>
      </a:accent6>
      <a:hlink>
        <a:srgbClr val="FF9900"/>
      </a:hlink>
      <a:folHlink>
        <a:srgbClr val="FF9933"/>
      </a:folHlink>
    </a:clrScheme>
    <a:fontScheme name="2_db-5-grey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Helvetica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Helvetica" charset="0"/>
          </a:defRPr>
        </a:defPPr>
      </a:lstStyle>
    </a:lnDef>
  </a:objectDefaults>
  <a:extraClrSchemeLst>
    <a:extraClrScheme>
      <a:clrScheme name="2_db-5-grey 1">
        <a:dk1>
          <a:srgbClr val="333333"/>
        </a:dk1>
        <a:lt1>
          <a:srgbClr val="A9BDA9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D1DBD1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b-5-grey 2">
        <a:dk1>
          <a:srgbClr val="333333"/>
        </a:dk1>
        <a:lt1>
          <a:srgbClr val="FFFFFF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FFFFFF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b-5-grey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37373"/>
        </a:accent6>
        <a:hlink>
          <a:srgbClr val="B2B2B2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6C46F0D1ED4574597DD8C76D5077450" ma:contentTypeVersion="2" ma:contentTypeDescription="Create a new document." ma:contentTypeScope="" ma:versionID="fe0734169919fed24a381130d7b1432a">
  <xsd:schema xmlns:xsd="http://www.w3.org/2001/XMLSchema" xmlns:xs="http://www.w3.org/2001/XMLSchema" xmlns:p="http://schemas.microsoft.com/office/2006/metadata/properties" xmlns:ns2="8adf3721-8152-42b8-be6d-9fb567c9812f" targetNamespace="http://schemas.microsoft.com/office/2006/metadata/properties" ma:root="true" ma:fieldsID="0b1ade06542edd583ca074ee6b0af62e" ns2:_="">
    <xsd:import namespace="8adf3721-8152-42b8-be6d-9fb567c9812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adf3721-8152-42b8-be6d-9fb567c9812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D0F84E4B-18FD-452A-AD69-98CAE7EFA4EE}"/>
</file>

<file path=customXml/itemProps2.xml><?xml version="1.0" encoding="utf-8"?>
<ds:datastoreItem xmlns:ds="http://schemas.openxmlformats.org/officeDocument/2006/customXml" ds:itemID="{C2BD7D28-808A-4F79-8C1A-07C244DFCD24}"/>
</file>

<file path=customXml/itemProps3.xml><?xml version="1.0" encoding="utf-8"?>
<ds:datastoreItem xmlns:ds="http://schemas.openxmlformats.org/officeDocument/2006/customXml" ds:itemID="{261C8840-5947-4A65-AD6D-19AE9280A236}"/>
</file>

<file path=docProps/app.xml><?xml version="1.0" encoding="utf-8"?>
<Properties xmlns="http://schemas.openxmlformats.org/officeDocument/2006/extended-properties" xmlns:vt="http://schemas.openxmlformats.org/officeDocument/2006/docPropsVTypes">
  <Template>DB6</Template>
  <TotalTime>19622</TotalTime>
  <Words>1764</Words>
  <Application>Microsoft Office PowerPoint</Application>
  <PresentationFormat>On-screen Show (4:3)</PresentationFormat>
  <Paragraphs>349</Paragraphs>
  <Slides>44</Slides>
  <Notes>36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  <vt:variant>
        <vt:lpstr>Custom Shows</vt:lpstr>
      </vt:variant>
      <vt:variant>
        <vt:i4>1</vt:i4>
      </vt:variant>
    </vt:vector>
  </HeadingPairs>
  <TitlesOfParts>
    <vt:vector size="46" baseType="lpstr">
      <vt:lpstr>2_db-5-grey</vt:lpstr>
      <vt:lpstr>Introduction to SQL</vt:lpstr>
      <vt:lpstr>The Relational Model</vt:lpstr>
      <vt:lpstr>Attribute Types</vt:lpstr>
      <vt:lpstr>Relation Schema and Instance</vt:lpstr>
      <vt:lpstr>Relations are Unordered</vt:lpstr>
      <vt:lpstr>Database</vt:lpstr>
      <vt:lpstr>Keys</vt:lpstr>
      <vt:lpstr>Schema Diagram for University Database</vt:lpstr>
      <vt:lpstr>SQL</vt:lpstr>
      <vt:lpstr>SQL as a language</vt:lpstr>
      <vt:lpstr>Domain Types in SQL</vt:lpstr>
      <vt:lpstr>Basic Query Structure </vt:lpstr>
      <vt:lpstr>The select Clause</vt:lpstr>
      <vt:lpstr>The select Clause (Cont.)</vt:lpstr>
      <vt:lpstr>The select Clause (Cont.)</vt:lpstr>
      <vt:lpstr>The where Clause</vt:lpstr>
      <vt:lpstr>The from Clause</vt:lpstr>
      <vt:lpstr>String Operations</vt:lpstr>
      <vt:lpstr>Ordering the Display of Tuples</vt:lpstr>
      <vt:lpstr>Where Clause Predicates</vt:lpstr>
      <vt:lpstr>Cartesian Product</vt:lpstr>
      <vt:lpstr>Joins</vt:lpstr>
      <vt:lpstr>Natural Join</vt:lpstr>
      <vt:lpstr>Natural Join (Cont.)</vt:lpstr>
      <vt:lpstr>The Rename Operation</vt:lpstr>
      <vt:lpstr>Set Operations</vt:lpstr>
      <vt:lpstr>Set Operations</vt:lpstr>
      <vt:lpstr>Null Values</vt:lpstr>
      <vt:lpstr>Null Values and Three Valued Logic</vt:lpstr>
      <vt:lpstr>Nested Subqueries</vt:lpstr>
      <vt:lpstr>Example Query</vt:lpstr>
      <vt:lpstr>Example Query</vt:lpstr>
      <vt:lpstr>Aggregate Functions</vt:lpstr>
      <vt:lpstr>Aggregate Functions (Cont.)</vt:lpstr>
      <vt:lpstr>Aggregate Functions – Group By</vt:lpstr>
      <vt:lpstr>Aggregation (Cont.)</vt:lpstr>
      <vt:lpstr>Aggregate Functions – Having Clause</vt:lpstr>
      <vt:lpstr>Null Values and Aggregates</vt:lpstr>
      <vt:lpstr>Set Comparison</vt:lpstr>
      <vt:lpstr>Modification of the Database – Deletion</vt:lpstr>
      <vt:lpstr>Example Query</vt:lpstr>
      <vt:lpstr>Modification of the Database – Insertion</vt:lpstr>
      <vt:lpstr>Modification of the Database – Insertion</vt:lpstr>
      <vt:lpstr>Modification of the Database – Updates</vt:lpstr>
      <vt:lpstr>Custom Show 1</vt:lpstr>
    </vt:vector>
  </TitlesOfParts>
  <Company>Lucent Technologies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1:  Introduction</dc:title>
  <dc:creator>Antoine Melki</dc:creator>
  <cp:lastModifiedBy>Windows User</cp:lastModifiedBy>
  <cp:revision>174</cp:revision>
  <cp:lastPrinted>2005-01-10T21:51:57Z</cp:lastPrinted>
  <dcterms:created xsi:type="dcterms:W3CDTF">1999-11-04T20:50:09Z</dcterms:created>
  <dcterms:modified xsi:type="dcterms:W3CDTF">2022-12-21T18:49:18Z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0x01010046C46F0D1ED4574597DD8C76D5077450</vt:lpwstr>
  </property>
</Properties>
</file>