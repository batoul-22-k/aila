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12"/>
    <p:sldId id="258" r:id="rId13"/>
    <p:sldId id="259" r:id="rId14"/>
    <p:sldId id="260" r:id="rId15"/>
  </p:sldIdLst>
  <p:notesMasterIdLst>
    <p:notesMasterId r:id="rId3"/>
  </p:notesMasterIdLst>
  <p:sldSz cx="9144000" cy="5143500"/>
  <p:notesSz cx="5143500" cy="9144000"/>
  <p:embeddedFontLst>
    <p:embeddedFont>
      <p:font typeface="Montserrat Medium"/>
      <p:regular r:id="rId8"/>
    </p:embeddedFont>
    <p:embeddedFont>
      <p:font typeface="Montserrat Bold"/>
      <p:regular r:id="rId9"/>
    </p:embeddedFont>
    <p:embeddedFont>
      <p:font typeface="Inter Light"/>
      <p:regular r:id="rId10"/>
    </p:embeddedFont>
    <p:embeddedFont>
      <p:font typeface="Inter Bold"/>
      <p:regular r:id="rId1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FF0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8160" y="64740"/>
            <a:ext cx="3342680" cy="50140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162" y="394915"/>
            <a:ext cx="2631504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Evaluation Datasets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65162" y="743769"/>
            <a:ext cx="4784675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Robust datasets are crucial for validating the architectural components and predictive capabilities of our AI-powered educational system.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465162" y="1084436"/>
            <a:ext cx="1171277" cy="140791"/>
          </a:xfrm>
          <a:prstGeom prst="roundRect">
            <a:avLst>
              <a:gd name="adj" fmla="val 44179"/>
            </a:avLst>
          </a:prstGeom>
          <a:solidFill>
            <a:srgbClr val="DFE1EC"/>
          </a:solidFill>
          <a:ln/>
        </p:spPr>
      </p:sp>
      <p:sp>
        <p:nvSpPr>
          <p:cNvPr id="7" name="Text 4"/>
          <p:cNvSpPr/>
          <p:nvPr/>
        </p:nvSpPr>
        <p:spPr>
          <a:xfrm>
            <a:off x="516954" y="1110332"/>
            <a:ext cx="1524893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PRIMARY EVALUATION DATASET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465162" y="1246212"/>
            <a:ext cx="218494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OULAD Dataset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5162" y="1483147"/>
            <a:ext cx="2286967" cy="26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(Open University Learning Analytics Dataset)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5162" y="1812131"/>
            <a:ext cx="2286967" cy="956370"/>
          </a:xfrm>
          <a:prstGeom prst="roundRect">
            <a:avLst>
              <a:gd name="adj" fmla="val 8130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6245" y="190321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Contains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56245" y="2090737"/>
            <a:ext cx="210480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Student interaction logs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Assessment records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activity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Final outcomes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65162" y="2821112"/>
            <a:ext cx="2286967" cy="797868"/>
          </a:xfrm>
          <a:prstGeom prst="roundRect">
            <a:avLst>
              <a:gd name="adj" fmla="val 974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6245" y="291219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Used For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6245" y="3099718"/>
            <a:ext cx="2104802" cy="42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analysis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Performance prediction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At-risk student detection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65162" y="3678138"/>
            <a:ext cx="2286967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Provides structured behavioral and academic data suitable for evaluating the analytics and prediction modules of the proposed architecture.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2967633" y="1084436"/>
            <a:ext cx="1302990" cy="140791"/>
          </a:xfrm>
          <a:prstGeom prst="roundRect">
            <a:avLst>
              <a:gd name="adj" fmla="val 44179"/>
            </a:avLst>
          </a:prstGeom>
          <a:solidFill>
            <a:srgbClr val="DFE1EC"/>
          </a:solidFill>
          <a:ln/>
        </p:spPr>
      </p:sp>
      <p:sp>
        <p:nvSpPr>
          <p:cNvPr id="18" name="Text 15"/>
          <p:cNvSpPr/>
          <p:nvPr/>
        </p:nvSpPr>
        <p:spPr>
          <a:xfrm>
            <a:off x="3019425" y="1110332"/>
            <a:ext cx="1656606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SECONDARY BENCHMARK DATASET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2967633" y="1246212"/>
            <a:ext cx="241927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KDD Cup 2015 Dataset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967633" y="1483147"/>
            <a:ext cx="2378943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(MOOC Learning Behavior Dataset)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967633" y="1670670"/>
            <a:ext cx="274416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2967633" y="1841004"/>
            <a:ext cx="2286967" cy="956370"/>
          </a:xfrm>
          <a:prstGeom prst="roundRect">
            <a:avLst>
              <a:gd name="adj" fmla="val 8130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58716" y="1932087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Contains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058716" y="2119610"/>
            <a:ext cx="210480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Clickstream activity logs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Temporal learning behavior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Dropout-related patterns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Large-scale MOOC interactions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2967633" y="2849984"/>
            <a:ext cx="2286967" cy="797868"/>
          </a:xfrm>
          <a:prstGeom prst="roundRect">
            <a:avLst>
              <a:gd name="adj" fmla="val 974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58716" y="2941067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Used For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058716" y="3128590"/>
            <a:ext cx="2104802" cy="42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Behavioral analytics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Risk prediction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trend analysis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2967633" y="3707011"/>
            <a:ext cx="2286967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Provides large-scale temporal behavioral data useful for validating prediction models across online learning environments.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65162" y="4147021"/>
            <a:ext cx="4784675" cy="601563"/>
          </a:xfrm>
          <a:prstGeom prst="roundRect">
            <a:avLst>
              <a:gd name="adj" fmla="val 12925"/>
            </a:avLst>
          </a:prstGeom>
          <a:solidFill>
            <a:srgbClr val="B6D6FC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83" y="4231630"/>
            <a:ext cx="161925" cy="12955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99728" y="4221212"/>
            <a:ext cx="179866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Why Both Datasets?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799728" y="4435748"/>
            <a:ext cx="4363789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Using both datasets enables evaluation of the engagement analytics, prediction, and risk detection components across different educational environments.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Engagement 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3040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Which option best matches the key concept highlighted in the lecture about Slide?</a:t>
            </a:r>
          </a:p>
          <a:p>
            <a:pPr>
              <a:defRPr sz="1800"/>
            </a:pPr>
            <a:r>
              <a:t>- Slide</a:t>
            </a:r>
          </a:p>
          <a:p>
            <a:pPr>
              <a:defRPr sz="1800"/>
            </a:pPr>
            <a:r>
              <a:t>- A distractor concept</a:t>
            </a:r>
          </a:p>
          <a:p>
            <a:pPr>
              <a:defRPr sz="1800"/>
            </a:pPr>
            <a:r>
              <a:t>- An unrelated detail</a:t>
            </a:r>
          </a:p>
          <a:p>
            <a:pPr>
              <a:defRPr sz="1800"/>
            </a:pPr>
            <a:r>
              <a:t>- A partial example</a:t>
            </a:r>
          </a:p>
          <a:p>
            <a:pPr>
              <a:defRPr sz="1400"/>
            </a:pPr>
            <a:r>
              <a:t>Bloom: Remember | Difficulty: Easy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Engagement 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3040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Which option best matches the key concept highlighted in the lecture about validating?</a:t>
            </a:r>
          </a:p>
          <a:p>
            <a:pPr>
              <a:defRPr sz="1800"/>
            </a:pPr>
            <a:r>
              <a:t>- validating</a:t>
            </a:r>
          </a:p>
          <a:p>
            <a:pPr>
              <a:defRPr sz="1800"/>
            </a:pPr>
            <a:r>
              <a:t>- A distractor concept</a:t>
            </a:r>
          </a:p>
          <a:p>
            <a:pPr>
              <a:defRPr sz="1800"/>
            </a:pPr>
            <a:r>
              <a:t>- An unrelated detail</a:t>
            </a:r>
          </a:p>
          <a:p>
            <a:pPr>
              <a:defRPr sz="1800"/>
            </a:pPr>
            <a:r>
              <a:t>- A partial example</a:t>
            </a:r>
          </a:p>
          <a:p>
            <a:pPr>
              <a:defRPr sz="1400"/>
            </a:pPr>
            <a:r>
              <a:t>Bloom: Understand | Difficulty: Easy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Engagement 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3040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Which option best matches the key concept highlighted in the lecture about crucial??</a:t>
            </a:r>
          </a:p>
          <a:p>
            <a:pPr>
              <a:defRPr sz="1800"/>
            </a:pPr>
            <a:r>
              <a:t>- crucial</a:t>
            </a:r>
          </a:p>
          <a:p>
            <a:pPr>
              <a:defRPr sz="1800"/>
            </a:pPr>
            <a:r>
              <a:t>- A distractor concept</a:t>
            </a:r>
          </a:p>
          <a:p>
            <a:pPr>
              <a:defRPr sz="1800"/>
            </a:pPr>
            <a:r>
              <a:t>- An unrelated detail</a:t>
            </a:r>
          </a:p>
          <a:p>
            <a:pPr>
              <a:defRPr sz="1800"/>
            </a:pPr>
            <a:r>
              <a:t>- A partial example</a:t>
            </a:r>
          </a:p>
          <a:p>
            <a:pPr>
              <a:defRPr sz="1400"/>
            </a:pPr>
            <a:r>
              <a:t>Bloom: Apply | Difficulty: Easy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Engagement 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3040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What is the PRIMARY EVALUATION DATASET and what does it contain?</a:t>
            </a:r>
          </a:p>
          <a:p>
            <a:pPr>
              <a:defRPr sz="1400"/>
            </a:pPr>
            <a:r>
              <a:t>Bloom: Analyze | Difficulty: Easy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2026-05-22T20:24:28Z</dcterms:created>
  <dcterms:modified xsi:type="dcterms:W3CDTF">2026-05-22T20:24:28Z</dcterms:modified>
</cp:coreProperties>
</file>