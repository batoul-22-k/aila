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12"/>
    <p:sldId id="258" r:id="rId13"/>
    <p:sldId id="259" r:id="rId14"/>
    <p:sldId id="260" r:id="rId15"/>
  </p:sldIdLst>
  <p:notesMasterIdLst>
    <p:notesMasterId r:id="rId3"/>
  </p:notesMasterIdLst>
  <p:sldSz cx="9144000" cy="5143500"/>
  <p:notesSz cx="5143500" cy="9144000"/>
  <p:embeddedFontLst>
    <p:embeddedFont>
      <p:font typeface="Montserrat Medium"/>
      <p:regular r:id="rId8"/>
    </p:embeddedFont>
    <p:embeddedFont>
      <p:font typeface="Montserrat Bold"/>
      <p:regular r:id="rId9"/>
    </p:embeddedFont>
    <p:embeddedFont>
      <p:font typeface="Inter Light"/>
      <p:regular r:id="rId10"/>
    </p:embeddedFont>
    <p:embeddedFont>
      <p:font typeface="Inter Bold"/>
      <p:regular r:id="rId1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FF0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8160" y="64740"/>
            <a:ext cx="3342680" cy="50140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5162" y="394915"/>
            <a:ext cx="2631504" cy="269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Evaluation Datasets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65162" y="743769"/>
            <a:ext cx="4784675" cy="222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Robust datasets are crucial for validating the architectural components and predictive capabilities of our AI-powered educational system.</a:t>
            </a:r>
            <a:endParaRPr lang="en-US" sz="650" dirty="0"/>
          </a:p>
        </p:txBody>
      </p:sp>
      <p:sp>
        <p:nvSpPr>
          <p:cNvPr id="6" name="Shape 3"/>
          <p:cNvSpPr/>
          <p:nvPr/>
        </p:nvSpPr>
        <p:spPr>
          <a:xfrm>
            <a:off x="465162" y="1084436"/>
            <a:ext cx="1171277" cy="140791"/>
          </a:xfrm>
          <a:prstGeom prst="roundRect">
            <a:avLst>
              <a:gd name="adj" fmla="val 44179"/>
            </a:avLst>
          </a:prstGeom>
          <a:solidFill>
            <a:srgbClr val="DFE1EC"/>
          </a:solidFill>
          <a:ln/>
        </p:spPr>
      </p:sp>
      <p:sp>
        <p:nvSpPr>
          <p:cNvPr id="7" name="Text 4"/>
          <p:cNvSpPr/>
          <p:nvPr/>
        </p:nvSpPr>
        <p:spPr>
          <a:xfrm>
            <a:off x="516954" y="1110332"/>
            <a:ext cx="1524893" cy="88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5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PRIMARY EVALUATION DATASET</a:t>
            </a:r>
            <a:endParaRPr lang="en-US" sz="500" dirty="0"/>
          </a:p>
        </p:txBody>
      </p:sp>
      <p:sp>
        <p:nvSpPr>
          <p:cNvPr id="8" name="Text 5"/>
          <p:cNvSpPr/>
          <p:nvPr/>
        </p:nvSpPr>
        <p:spPr>
          <a:xfrm>
            <a:off x="465162" y="1246212"/>
            <a:ext cx="2184946" cy="215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OULAD Dataset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65162" y="1483147"/>
            <a:ext cx="2286967" cy="269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(Open University Learning Analytics Dataset)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65162" y="1812131"/>
            <a:ext cx="2286967" cy="956370"/>
          </a:xfrm>
          <a:prstGeom prst="roundRect">
            <a:avLst>
              <a:gd name="adj" fmla="val 8130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6245" y="1903214"/>
            <a:ext cx="1079822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Contains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56245" y="2090737"/>
            <a:ext cx="2104802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spcAft>
                <a:spcPts val="350"/>
              </a:spcAft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Student interaction logs</a:t>
            </a:r>
            <a:endParaRPr lang="en-US" sz="650" dirty="0"/>
          </a:p>
          <a:p>
            <a:pPr algn="l" indent="0" marL="0">
              <a:lnSpc>
                <a:spcPct val="107000"/>
              </a:lnSpc>
              <a:spcAft>
                <a:spcPts val="350"/>
              </a:spcAft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Assessment records</a:t>
            </a:r>
            <a:endParaRPr lang="en-US" sz="650" dirty="0"/>
          </a:p>
          <a:p>
            <a:pPr algn="l" indent="0" marL="0">
              <a:lnSpc>
                <a:spcPct val="107000"/>
              </a:lnSpc>
              <a:spcAft>
                <a:spcPts val="350"/>
              </a:spcAft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Engagement activity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Final outcomes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465162" y="2821112"/>
            <a:ext cx="2286967" cy="797868"/>
          </a:xfrm>
          <a:prstGeom prst="roundRect">
            <a:avLst>
              <a:gd name="adj" fmla="val 9745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6245" y="2912194"/>
            <a:ext cx="1079822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Used For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56245" y="3099718"/>
            <a:ext cx="2104802" cy="428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spcAft>
                <a:spcPts val="350"/>
              </a:spcAft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Engagement analysis</a:t>
            </a:r>
            <a:endParaRPr lang="en-US" sz="650" dirty="0"/>
          </a:p>
          <a:p>
            <a:pPr algn="l" indent="0" marL="0">
              <a:lnSpc>
                <a:spcPct val="107000"/>
              </a:lnSpc>
              <a:spcAft>
                <a:spcPts val="350"/>
              </a:spcAft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Performance prediction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At-risk student detection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465162" y="3678138"/>
            <a:ext cx="2286967" cy="333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i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Provides structured behavioral and academic data suitable for evaluating the analytics and prediction modules of the proposed architecture.</a:t>
            </a:r>
            <a:endParaRPr lang="en-US" sz="650" dirty="0"/>
          </a:p>
        </p:txBody>
      </p:sp>
      <p:sp>
        <p:nvSpPr>
          <p:cNvPr id="17" name="Shape 14"/>
          <p:cNvSpPr/>
          <p:nvPr/>
        </p:nvSpPr>
        <p:spPr>
          <a:xfrm>
            <a:off x="2967633" y="1084436"/>
            <a:ext cx="1302990" cy="140791"/>
          </a:xfrm>
          <a:prstGeom prst="roundRect">
            <a:avLst>
              <a:gd name="adj" fmla="val 44179"/>
            </a:avLst>
          </a:prstGeom>
          <a:solidFill>
            <a:srgbClr val="DFE1EC"/>
          </a:solidFill>
          <a:ln/>
        </p:spPr>
      </p:sp>
      <p:sp>
        <p:nvSpPr>
          <p:cNvPr id="18" name="Text 15"/>
          <p:cNvSpPr/>
          <p:nvPr/>
        </p:nvSpPr>
        <p:spPr>
          <a:xfrm>
            <a:off x="3019425" y="1110332"/>
            <a:ext cx="1656606" cy="88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5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SECONDARY BENCHMARK DATASET</a:t>
            </a:r>
            <a:endParaRPr lang="en-US" sz="500" dirty="0"/>
          </a:p>
        </p:txBody>
      </p:sp>
      <p:sp>
        <p:nvSpPr>
          <p:cNvPr id="19" name="Text 16"/>
          <p:cNvSpPr/>
          <p:nvPr/>
        </p:nvSpPr>
        <p:spPr>
          <a:xfrm>
            <a:off x="2967633" y="1246212"/>
            <a:ext cx="2419276" cy="215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KDD Cup 2015 Dataset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2967633" y="1483147"/>
            <a:ext cx="2378943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(MOOC Learning Behavior Dataset)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2967633" y="1670670"/>
            <a:ext cx="2744167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2967633" y="1841004"/>
            <a:ext cx="2286967" cy="956370"/>
          </a:xfrm>
          <a:prstGeom prst="roundRect">
            <a:avLst>
              <a:gd name="adj" fmla="val 8130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058716" y="1932087"/>
            <a:ext cx="1079822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Contains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3058716" y="2119610"/>
            <a:ext cx="2104802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spcAft>
                <a:spcPts val="350"/>
              </a:spcAft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Clickstream activity logs</a:t>
            </a:r>
            <a:endParaRPr lang="en-US" sz="650" dirty="0"/>
          </a:p>
          <a:p>
            <a:pPr algn="l" indent="0" marL="0">
              <a:lnSpc>
                <a:spcPct val="107000"/>
              </a:lnSpc>
              <a:spcAft>
                <a:spcPts val="350"/>
              </a:spcAft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Temporal learning behavior</a:t>
            </a:r>
            <a:endParaRPr lang="en-US" sz="650" dirty="0"/>
          </a:p>
          <a:p>
            <a:pPr algn="l" indent="0" marL="0">
              <a:lnSpc>
                <a:spcPct val="107000"/>
              </a:lnSpc>
              <a:spcAft>
                <a:spcPts val="350"/>
              </a:spcAft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Dropout-related patterns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Large-scale MOOC interactions</a:t>
            </a:r>
            <a:endParaRPr lang="en-US" sz="650" dirty="0"/>
          </a:p>
        </p:txBody>
      </p:sp>
      <p:sp>
        <p:nvSpPr>
          <p:cNvPr id="25" name="Shape 22"/>
          <p:cNvSpPr/>
          <p:nvPr/>
        </p:nvSpPr>
        <p:spPr>
          <a:xfrm>
            <a:off x="2967633" y="2849984"/>
            <a:ext cx="2286967" cy="797868"/>
          </a:xfrm>
          <a:prstGeom prst="roundRect">
            <a:avLst>
              <a:gd name="adj" fmla="val 9745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058716" y="2941067"/>
            <a:ext cx="1079822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Used For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3058716" y="3128590"/>
            <a:ext cx="2104802" cy="428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spcAft>
                <a:spcPts val="350"/>
              </a:spcAft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Behavioral analytics</a:t>
            </a:r>
            <a:endParaRPr lang="en-US" sz="650" dirty="0"/>
          </a:p>
          <a:p>
            <a:pPr algn="l" indent="0" marL="0">
              <a:lnSpc>
                <a:spcPct val="107000"/>
              </a:lnSpc>
              <a:spcAft>
                <a:spcPts val="350"/>
              </a:spcAft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Risk prediction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Engagement trend analysis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2967633" y="3707011"/>
            <a:ext cx="2286967" cy="333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i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Provides large-scale temporal behavioral data useful for validating prediction models across online learning environments.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65162" y="4147021"/>
            <a:ext cx="4784675" cy="601563"/>
          </a:xfrm>
          <a:prstGeom prst="roundRect">
            <a:avLst>
              <a:gd name="adj" fmla="val 12925"/>
            </a:avLst>
          </a:prstGeom>
          <a:solidFill>
            <a:srgbClr val="B6D6FC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483" y="4231630"/>
            <a:ext cx="161925" cy="129555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799728" y="4221212"/>
            <a:ext cx="179866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Why Both Datasets?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799728" y="4435748"/>
            <a:ext cx="4363789" cy="222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Using both datasets enables evaluation of the engagement analytics, prediction, and risk detection components across different educational environments.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A"/>
          </a:solidFill>
          <a:ln>
            <a:solidFill>
              <a:srgbClr val="F6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84048"/>
          </a:xfrm>
          <a:prstGeom prst="roundRect">
            <a:avLst/>
          </a:prstGeom>
          <a:solidFill>
            <a:srgbClr val="DEF7EB"/>
          </a:solidFill>
          <a:ln>
            <a:solidFill>
              <a:srgbClr val="DE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200" b="1">
                <a:solidFill>
                  <a:srgbClr val="085461"/>
                </a:solidFill>
              </a:defRPr>
            </a:pPr>
            <a:r>
              <a:t>AILA QUESTION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11480"/>
            <a:ext cx="2926080" cy="384048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Remember | Easy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7680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Which option best matches the key concept highlighted in the lecture about Slide?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974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A. Slide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72584" y="26974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B. A distractor concept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118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C. An unrelated detail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72584" y="36118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D. A partial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49140"/>
            <a:ext cx="7680960" cy="256032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Discuss, answer, then reveal feedback in the live session.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A"/>
          </a:solidFill>
          <a:ln>
            <a:solidFill>
              <a:srgbClr val="F6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84048"/>
          </a:xfrm>
          <a:prstGeom prst="roundRect">
            <a:avLst/>
          </a:prstGeom>
          <a:solidFill>
            <a:srgbClr val="DEF7EB"/>
          </a:solidFill>
          <a:ln>
            <a:solidFill>
              <a:srgbClr val="DE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200" b="1">
                <a:solidFill>
                  <a:srgbClr val="085461"/>
                </a:solidFill>
              </a:defRPr>
            </a:pPr>
            <a:r>
              <a:t>AILA QUESTION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11480"/>
            <a:ext cx="2926080" cy="384048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Understand | Easy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7680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Which option best matches the key concept highlighted in the lecture about validating?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974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A. validating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72584" y="26974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B. A distractor concept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118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C. An unrelated detail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72584" y="36118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D. A partial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49140"/>
            <a:ext cx="7680960" cy="256032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Discuss, answer, then reveal feedback in the live session.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A"/>
          </a:solidFill>
          <a:ln>
            <a:solidFill>
              <a:srgbClr val="F6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84048"/>
          </a:xfrm>
          <a:prstGeom prst="roundRect">
            <a:avLst/>
          </a:prstGeom>
          <a:solidFill>
            <a:srgbClr val="DEF7EB"/>
          </a:solidFill>
          <a:ln>
            <a:solidFill>
              <a:srgbClr val="DE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200" b="1">
                <a:solidFill>
                  <a:srgbClr val="085461"/>
                </a:solidFill>
              </a:defRPr>
            </a:pPr>
            <a:r>
              <a:t>AILA QUESTION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11480"/>
            <a:ext cx="2926080" cy="384048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Apply | Easy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7680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Which option best matches the key concept highlighted in the lecture about crucial??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974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A. crucial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72584" y="26974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B. A distractor concept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118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C. An unrelated detail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72584" y="36118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D. A partial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49140"/>
            <a:ext cx="7680960" cy="256032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Discuss, answer, then reveal feedback in the live session.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A"/>
          </a:solidFill>
          <a:ln>
            <a:solidFill>
              <a:srgbClr val="F6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84048"/>
          </a:xfrm>
          <a:prstGeom prst="roundRect">
            <a:avLst/>
          </a:prstGeom>
          <a:solidFill>
            <a:srgbClr val="DEF7EB"/>
          </a:solidFill>
          <a:ln>
            <a:solidFill>
              <a:srgbClr val="DE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200" b="1">
                <a:solidFill>
                  <a:srgbClr val="085461"/>
                </a:solidFill>
              </a:defRPr>
            </a:pPr>
            <a:r>
              <a:t>AILA QUESTION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11480"/>
            <a:ext cx="2926080" cy="384048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Analyze | Easy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7680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What is the PRIMARY EVALUATION DATASET and what does it contain?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88920"/>
            <a:ext cx="76809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800" b="1">
                <a:solidFill>
                  <a:srgbClr val="167784"/>
                </a:solidFill>
              </a:defRPr>
            </a:pPr>
            <a:r>
              <a:t>Short answer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49140"/>
            <a:ext cx="7680960" cy="256032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Discuss, answer, then reveal feedback in the live session.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2026-05-22T20:24:28Z</dcterms:created>
  <dcterms:modified xsi:type="dcterms:W3CDTF">2026-05-22T20:24:28Z</dcterms:modified>
</cp:coreProperties>
</file>