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23"/>
    <p:sldId id="262" r:id="rId3"/>
    <p:sldId id="271" r:id="rId24"/>
    <p:sldId id="257" r:id="rId4"/>
    <p:sldId id="258" r:id="rId5"/>
    <p:sldId id="272" r:id="rId25"/>
    <p:sldId id="261" r:id="rId6"/>
    <p:sldId id="259" r:id="rId7"/>
    <p:sldId id="273" r:id="rId26"/>
    <p:sldId id="260" r:id="rId8"/>
    <p:sldId id="263" r:id="rId9"/>
    <p:sldId id="274" r:id="rId27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-51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customXml" Target="../customXml/item1.xml"/><Relationship Id="rId21" Type="http://schemas.openxmlformats.org/officeDocument/2006/relationships/customXml" Target="../customXml/item2.xml"/><Relationship Id="rId22" Type="http://schemas.openxmlformats.org/officeDocument/2006/relationships/customXml" Target="../customXml/item3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7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8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2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4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1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3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84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7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&amp; Integrity 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5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data integrity refers to the accuracy and consistency of data.</a:t>
            </a:r>
          </a:p>
          <a:p>
            <a:r>
              <a:rPr lang="en-US" dirty="0" smtClean="0"/>
              <a:t>When manipulating </a:t>
            </a:r>
            <a:r>
              <a:rPr lang="en-US" dirty="0"/>
              <a:t>databases, attention needs to be given to data integrity and how to maintain it. A good database will enforce data integrity whenever possible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Sources of lack of integrity</a:t>
            </a:r>
          </a:p>
          <a:p>
            <a:pPr lvl="1"/>
            <a:r>
              <a:rPr lang="en-US" dirty="0" smtClean="0"/>
              <a:t>Human errors</a:t>
            </a:r>
          </a:p>
          <a:p>
            <a:pPr lvl="1"/>
            <a:r>
              <a:rPr lang="en-US" dirty="0" smtClean="0"/>
              <a:t>System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Integrity constraints are a set of rules used to maintain the quality of information.</a:t>
            </a:r>
          </a:p>
          <a:p>
            <a:r>
              <a:rPr lang="en-US" sz="2400" dirty="0" smtClean="0"/>
              <a:t>Integrity constraints ensure that the data insertion, updating, and other processes have to be performed in such a way that data integrity is not affected.</a:t>
            </a:r>
          </a:p>
          <a:p>
            <a:r>
              <a:rPr lang="en-US" sz="2400" dirty="0" smtClean="0"/>
              <a:t>Thus, integrity constraint is used to guard against accidental damage to the database.</a:t>
            </a:r>
          </a:p>
          <a:p>
            <a:r>
              <a:rPr lang="en-US" sz="2400" dirty="0" smtClean="0"/>
              <a:t>Types</a:t>
            </a:r>
            <a:endParaRPr lang="en-US" sz="2400" dirty="0"/>
          </a:p>
        </p:txBody>
      </p:sp>
      <p:pic>
        <p:nvPicPr>
          <p:cNvPr id="1026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999" y="3650360"/>
            <a:ext cx="5981700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46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Domain constraints can be defined as the definition of a valid set of values for an attribute.</a:t>
            </a:r>
          </a:p>
          <a:p>
            <a:r>
              <a:rPr lang="en-US" dirty="0" smtClean="0"/>
              <a:t>The data type of domain includes string, character, integer, time, date, currency, etc. </a:t>
            </a:r>
          </a:p>
          <a:p>
            <a:r>
              <a:rPr lang="en-US" dirty="0" smtClean="0"/>
              <a:t>The value of the attribute must be available in the corresponding domain.</a:t>
            </a:r>
            <a:endParaRPr lang="en-US" dirty="0"/>
          </a:p>
        </p:txBody>
      </p:sp>
      <p:pic>
        <p:nvPicPr>
          <p:cNvPr id="2050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407" y="4263453"/>
            <a:ext cx="59055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17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Keys</a:t>
            </a:r>
            <a:r>
              <a:rPr lang="en-US" dirty="0" smtClean="0"/>
              <a:t> are the attribute set that is used to identify an entity within its entity set uniquely.</a:t>
            </a:r>
          </a:p>
          <a:p>
            <a:r>
              <a:rPr lang="en-US" dirty="0" smtClean="0"/>
              <a:t>Remember: An entity set can have multiple keys, but out of which one key will be the </a:t>
            </a:r>
            <a:r>
              <a:rPr lang="en-US" dirty="0" smtClean="0">
                <a:solidFill>
                  <a:srgbClr val="0070C0"/>
                </a:solidFill>
              </a:rPr>
              <a:t>primary key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A primary key can contain a unique and non null value in the relational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0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Entity integrity constraints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entity integrity constraint states that primary key value can't be null.</a:t>
            </a:r>
          </a:p>
          <a:p>
            <a:r>
              <a:rPr lang="en-US" dirty="0" smtClean="0"/>
              <a:t>This is because the primary key value is used to identify individual rows in relation and if the primary key has a null value, then we can't identify those rows.</a:t>
            </a:r>
          </a:p>
          <a:p>
            <a:r>
              <a:rPr lang="en-US" dirty="0" smtClean="0"/>
              <a:t>A table can contain a null value other than the primary key field.</a:t>
            </a:r>
            <a:endParaRPr lang="en-US" dirty="0"/>
          </a:p>
        </p:txBody>
      </p:sp>
      <p:pic>
        <p:nvPicPr>
          <p:cNvPr id="307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27" y="4494529"/>
            <a:ext cx="4772025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89464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referential integrity constraint is specified between two tables.</a:t>
            </a:r>
          </a:p>
          <a:p>
            <a:r>
              <a:rPr lang="en-US" dirty="0" smtClean="0"/>
              <a:t>In the Referential integrity constraints, if a foreign key in Table 1 refers to the Primary Key of Table 2, then every value of the Foreign Key in Table 1 must be null or be available in Table 2.</a:t>
            </a:r>
          </a:p>
          <a:p>
            <a:r>
              <a:rPr lang="en-US" dirty="0" smtClean="0"/>
              <a:t>So, referential </a:t>
            </a:r>
            <a:r>
              <a:rPr lang="en-US" dirty="0"/>
              <a:t>integrity will prevent users from:</a:t>
            </a:r>
          </a:p>
          <a:p>
            <a:pPr lvl="1"/>
            <a:r>
              <a:rPr lang="en-US" dirty="0" smtClean="0"/>
              <a:t>Adding </a:t>
            </a:r>
            <a:r>
              <a:rPr lang="en-US" dirty="0"/>
              <a:t>records to a </a:t>
            </a:r>
            <a:r>
              <a:rPr lang="en-US" dirty="0" smtClean="0"/>
              <a:t>child </a:t>
            </a:r>
            <a:r>
              <a:rPr lang="en-US" dirty="0"/>
              <a:t>table if there is no associated record in the </a:t>
            </a:r>
            <a:r>
              <a:rPr lang="en-US" dirty="0" smtClean="0"/>
              <a:t>parent </a:t>
            </a:r>
            <a:r>
              <a:rPr lang="en-US" dirty="0"/>
              <a:t>table.</a:t>
            </a:r>
          </a:p>
          <a:p>
            <a:pPr lvl="1"/>
            <a:r>
              <a:rPr lang="en-US" dirty="0"/>
              <a:t>Changing values in a </a:t>
            </a:r>
            <a:r>
              <a:rPr lang="en-US" dirty="0" smtClean="0"/>
              <a:t>parent </a:t>
            </a:r>
            <a:r>
              <a:rPr lang="en-US" dirty="0"/>
              <a:t>table that result in orphaned records in a </a:t>
            </a:r>
            <a:r>
              <a:rPr lang="en-US" dirty="0" smtClean="0"/>
              <a:t>child table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Deleting records from a </a:t>
            </a:r>
            <a:r>
              <a:rPr lang="en-US" dirty="0" smtClean="0"/>
              <a:t>parent table </a:t>
            </a:r>
            <a:r>
              <a:rPr lang="en-US" dirty="0"/>
              <a:t>if there are matching related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2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Dealing with referential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96256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4 cases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Cascade</a:t>
            </a:r>
            <a:r>
              <a:rPr lang="en-US" dirty="0" smtClean="0"/>
              <a:t>: </a:t>
            </a:r>
            <a:r>
              <a:rPr lang="en-US" dirty="0"/>
              <a:t>if </a:t>
            </a:r>
            <a:r>
              <a:rPr lang="en-US" dirty="0" smtClean="0"/>
              <a:t>parent </a:t>
            </a:r>
            <a:r>
              <a:rPr lang="en-US" dirty="0"/>
              <a:t>record is deleted, then all the corresponding child record will be deleted automatically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 Set Null</a:t>
            </a:r>
            <a:r>
              <a:rPr lang="en-US" dirty="0" smtClean="0"/>
              <a:t>: </a:t>
            </a:r>
            <a:r>
              <a:rPr lang="en-US" dirty="0"/>
              <a:t>if parent record is deleted, then all the corresponding child record will be </a:t>
            </a:r>
            <a:r>
              <a:rPr lang="en-US" dirty="0" smtClean="0"/>
              <a:t>updated to null.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Cascade</a:t>
            </a:r>
            <a:r>
              <a:rPr lang="en-US" dirty="0" smtClean="0"/>
              <a:t>: </a:t>
            </a:r>
            <a:r>
              <a:rPr lang="en-US" dirty="0"/>
              <a:t>if parent record is </a:t>
            </a:r>
            <a:r>
              <a:rPr lang="en-US" dirty="0" smtClean="0"/>
              <a:t>updated, </a:t>
            </a:r>
            <a:r>
              <a:rPr lang="en-US" dirty="0"/>
              <a:t>then all the corresponding child record will be </a:t>
            </a:r>
            <a:r>
              <a:rPr lang="en-US" dirty="0" smtClean="0"/>
              <a:t>updated to the same value automatically.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Set Null</a:t>
            </a:r>
            <a:r>
              <a:rPr lang="en-US" dirty="0" smtClean="0"/>
              <a:t>: </a:t>
            </a:r>
            <a:r>
              <a:rPr lang="en-US" dirty="0"/>
              <a:t> if parent record is updated, then all the corresponding child record will be updated to </a:t>
            </a:r>
            <a:r>
              <a:rPr lang="en-US" dirty="0" smtClean="0"/>
              <a:t>Null automatically</a:t>
            </a:r>
            <a:r>
              <a:rPr lang="en-US" dirty="0"/>
              <a:t>.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326" y="1531302"/>
            <a:ext cx="5460355" cy="416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71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Create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create </a:t>
            </a:r>
            <a:r>
              <a:rPr lang="en-US" dirty="0"/>
              <a:t>table branch</a:t>
            </a:r>
            <a:br>
              <a:rPr lang="en-US" dirty="0"/>
            </a:br>
            <a:r>
              <a:rPr lang="en-US" dirty="0"/>
              <a:t>		(branch-name	char(15),</a:t>
            </a:r>
            <a:br>
              <a:rPr lang="en-US" dirty="0"/>
            </a:br>
            <a:r>
              <a:rPr lang="en-US" dirty="0"/>
              <a:t>		branch-city	</a:t>
            </a:r>
            <a:r>
              <a:rPr lang="en-US" dirty="0" smtClean="0"/>
              <a:t>	char(30),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opening-date	date not null,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assets	</a:t>
            </a:r>
            <a:r>
              <a:rPr lang="en-US" dirty="0" smtClean="0"/>
              <a:t>		integer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		primary key (branch-name</a:t>
            </a:r>
            <a:r>
              <a:rPr lang="en-US" dirty="0" smtClean="0"/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foreign key (branch-city) references cities(city),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check (assets &gt;= 0))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1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Drop &amp; Alter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delete a table: </a:t>
            </a:r>
            <a:r>
              <a:rPr lang="en-US" dirty="0" smtClean="0">
                <a:solidFill>
                  <a:srgbClr val="0070C0"/>
                </a:solidFill>
              </a:rPr>
              <a:t>Drop table</a:t>
            </a:r>
          </a:p>
          <a:p>
            <a:pPr lvl="1"/>
            <a:r>
              <a:rPr lang="en-US" dirty="0" smtClean="0"/>
              <a:t>NB: A referenced table can not be dropped</a:t>
            </a:r>
          </a:p>
          <a:p>
            <a:endParaRPr lang="en-US" dirty="0"/>
          </a:p>
          <a:p>
            <a:r>
              <a:rPr lang="en-US" dirty="0" smtClean="0"/>
              <a:t>To modify a structure: </a:t>
            </a:r>
            <a:r>
              <a:rPr lang="en-US" dirty="0" smtClean="0">
                <a:solidFill>
                  <a:srgbClr val="0070C0"/>
                </a:solidFill>
              </a:rPr>
              <a:t>alter table</a:t>
            </a:r>
          </a:p>
          <a:p>
            <a:pPr lvl="1"/>
            <a:r>
              <a:rPr lang="en-US" dirty="0" smtClean="0"/>
              <a:t>NB: Take care </a:t>
            </a:r>
            <a:r>
              <a:rPr lang="en-US" smtClean="0"/>
              <a:t>of referential integrity </a:t>
            </a:r>
            <a:r>
              <a:rPr lang="en-US" dirty="0" smtClean="0"/>
              <a:t>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041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anomalies are cases of data not respecting integrity constraints</a:t>
            </a:r>
          </a:p>
          <a:p>
            <a:r>
              <a:rPr lang="en-US" dirty="0" smtClean="0"/>
              <a:t>Data anomalies naturally </a:t>
            </a:r>
            <a:r>
              <a:rPr lang="en-US" dirty="0"/>
              <a:t>occur and result in data that does not match the </a:t>
            </a:r>
            <a:r>
              <a:rPr lang="en-US" dirty="0" smtClean="0"/>
              <a:t>real world intended to be represented by the </a:t>
            </a:r>
            <a:r>
              <a:rPr lang="en-US" dirty="0"/>
              <a:t>database </a:t>
            </a:r>
            <a:endParaRPr lang="en-US" dirty="0" smtClean="0"/>
          </a:p>
          <a:p>
            <a:r>
              <a:rPr lang="en-US" dirty="0"/>
              <a:t>There are three types of Data Anomalies: </a:t>
            </a:r>
            <a:endParaRPr lang="en-US" dirty="0" smtClean="0"/>
          </a:p>
          <a:p>
            <a:pPr lvl="1"/>
            <a:r>
              <a:rPr lang="en-US" dirty="0" smtClean="0"/>
              <a:t>Update Anomalies</a:t>
            </a:r>
          </a:p>
          <a:p>
            <a:pPr lvl="1"/>
            <a:r>
              <a:rPr lang="en-US" dirty="0" smtClean="0"/>
              <a:t>Insertion Anomalies</a:t>
            </a:r>
          </a:p>
          <a:p>
            <a:pPr lvl="1"/>
            <a:r>
              <a:rPr lang="en-US" dirty="0" smtClean="0"/>
              <a:t>Deletion </a:t>
            </a:r>
            <a:r>
              <a:rPr lang="en-US" dirty="0"/>
              <a:t>Anomalies. </a:t>
            </a:r>
          </a:p>
        </p:txBody>
      </p:sp>
    </p:spTree>
    <p:extLst>
      <p:ext uri="{BB962C8B-B14F-4D97-AF65-F5344CB8AC3E}">
        <p14:creationId xmlns:p14="http://schemas.microsoft.com/office/powerpoint/2010/main" val="342807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Anomalies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update anomaly is a data inconsistency that results from data redundancy </a:t>
            </a:r>
            <a:r>
              <a:rPr lang="en-US" dirty="0" smtClean="0"/>
              <a:t>and/or </a:t>
            </a:r>
            <a:r>
              <a:rPr lang="en-US" dirty="0"/>
              <a:t>a partial update. </a:t>
            </a:r>
            <a:endParaRPr lang="en-US" dirty="0" smtClean="0"/>
          </a:p>
          <a:p>
            <a:r>
              <a:rPr lang="en-US" dirty="0" smtClean="0"/>
              <a:t>Examples</a:t>
            </a:r>
            <a:endParaRPr lang="en-US" dirty="0"/>
          </a:p>
          <a:p>
            <a:pPr lvl="1"/>
            <a:r>
              <a:rPr lang="en-US" dirty="0" smtClean="0"/>
              <a:t>Updating an attribute to a value outside its domain</a:t>
            </a:r>
          </a:p>
          <a:p>
            <a:pPr lvl="1"/>
            <a:r>
              <a:rPr lang="en-US" dirty="0" smtClean="0"/>
              <a:t>Updating a FK to a value that does not exist in the referenced table</a:t>
            </a:r>
          </a:p>
          <a:p>
            <a:pPr lvl="1"/>
            <a:r>
              <a:rPr lang="en-US" dirty="0" smtClean="0"/>
              <a:t>Updating a PK referenced by other tables without updating the corresponding FK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44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Anomalies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insertion anomaly is </a:t>
            </a:r>
            <a:r>
              <a:rPr lang="en-US" dirty="0" smtClean="0"/>
              <a:t>the anomaly resulting from an insertion.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Inability </a:t>
            </a:r>
            <a:r>
              <a:rPr lang="en-US" dirty="0"/>
              <a:t>to add data </a:t>
            </a:r>
            <a:r>
              <a:rPr lang="en-US" dirty="0" smtClean="0"/>
              <a:t>due </a:t>
            </a:r>
            <a:r>
              <a:rPr lang="en-US" dirty="0"/>
              <a:t>to the absence of </a:t>
            </a:r>
            <a:r>
              <a:rPr lang="en-US" dirty="0" smtClean="0"/>
              <a:t>referenced data</a:t>
            </a:r>
            <a:r>
              <a:rPr lang="en-US" dirty="0"/>
              <a:t>. </a:t>
            </a:r>
          </a:p>
          <a:p>
            <a:pPr lvl="1"/>
            <a:r>
              <a:rPr lang="en-US" dirty="0" smtClean="0"/>
              <a:t>Inserting a FK in the referencing table that does not correspond to a PK in the referenced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858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delete anomaly is the opposite of an insert anomaly. </a:t>
            </a:r>
            <a:endParaRPr lang="en-US" dirty="0" smtClean="0"/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Inability to </a:t>
            </a:r>
            <a:r>
              <a:rPr lang="en-US" dirty="0"/>
              <a:t>delete data from </a:t>
            </a:r>
            <a:r>
              <a:rPr lang="en-US" dirty="0" smtClean="0"/>
              <a:t>a table </a:t>
            </a:r>
            <a:r>
              <a:rPr lang="en-US" dirty="0"/>
              <a:t>without having to delete the entire record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Inability to delete a PK referenced by some other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9533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JOIN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8442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Session code: ________</a:t>
            </a:r>
            <a:br/>
            <a:br/>
            <a:r>
              <a:t>Join link:</a:t>
            </a:r>
            <a:br/>
            <a:r>
              <a:t>________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9448800" y="105156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600" b="1">
                <a:solidFill>
                  <a:srgbClr val="167784"/>
                </a:solidFill>
              </a:defRPr>
            </a:pPr>
            <a:r>
              <a:t>QR code</a:t>
            </a:r>
            <a:br/>
            <a:r>
              <a:t>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Experienced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The term data integrity refers to the accuracy and consistency of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Data Integrity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Data Integrity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Data Integrity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Evaluate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the concept of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Domain constraints can be defined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Domain constraints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Domain constraints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Domain constraints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In a few words or one short sentence, Explain why Entity integrity constraints matters in this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C46F0D1ED4574597DD8C76D5077450" ma:contentTypeVersion="2" ma:contentTypeDescription="Create a new document." ma:contentTypeScope="" ma:versionID="fe0734169919fed24a381130d7b1432a">
  <xsd:schema xmlns:xsd="http://www.w3.org/2001/XMLSchema" xmlns:xs="http://www.w3.org/2001/XMLSchema" xmlns:p="http://schemas.microsoft.com/office/2006/metadata/properties" xmlns:ns2="8adf3721-8152-42b8-be6d-9fb567c9812f" targetNamespace="http://schemas.microsoft.com/office/2006/metadata/properties" ma:root="true" ma:fieldsID="0b1ade06542edd583ca074ee6b0af62e" ns2:_="">
    <xsd:import namespace="8adf3721-8152-42b8-be6d-9fb567c98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f3721-8152-42b8-be6d-9fb567c98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C89D17-2695-4CC2-B6C7-F1E37A763508}"/>
</file>

<file path=customXml/itemProps2.xml><?xml version="1.0" encoding="utf-8"?>
<ds:datastoreItem xmlns:ds="http://schemas.openxmlformats.org/officeDocument/2006/customXml" ds:itemID="{8F3D9D6C-C981-491D-BAD8-088340221841}"/>
</file>

<file path=customXml/itemProps3.xml><?xml version="1.0" encoding="utf-8"?>
<ds:datastoreItem xmlns:ds="http://schemas.openxmlformats.org/officeDocument/2006/customXml" ds:itemID="{F9C1A340-DE1F-41DD-8978-C8679507F328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722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Data &amp; Integrity Constraints</vt:lpstr>
      <vt:lpstr>Data Integrity</vt:lpstr>
      <vt:lpstr>Integrity constraints</vt:lpstr>
      <vt:lpstr>Domain constraints</vt:lpstr>
      <vt:lpstr>Key constraints</vt:lpstr>
      <vt:lpstr>Entity integrity constraints</vt:lpstr>
      <vt:lpstr>Referential Integrity Constraints</vt:lpstr>
      <vt:lpstr>Dealing with referential integrity</vt:lpstr>
      <vt:lpstr>SQL Create</vt:lpstr>
      <vt:lpstr>SQL Drop &amp; Alter</vt:lpstr>
      <vt:lpstr>Anomalies</vt:lpstr>
      <vt:lpstr>Update Anomalies </vt:lpstr>
      <vt:lpstr>Insertion Anomalies </vt:lpstr>
      <vt:lpstr>Delete Anomalies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 Constraints</dc:title>
  <dc:creator>Antoine Melki</dc:creator>
  <cp:lastModifiedBy>Windows User</cp:lastModifiedBy>
  <cp:revision>18</cp:revision>
  <dcterms:created xsi:type="dcterms:W3CDTF">2020-04-20T19:05:19Z</dcterms:created>
  <dcterms:modified xsi:type="dcterms:W3CDTF">2023-01-13T11:00:24Z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0x01010046C46F0D1ED4574597DD8C76D5077450</vt:lpwstr>
  </property>
</Properties>
</file>