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1"/>
  </p:notesMasterIdLst>
  <p:sldIdLst>
    <p:sldId id="256" r:id="rId2"/>
    <p:sldId id="388" r:id="rId29"/>
    <p:sldId id="259" r:id="rId3"/>
    <p:sldId id="389" r:id="rId30"/>
    <p:sldId id="277" r:id="rId4"/>
    <p:sldId id="333" r:id="rId5"/>
    <p:sldId id="376" r:id="rId6"/>
    <p:sldId id="390" r:id="rId31"/>
    <p:sldId id="385" r:id="rId7"/>
    <p:sldId id="377" r:id="rId8"/>
    <p:sldId id="391" r:id="rId32"/>
    <p:sldId id="379" r:id="rId9"/>
    <p:sldId id="380" r:id="rId10"/>
    <p:sldId id="392" r:id="rId33"/>
    <p:sldId id="381" r:id="rId11"/>
    <p:sldId id="374" r:id="rId12"/>
    <p:sldId id="273" r:id="rId13"/>
    <p:sldId id="276" r:id="rId14"/>
    <p:sldId id="309" r:id="rId15"/>
    <p:sldId id="386" r:id="rId16"/>
    <p:sldId id="382" r:id="rId17"/>
    <p:sldId id="383" r:id="rId18"/>
    <p:sldId id="384" r:id="rId19"/>
    <p:sldId id="387"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6D6"/>
    <a:srgbClr val="F5E4D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39" autoAdjust="0"/>
    <p:restoredTop sz="94129" autoAdjust="0"/>
  </p:normalViewPr>
  <p:slideViewPr>
    <p:cSldViewPr snapToGrid="0">
      <p:cViewPr varScale="1">
        <p:scale>
          <a:sx n="67" d="100"/>
          <a:sy n="67" d="100"/>
        </p:scale>
        <p:origin x="66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customXml" Target="../customXml/item1.xml"/><Relationship Id="rId27" Type="http://schemas.openxmlformats.org/officeDocument/2006/relationships/customXml" Target="../customXml/item2.xml"/><Relationship Id="rId28" Type="http://schemas.openxmlformats.org/officeDocument/2006/relationships/customXml" Target="../customXml/item3.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1720C2-41A8-45E2-943F-0AC6C0E100BC}" type="datetimeFigureOut">
              <a:rPr lang="en-US" smtClean="0"/>
              <a:t>10/27/2021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C3E0FB-FAE6-4D5F-8D41-832AD3727A16}" type="slidenum">
              <a:rPr lang="en-US" smtClean="0"/>
              <a:t>‹#›</a:t>
            </a:fld>
            <a:endParaRPr lang="en-US"/>
          </a:p>
        </p:txBody>
      </p:sp>
    </p:spTree>
    <p:extLst>
      <p:ext uri="{BB962C8B-B14F-4D97-AF65-F5344CB8AC3E}">
        <p14:creationId xmlns:p14="http://schemas.microsoft.com/office/powerpoint/2010/main" val="3872688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EC3E0FB-FAE6-4D5F-8D41-832AD3727A16}" type="slidenum">
              <a:rPr lang="en-US" smtClean="0"/>
              <a:t>13</a:t>
            </a:fld>
            <a:endParaRPr lang="en-US"/>
          </a:p>
        </p:txBody>
      </p:sp>
    </p:spTree>
    <p:extLst>
      <p:ext uri="{BB962C8B-B14F-4D97-AF65-F5344CB8AC3E}">
        <p14:creationId xmlns:p14="http://schemas.microsoft.com/office/powerpoint/2010/main" val="3680220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966F052-5D03-45E5-8BE8-61E743013551}" type="slidenum">
              <a:rPr lang="en-US"/>
              <a:pPr>
                <a:defRPr/>
              </a:pPr>
              <a:t>‹#›</a:t>
            </a:fld>
            <a:endParaRPr lang="en-US"/>
          </a:p>
        </p:txBody>
      </p:sp>
    </p:spTree>
    <p:extLst>
      <p:ext uri="{BB962C8B-B14F-4D97-AF65-F5344CB8AC3E}">
        <p14:creationId xmlns:p14="http://schemas.microsoft.com/office/powerpoint/2010/main" val="1219402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E564218-7EE4-46FF-BCD7-54CB773C4BA2}" type="slidenum">
              <a:rPr lang="en-US"/>
              <a:pPr>
                <a:defRPr/>
              </a:pPr>
              <a:t>‹#›</a:t>
            </a:fld>
            <a:endParaRPr lang="en-US"/>
          </a:p>
        </p:txBody>
      </p:sp>
    </p:spTree>
    <p:extLst>
      <p:ext uri="{BB962C8B-B14F-4D97-AF65-F5344CB8AC3E}">
        <p14:creationId xmlns:p14="http://schemas.microsoft.com/office/powerpoint/2010/main" val="4259777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6E630F-1BC8-448E-9EFB-8829601D1EBE}" type="slidenum">
              <a:rPr lang="en-US"/>
              <a:pPr>
                <a:defRPr/>
              </a:pPr>
              <a:t>‹#›</a:t>
            </a:fld>
            <a:endParaRPr lang="en-US"/>
          </a:p>
        </p:txBody>
      </p:sp>
    </p:spTree>
    <p:extLst>
      <p:ext uri="{BB962C8B-B14F-4D97-AF65-F5344CB8AC3E}">
        <p14:creationId xmlns:p14="http://schemas.microsoft.com/office/powerpoint/2010/main" val="25576358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5715000"/>
            <a:ext cx="4495800" cy="83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B06DC3-ED2A-4816-8C0E-FECB467BA00D}" type="slidenum">
              <a:rPr lang="en-US"/>
              <a:pPr>
                <a:defRPr/>
              </a:pPr>
              <a:t>‹#›</a:t>
            </a:fld>
            <a:endParaRPr lang="en-US"/>
          </a:p>
        </p:txBody>
      </p:sp>
    </p:spTree>
    <p:extLst>
      <p:ext uri="{BB962C8B-B14F-4D97-AF65-F5344CB8AC3E}">
        <p14:creationId xmlns:p14="http://schemas.microsoft.com/office/powerpoint/2010/main" val="1234346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BFC6228-209D-43EF-ABA7-CFD79B704EC2}" type="slidenum">
              <a:rPr lang="en-US"/>
              <a:pPr>
                <a:defRPr/>
              </a:pPr>
              <a:t>‹#›</a:t>
            </a:fld>
            <a:endParaRPr lang="en-US"/>
          </a:p>
        </p:txBody>
      </p:sp>
    </p:spTree>
    <p:extLst>
      <p:ext uri="{BB962C8B-B14F-4D97-AF65-F5344CB8AC3E}">
        <p14:creationId xmlns:p14="http://schemas.microsoft.com/office/powerpoint/2010/main" val="3149221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17E9BA5D-A29F-46E7-B5FD-A5CAFF9B471C}" type="slidenum">
              <a:rPr lang="en-US"/>
              <a:pPr>
                <a:defRPr/>
              </a:pPr>
              <a:t>‹#›</a:t>
            </a:fld>
            <a:endParaRPr lang="en-US"/>
          </a:p>
        </p:txBody>
      </p:sp>
    </p:spTree>
    <p:extLst>
      <p:ext uri="{BB962C8B-B14F-4D97-AF65-F5344CB8AC3E}">
        <p14:creationId xmlns:p14="http://schemas.microsoft.com/office/powerpoint/2010/main" val="1598907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95E8C73-57F6-424D-912F-DA7BDC799A6C}" type="slidenum">
              <a:rPr lang="en-US"/>
              <a:pPr>
                <a:defRPr/>
              </a:pPr>
              <a:t>‹#›</a:t>
            </a:fld>
            <a:endParaRPr lang="en-US"/>
          </a:p>
        </p:txBody>
      </p:sp>
    </p:spTree>
    <p:extLst>
      <p:ext uri="{BB962C8B-B14F-4D97-AF65-F5344CB8AC3E}">
        <p14:creationId xmlns:p14="http://schemas.microsoft.com/office/powerpoint/2010/main" val="401246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0F3AD92-7C3F-437A-96DF-4322B2670C35}" type="slidenum">
              <a:rPr lang="en-US"/>
              <a:pPr>
                <a:defRPr/>
              </a:pPr>
              <a:t>‹#›</a:t>
            </a:fld>
            <a:endParaRPr lang="en-US"/>
          </a:p>
        </p:txBody>
      </p:sp>
    </p:spTree>
    <p:extLst>
      <p:ext uri="{BB962C8B-B14F-4D97-AF65-F5344CB8AC3E}">
        <p14:creationId xmlns:p14="http://schemas.microsoft.com/office/powerpoint/2010/main" val="395947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F5A7712-7E42-41FD-A97C-6FE6D74914C7}" type="slidenum">
              <a:rPr lang="en-US"/>
              <a:pPr>
                <a:defRPr/>
              </a:pPr>
              <a:t>‹#›</a:t>
            </a:fld>
            <a:endParaRPr lang="en-US"/>
          </a:p>
        </p:txBody>
      </p:sp>
    </p:spTree>
    <p:extLst>
      <p:ext uri="{BB962C8B-B14F-4D97-AF65-F5344CB8AC3E}">
        <p14:creationId xmlns:p14="http://schemas.microsoft.com/office/powerpoint/2010/main" val="1402078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CD2463D-4522-4912-844A-5D40D4B3E625}" type="slidenum">
              <a:rPr lang="en-US"/>
              <a:pPr>
                <a:defRPr/>
              </a:pPr>
              <a:t>‹#›</a:t>
            </a:fld>
            <a:endParaRPr lang="en-US"/>
          </a:p>
        </p:txBody>
      </p:sp>
    </p:spTree>
    <p:extLst>
      <p:ext uri="{BB962C8B-B14F-4D97-AF65-F5344CB8AC3E}">
        <p14:creationId xmlns:p14="http://schemas.microsoft.com/office/powerpoint/2010/main" val="3365618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8392B3F-3498-4669-9FBE-E3C2259126DD}" type="slidenum">
              <a:rPr lang="en-US"/>
              <a:pPr>
                <a:defRPr/>
              </a:pPr>
              <a:t>‹#›</a:t>
            </a:fld>
            <a:endParaRPr lang="en-US"/>
          </a:p>
        </p:txBody>
      </p:sp>
    </p:spTree>
    <p:extLst>
      <p:ext uri="{BB962C8B-B14F-4D97-AF65-F5344CB8AC3E}">
        <p14:creationId xmlns:p14="http://schemas.microsoft.com/office/powerpoint/2010/main" val="18266924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0"/>
            <a:ext cx="9144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0" y="5715000"/>
            <a:ext cx="9144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0"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cs typeface="+mn-cs"/>
              </a:defRPr>
            </a:lvl1pPr>
          </a:lstStyle>
          <a:p>
            <a:pPr>
              <a:defRPr/>
            </a:pPr>
            <a:endParaRPr lang="en-US"/>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cs typeface="+mn-cs"/>
              </a:defRPr>
            </a:lvl1pPr>
          </a:lstStyle>
          <a:p>
            <a:pPr>
              <a:defRPr/>
            </a:pPr>
            <a:endParaRPr lang="en-US"/>
          </a:p>
        </p:txBody>
      </p:sp>
      <p:sp>
        <p:nvSpPr>
          <p:cNvPr id="4102"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cs typeface="+mn-cs"/>
              </a:defRPr>
            </a:lvl1pPr>
          </a:lstStyle>
          <a:p>
            <a:pPr>
              <a:defRPr/>
            </a:pPr>
            <a:fld id="{36B60FF2-1946-45AF-9DAF-B4D9C0304C7C}"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ctr" rtl="0" eaLnBrk="0" fontAlgn="base" hangingPunct="0">
        <a:spcBef>
          <a:spcPct val="0"/>
        </a:spcBef>
        <a:spcAft>
          <a:spcPct val="0"/>
        </a:spcAft>
        <a:defRPr sz="4400">
          <a:solidFill>
            <a:srgbClr val="FF0000"/>
          </a:solidFill>
          <a:latin typeface="+mj-lt"/>
          <a:ea typeface="+mj-ea"/>
          <a:cs typeface="+mj-cs"/>
        </a:defRPr>
      </a:lvl1pPr>
      <a:lvl2pPr algn="ctr" rtl="0" eaLnBrk="0" fontAlgn="base" hangingPunct="0">
        <a:spcBef>
          <a:spcPct val="0"/>
        </a:spcBef>
        <a:spcAft>
          <a:spcPct val="0"/>
        </a:spcAft>
        <a:defRPr sz="4400">
          <a:solidFill>
            <a:srgbClr val="FF0000"/>
          </a:solidFill>
          <a:latin typeface="Times New Roman" pitchFamily="18" charset="0"/>
        </a:defRPr>
      </a:lvl2pPr>
      <a:lvl3pPr algn="ctr" rtl="0" eaLnBrk="0" fontAlgn="base" hangingPunct="0">
        <a:spcBef>
          <a:spcPct val="0"/>
        </a:spcBef>
        <a:spcAft>
          <a:spcPct val="0"/>
        </a:spcAft>
        <a:defRPr sz="4400">
          <a:solidFill>
            <a:srgbClr val="FF0000"/>
          </a:solidFill>
          <a:latin typeface="Times New Roman" pitchFamily="18" charset="0"/>
        </a:defRPr>
      </a:lvl3pPr>
      <a:lvl4pPr algn="ctr" rtl="0" eaLnBrk="0" fontAlgn="base" hangingPunct="0">
        <a:spcBef>
          <a:spcPct val="0"/>
        </a:spcBef>
        <a:spcAft>
          <a:spcPct val="0"/>
        </a:spcAft>
        <a:defRPr sz="4400">
          <a:solidFill>
            <a:srgbClr val="FF0000"/>
          </a:solidFill>
          <a:latin typeface="Times New Roman" pitchFamily="18" charset="0"/>
        </a:defRPr>
      </a:lvl4pPr>
      <a:lvl5pPr algn="ctr" rtl="0" eaLnBrk="0" fontAlgn="base" hangingPunct="0">
        <a:spcBef>
          <a:spcPct val="0"/>
        </a:spcBef>
        <a:spcAft>
          <a:spcPct val="0"/>
        </a:spcAft>
        <a:defRPr sz="4400">
          <a:solidFill>
            <a:srgbClr val="FF0000"/>
          </a:solidFill>
          <a:latin typeface="Times New Roman" pitchFamily="18" charset="0"/>
        </a:defRPr>
      </a:lvl5pPr>
      <a:lvl6pPr marL="457200" algn="ctr" rtl="0" fontAlgn="base">
        <a:spcBef>
          <a:spcPct val="0"/>
        </a:spcBef>
        <a:spcAft>
          <a:spcPct val="0"/>
        </a:spcAft>
        <a:defRPr sz="4400">
          <a:solidFill>
            <a:srgbClr val="FF0000"/>
          </a:solidFill>
          <a:latin typeface="Times New Roman" pitchFamily="18" charset="0"/>
        </a:defRPr>
      </a:lvl6pPr>
      <a:lvl7pPr marL="914400" algn="ctr" rtl="0" fontAlgn="base">
        <a:spcBef>
          <a:spcPct val="0"/>
        </a:spcBef>
        <a:spcAft>
          <a:spcPct val="0"/>
        </a:spcAft>
        <a:defRPr sz="4400">
          <a:solidFill>
            <a:srgbClr val="FF0000"/>
          </a:solidFill>
          <a:latin typeface="Times New Roman" pitchFamily="18" charset="0"/>
        </a:defRPr>
      </a:lvl7pPr>
      <a:lvl8pPr marL="1371600" algn="ctr" rtl="0" fontAlgn="base">
        <a:spcBef>
          <a:spcPct val="0"/>
        </a:spcBef>
        <a:spcAft>
          <a:spcPct val="0"/>
        </a:spcAft>
        <a:defRPr sz="4400">
          <a:solidFill>
            <a:srgbClr val="FF0000"/>
          </a:solidFill>
          <a:latin typeface="Times New Roman" pitchFamily="18" charset="0"/>
        </a:defRPr>
      </a:lvl8pPr>
      <a:lvl9pPr marL="1828800" algn="ctr" rtl="0" fontAlgn="base">
        <a:spcBef>
          <a:spcPct val="0"/>
        </a:spcBef>
        <a:spcAft>
          <a:spcPct val="0"/>
        </a:spcAft>
        <a:defRPr sz="4400">
          <a:solidFill>
            <a:srgbClr val="FF0000"/>
          </a:solidFill>
          <a:latin typeface="Times New Roman" pitchFamily="18" charset="0"/>
        </a:defRPr>
      </a:lvl9pPr>
    </p:titleStyle>
    <p:body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8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1.emf"/><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emf"/><Relationship Id="rId3"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image" Target="../media/image17.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20237" y="5128962"/>
            <a:ext cx="7772400" cy="1470025"/>
          </a:xfrm>
        </p:spPr>
        <p:txBody>
          <a:bodyPr/>
          <a:lstStyle/>
          <a:p>
            <a:pPr eaLnBrk="1" hangingPunct="1"/>
            <a:r>
              <a:rPr lang="en-US" altLang="en-US" sz="2400" dirty="0">
                <a:solidFill>
                  <a:schemeClr val="bg1">
                    <a:lumMod val="65000"/>
                  </a:schemeClr>
                </a:solidFill>
              </a:rPr>
              <a:t>MAC</a:t>
            </a:r>
            <a:br>
              <a:rPr lang="en-US" altLang="en-US" sz="2400" dirty="0">
                <a:solidFill>
                  <a:schemeClr val="bg1">
                    <a:lumMod val="65000"/>
                  </a:schemeClr>
                </a:solidFill>
              </a:rPr>
            </a:br>
            <a:r>
              <a:rPr lang="en-US" altLang="en-US" sz="2400" dirty="0">
                <a:solidFill>
                  <a:schemeClr val="bg1">
                    <a:lumMod val="65000"/>
                  </a:schemeClr>
                </a:solidFill>
              </a:rPr>
              <a:t>Medium Access Control</a:t>
            </a:r>
          </a:p>
        </p:txBody>
      </p:sp>
      <p:sp>
        <p:nvSpPr>
          <p:cNvPr id="3075" name="Rectangle 3"/>
          <p:cNvSpPr>
            <a:spLocks noGrp="1" noChangeArrowheads="1"/>
          </p:cNvSpPr>
          <p:nvPr>
            <p:ph type="subTitle" idx="1"/>
          </p:nvPr>
        </p:nvSpPr>
        <p:spPr>
          <a:xfrm>
            <a:off x="1323975" y="579437"/>
            <a:ext cx="6400800" cy="4425700"/>
          </a:xfrm>
        </p:spPr>
        <p:txBody>
          <a:bodyPr/>
          <a:lstStyle/>
          <a:p>
            <a:pPr eaLnBrk="1" hangingPunct="1"/>
            <a:r>
              <a:rPr lang="en-US" altLang="en-US" sz="4000" dirty="0">
                <a:solidFill>
                  <a:srgbClr val="FF3300"/>
                </a:solidFill>
              </a:rPr>
              <a:t>Chapters 2, 3</a:t>
            </a:r>
          </a:p>
          <a:p>
            <a:pPr eaLnBrk="1" hangingPunct="1"/>
            <a:endParaRPr lang="en-US" altLang="en-US" sz="4000" dirty="0">
              <a:solidFill>
                <a:srgbClr val="FF3300"/>
              </a:solidFill>
            </a:endParaRPr>
          </a:p>
          <a:p>
            <a:pPr eaLnBrk="1" hangingPunct="1"/>
            <a:r>
              <a:rPr lang="en-US" altLang="en-US" sz="5400" dirty="0">
                <a:solidFill>
                  <a:srgbClr val="FF3300"/>
                </a:solidFill>
              </a:rPr>
              <a:t>Ethernet</a:t>
            </a:r>
          </a:p>
          <a:p>
            <a:pPr eaLnBrk="1" hangingPunct="1"/>
            <a:r>
              <a:rPr lang="en-US" altLang="en-US" sz="5400" dirty="0">
                <a:solidFill>
                  <a:srgbClr val="FF3300"/>
                </a:solidFill>
              </a:rPr>
              <a:t>&amp; </a:t>
            </a:r>
          </a:p>
          <a:p>
            <a:pPr eaLnBrk="1" hangingPunct="1"/>
            <a:r>
              <a:rPr lang="en-US" altLang="en-US" sz="5400" dirty="0">
                <a:solidFill>
                  <a:srgbClr val="FF3300"/>
                </a:solidFill>
              </a:rPr>
              <a:t>other LAN</a:t>
            </a:r>
          </a:p>
          <a:p>
            <a:pPr eaLnBrk="1" hangingPunct="1"/>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0"/>
            <a:ext cx="9144000" cy="587375"/>
          </a:xfrm>
        </p:spPr>
        <p:txBody>
          <a:bodyPr/>
          <a:lstStyle/>
          <a:p>
            <a:pPr eaLnBrk="1" hangingPunct="1"/>
            <a:r>
              <a:rPr lang="en-US" altLang="en-US" dirty="0"/>
              <a:t>Classic Ethernet</a:t>
            </a:r>
          </a:p>
        </p:txBody>
      </p:sp>
      <p:sp>
        <p:nvSpPr>
          <p:cNvPr id="4099" name="Rectangle 3"/>
          <p:cNvSpPr>
            <a:spLocks noGrp="1" noChangeArrowheads="1"/>
          </p:cNvSpPr>
          <p:nvPr>
            <p:ph type="body" idx="1"/>
          </p:nvPr>
        </p:nvSpPr>
        <p:spPr>
          <a:xfrm>
            <a:off x="0" y="795338"/>
            <a:ext cx="9144000" cy="1322220"/>
          </a:xfrm>
        </p:spPr>
        <p:txBody>
          <a:bodyPr/>
          <a:lstStyle/>
          <a:p>
            <a:pPr marL="288925" indent="-288925" eaLnBrk="1" hangingPunct="1">
              <a:buFontTx/>
              <a:buChar char="•"/>
              <a:defRPr/>
            </a:pPr>
            <a:r>
              <a:rPr lang="en-US" altLang="en-US" dirty="0"/>
              <a:t>Bus topology with repeaters. CSMA/CD</a:t>
            </a:r>
          </a:p>
          <a:p>
            <a:pPr marL="288925" indent="-288925" eaLnBrk="1" hangingPunct="1">
              <a:buFontTx/>
              <a:buChar char="•"/>
              <a:defRPr/>
            </a:pPr>
            <a:r>
              <a:rPr lang="en-US" altLang="en-US" dirty="0"/>
              <a:t>Star topology. Repeaters and hubs. Bridges and Switches.</a:t>
            </a:r>
          </a:p>
          <a:p>
            <a:pPr marL="288925" indent="-288925" eaLnBrk="1" hangingPunct="1">
              <a:buFontTx/>
              <a:buChar char="•"/>
              <a:defRPr/>
            </a:pPr>
            <a:r>
              <a:rPr lang="en-US" altLang="en-US" dirty="0"/>
              <a:t>10Base5, 10Base2 and 10BaseT</a:t>
            </a:r>
            <a:endParaRPr lang="en-US" altLang="en-US" dirty="0">
              <a:solidFill>
                <a:srgbClr val="BFBFBF"/>
              </a:solidFill>
            </a:endParaRPr>
          </a:p>
        </p:txBody>
      </p:sp>
      <p:pic>
        <p:nvPicPr>
          <p:cNvPr id="4" name="Picture 3">
            <a:extLst>
              <a:ext uri="{FF2B5EF4-FFF2-40B4-BE49-F238E27FC236}">
                <a16:creationId xmlns:a16="http://schemas.microsoft.com/office/drawing/2014/main" id="{D63111BD-C7F2-4C80-B9BC-58B2354AF8D5}"/>
              </a:ext>
            </a:extLst>
          </p:cNvPr>
          <p:cNvPicPr>
            <a:picLocks noChangeAspect="1"/>
          </p:cNvPicPr>
          <p:nvPr/>
        </p:nvPicPr>
        <p:blipFill>
          <a:blip r:embed="rId2"/>
          <a:stretch>
            <a:fillRect/>
          </a:stretch>
        </p:blipFill>
        <p:spPr>
          <a:xfrm>
            <a:off x="698745" y="2696673"/>
            <a:ext cx="7105650" cy="37623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0"/>
            <a:ext cx="9144000" cy="705853"/>
          </a:xfrm>
        </p:spPr>
        <p:txBody>
          <a:bodyPr/>
          <a:lstStyle/>
          <a:p>
            <a:pPr eaLnBrk="1" hangingPunct="1"/>
            <a:r>
              <a:rPr lang="en-US" altLang="en-US" dirty="0"/>
              <a:t>Ethernet Frame</a:t>
            </a:r>
          </a:p>
        </p:txBody>
      </p:sp>
      <p:pic>
        <p:nvPicPr>
          <p:cNvPr id="3" name="Picture 2"/>
          <p:cNvPicPr>
            <a:picLocks noChangeAspect="1"/>
          </p:cNvPicPr>
          <p:nvPr/>
        </p:nvPicPr>
        <p:blipFill>
          <a:blip r:embed="rId2"/>
          <a:stretch>
            <a:fillRect/>
          </a:stretch>
        </p:blipFill>
        <p:spPr>
          <a:xfrm>
            <a:off x="388018" y="819901"/>
            <a:ext cx="7886700" cy="1400175"/>
          </a:xfrm>
          <a:prstGeom prst="rect">
            <a:avLst/>
          </a:prstGeom>
        </p:spPr>
      </p:pic>
      <p:sp>
        <p:nvSpPr>
          <p:cNvPr id="8" name="Rectangle 3"/>
          <p:cNvSpPr txBox="1">
            <a:spLocks noChangeArrowheads="1"/>
          </p:cNvSpPr>
          <p:nvPr/>
        </p:nvSpPr>
        <p:spPr bwMode="auto">
          <a:xfrm>
            <a:off x="0" y="2438401"/>
            <a:ext cx="91440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609600" indent="-609600" algn="l" rtl="0" eaLnBrk="0" fontAlgn="base" hangingPunct="0">
              <a:spcBef>
                <a:spcPct val="20000"/>
              </a:spcBef>
              <a:spcAft>
                <a:spcPct val="0"/>
              </a:spcAft>
              <a:buClr>
                <a:schemeClr val="accent2"/>
              </a:buClr>
              <a:buAutoNum type="alphaLcParenR"/>
              <a:defRPr sz="2400">
                <a:solidFill>
                  <a:schemeClr val="tx1"/>
                </a:solidFill>
                <a:latin typeface="+mn-lt"/>
                <a:ea typeface="+mn-ea"/>
                <a:cs typeface="+mn-cs"/>
              </a:defRPr>
            </a:lvl1pPr>
            <a:lvl2pPr marL="990600" indent="-533400" algn="l" rtl="0" eaLnBrk="0" fontAlgn="base" hangingPunct="0">
              <a:spcBef>
                <a:spcPct val="20000"/>
              </a:spcBef>
              <a:spcAft>
                <a:spcPct val="0"/>
              </a:spcAft>
              <a:buClr>
                <a:schemeClr val="accent2"/>
              </a:buClr>
              <a:buChar char="–"/>
              <a:defRPr sz="2800">
                <a:solidFill>
                  <a:schemeClr val="tx1"/>
                </a:solidFill>
                <a:latin typeface="+mn-lt"/>
              </a:defRPr>
            </a:lvl2pPr>
            <a:lvl3pPr marL="1371600" indent="-457200" algn="l" rtl="0" eaLnBrk="0" fontAlgn="base" hangingPunct="0">
              <a:spcBef>
                <a:spcPct val="20000"/>
              </a:spcBef>
              <a:spcAft>
                <a:spcPct val="0"/>
              </a:spcAft>
              <a:buClr>
                <a:schemeClr val="accent2"/>
              </a:buClr>
              <a:buChar char="•"/>
              <a:defRPr sz="2400">
                <a:solidFill>
                  <a:schemeClr val="tx1"/>
                </a:solidFill>
                <a:latin typeface="+mn-lt"/>
              </a:defRPr>
            </a:lvl3pPr>
            <a:lvl4pPr marL="1752600" indent="-381000" algn="l" rtl="0" eaLnBrk="0" fontAlgn="base" hangingPunct="0">
              <a:spcBef>
                <a:spcPct val="20000"/>
              </a:spcBef>
              <a:spcAft>
                <a:spcPct val="0"/>
              </a:spcAft>
              <a:buClr>
                <a:schemeClr val="accent2"/>
              </a:buClr>
              <a:buChar char="–"/>
              <a:defRPr sz="2000">
                <a:solidFill>
                  <a:schemeClr val="tx1"/>
                </a:solidFill>
                <a:latin typeface="+mn-lt"/>
              </a:defRPr>
            </a:lvl4pPr>
            <a:lvl5pPr marL="2209800" indent="-381000" algn="l" rtl="0" eaLnBrk="0" fontAlgn="base" hangingPunct="0">
              <a:spcBef>
                <a:spcPct val="20000"/>
              </a:spcBef>
              <a:spcAft>
                <a:spcPct val="0"/>
              </a:spcAft>
              <a:buClr>
                <a:schemeClr val="accent2"/>
              </a:buClr>
              <a:buChar char="»"/>
              <a:defRPr sz="2000">
                <a:solidFill>
                  <a:schemeClr val="tx1"/>
                </a:solidFill>
                <a:latin typeface="+mn-lt"/>
              </a:defRPr>
            </a:lvl5pPr>
            <a:lvl6pPr marL="2667000" indent="-381000" algn="l" rtl="0" fontAlgn="base">
              <a:spcBef>
                <a:spcPct val="20000"/>
              </a:spcBef>
              <a:spcAft>
                <a:spcPct val="0"/>
              </a:spcAft>
              <a:buClr>
                <a:schemeClr val="accent2"/>
              </a:buClr>
              <a:buChar char="»"/>
              <a:defRPr sz="2000">
                <a:solidFill>
                  <a:schemeClr val="tx1"/>
                </a:solidFill>
                <a:latin typeface="+mn-lt"/>
              </a:defRPr>
            </a:lvl6pPr>
            <a:lvl7pPr marL="3124200" indent="-381000" algn="l" rtl="0" fontAlgn="base">
              <a:spcBef>
                <a:spcPct val="20000"/>
              </a:spcBef>
              <a:spcAft>
                <a:spcPct val="0"/>
              </a:spcAft>
              <a:buClr>
                <a:schemeClr val="accent2"/>
              </a:buClr>
              <a:buChar char="»"/>
              <a:defRPr sz="2000">
                <a:solidFill>
                  <a:schemeClr val="tx1"/>
                </a:solidFill>
                <a:latin typeface="+mn-lt"/>
              </a:defRPr>
            </a:lvl7pPr>
            <a:lvl8pPr marL="3581400" indent="-381000" algn="l" rtl="0" fontAlgn="base">
              <a:spcBef>
                <a:spcPct val="20000"/>
              </a:spcBef>
              <a:spcAft>
                <a:spcPct val="0"/>
              </a:spcAft>
              <a:buClr>
                <a:schemeClr val="accent2"/>
              </a:buClr>
              <a:buChar char="»"/>
              <a:defRPr sz="2000">
                <a:solidFill>
                  <a:schemeClr val="tx1"/>
                </a:solidFill>
                <a:latin typeface="+mn-lt"/>
              </a:defRPr>
            </a:lvl8pPr>
            <a:lvl9pPr marL="4038600" indent="-381000" algn="l" rtl="0" fontAlgn="base">
              <a:spcBef>
                <a:spcPct val="20000"/>
              </a:spcBef>
              <a:spcAft>
                <a:spcPct val="0"/>
              </a:spcAft>
              <a:buClr>
                <a:schemeClr val="accent2"/>
              </a:buClr>
              <a:buChar char="»"/>
              <a:defRPr sz="2000">
                <a:solidFill>
                  <a:schemeClr val="tx1"/>
                </a:solidFill>
                <a:latin typeface="+mn-lt"/>
              </a:defRPr>
            </a:lvl9pPr>
          </a:lstStyle>
          <a:p>
            <a:pPr marL="0" indent="0" eaLnBrk="1" hangingPunct="1">
              <a:buNone/>
              <a:defRPr/>
            </a:pPr>
            <a:r>
              <a:rPr lang="en-US" altLang="en-US" sz="2800" b="1" kern="0" dirty="0">
                <a:solidFill>
                  <a:srgbClr val="FF0000"/>
                </a:solidFill>
              </a:rPr>
              <a:t>MAC Address</a:t>
            </a:r>
          </a:p>
          <a:p>
            <a:pPr marL="200025" indent="-400050" eaLnBrk="1" hangingPunct="1">
              <a:buFont typeface="Arial" panose="020B0604020202020204" pitchFamily="34" charset="0"/>
              <a:buChar char="•"/>
              <a:defRPr/>
            </a:pPr>
            <a:r>
              <a:rPr lang="en-US" altLang="en-US" kern="0" dirty="0"/>
              <a:t>48 bits (6 bytes) i.e. 10:13:31:1c:6b:0d</a:t>
            </a:r>
          </a:p>
          <a:p>
            <a:pPr marL="200025" indent="-400050" eaLnBrk="1" hangingPunct="1">
              <a:buFont typeface="Arial" panose="020B0604020202020204" pitchFamily="34" charset="0"/>
              <a:buChar char="•"/>
              <a:defRPr/>
            </a:pPr>
            <a:r>
              <a:rPr lang="en-US" altLang="en-US" kern="0" dirty="0" err="1"/>
              <a:t>ff</a:t>
            </a:r>
            <a:r>
              <a:rPr lang="en-US" altLang="en-US" kern="0" dirty="0"/>
              <a:t>::</a:t>
            </a:r>
            <a:r>
              <a:rPr lang="en-US" altLang="en-US" kern="0" dirty="0" err="1"/>
              <a:t>ff:ff:ff:ff:ff</a:t>
            </a:r>
            <a:r>
              <a:rPr lang="en-US" altLang="en-US" kern="0" dirty="0"/>
              <a:t> reserved for broadcast</a:t>
            </a:r>
          </a:p>
          <a:p>
            <a:pPr marL="200025" indent="-400050" eaLnBrk="1" hangingPunct="1">
              <a:buFont typeface="Arial" panose="020B0604020202020204" pitchFamily="34" charset="0"/>
              <a:buChar char="•"/>
              <a:defRPr/>
            </a:pPr>
            <a:r>
              <a:rPr lang="en-US" altLang="en-US" kern="0" dirty="0"/>
              <a:t>LSB of first byte = 1 =&gt; multicast address. i.e. 01:00:5e:00:00:fc</a:t>
            </a:r>
          </a:p>
          <a:p>
            <a:pPr marL="200025" indent="-400050" eaLnBrk="1" hangingPunct="1">
              <a:buFont typeface="Arial" panose="020B0604020202020204" pitchFamily="34" charset="0"/>
              <a:buChar char="•"/>
              <a:defRPr/>
            </a:pPr>
            <a:r>
              <a:rPr lang="en-US" altLang="en-US" kern="0" dirty="0"/>
              <a:t>2</a:t>
            </a:r>
            <a:r>
              <a:rPr lang="en-US" altLang="en-US" kern="0" baseline="30000" dirty="0"/>
              <a:t>nd</a:t>
            </a:r>
            <a:r>
              <a:rPr lang="en-US" altLang="en-US" kern="0" dirty="0"/>
              <a:t> LSB of first byte = 1 =&gt; address not globally unique</a:t>
            </a:r>
          </a:p>
          <a:p>
            <a:pPr marL="200025" indent="-400050" eaLnBrk="1" hangingPunct="1">
              <a:buFont typeface="Arial" panose="020B0604020202020204" pitchFamily="34" charset="0"/>
              <a:buChar char="•"/>
              <a:defRPr/>
            </a:pPr>
            <a:r>
              <a:rPr lang="en-US" altLang="en-US" kern="0" dirty="0"/>
              <a:t>First 3 bytes identify a manufacturer. Manufacturer responsible to ensure global uniqueness of each card’s address.</a:t>
            </a:r>
          </a:p>
          <a:p>
            <a:pPr marL="142875" indent="-342900" eaLnBrk="1" hangingPunct="1">
              <a:buFont typeface="Arial" panose="020B0604020202020204" pitchFamily="34" charset="0"/>
              <a:buChar char="•"/>
              <a:defRPr/>
            </a:pPr>
            <a:r>
              <a:rPr lang="en-US" altLang="en-US" kern="0" dirty="0"/>
              <a:t>Global uniqueness is a convenience, not a requirement. Uniqueness on the local LAN is only required.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520700"/>
          </a:xfrm>
        </p:spPr>
        <p:txBody>
          <a:bodyPr/>
          <a:lstStyle/>
          <a:p>
            <a:pPr eaLnBrk="1" hangingPunct="1"/>
            <a:r>
              <a:rPr lang="en-US" altLang="en-US" sz="3600" dirty="0"/>
              <a:t>Collision Detection – CSMA/CD</a:t>
            </a:r>
          </a:p>
        </p:txBody>
      </p:sp>
      <p:sp>
        <p:nvSpPr>
          <p:cNvPr id="11267" name="Rectangle 3"/>
          <p:cNvSpPr>
            <a:spLocks noGrp="1" noChangeArrowheads="1"/>
          </p:cNvSpPr>
          <p:nvPr>
            <p:ph type="body" idx="1"/>
          </p:nvPr>
        </p:nvSpPr>
        <p:spPr>
          <a:xfrm>
            <a:off x="0" y="3064042"/>
            <a:ext cx="9144000" cy="3793958"/>
          </a:xfrm>
        </p:spPr>
        <p:txBody>
          <a:bodyPr/>
          <a:lstStyle/>
          <a:p>
            <a:pPr marL="223838" indent="-223838" eaLnBrk="1" hangingPunct="1">
              <a:buFontTx/>
              <a:buChar char="•"/>
              <a:defRPr/>
            </a:pPr>
            <a:r>
              <a:rPr lang="en-US" altLang="en-US" sz="2000" dirty="0"/>
              <a:t>Collision Detection means that a transmitting station can detect collision, stops transmitting immediately. CD is possible on wired media, not on wireless.</a:t>
            </a:r>
          </a:p>
          <a:p>
            <a:pPr marL="223838" indent="-223838" eaLnBrk="1" hangingPunct="1">
              <a:buFontTx/>
              <a:buChar char="•"/>
              <a:defRPr/>
            </a:pPr>
            <a:r>
              <a:rPr lang="en-US" altLang="en-US" sz="2000" dirty="0"/>
              <a:t>Conceptually, the slot-time T is the maximum RTT on the LAN, or twice the maximal delay between the farthest stations</a:t>
            </a:r>
          </a:p>
          <a:p>
            <a:pPr marL="223838" indent="-223838" eaLnBrk="1" hangingPunct="1">
              <a:buFontTx/>
              <a:buChar char="•"/>
              <a:defRPr/>
            </a:pPr>
            <a:r>
              <a:rPr lang="en-US" altLang="en-US" sz="2000" dirty="0"/>
              <a:t>Maximum “diameter” of LAN defined as 232 bits =&gt; RTT = 464 bits time</a:t>
            </a:r>
          </a:p>
          <a:p>
            <a:pPr marL="223838" indent="-223838" eaLnBrk="1" hangingPunct="1">
              <a:buFontTx/>
              <a:buChar char="•"/>
              <a:defRPr/>
            </a:pPr>
            <a:r>
              <a:rPr lang="en-US" sz="2000" dirty="0"/>
              <a:t>Each station involved in collision transmits “jam” of  48 bits. =&gt; </a:t>
            </a:r>
            <a:r>
              <a:rPr lang="en-US" sz="2000" b="1" dirty="0"/>
              <a:t>Slot-time</a:t>
            </a:r>
            <a:r>
              <a:rPr lang="en-US" sz="2000" dirty="0"/>
              <a:t> = 512 bits</a:t>
            </a:r>
            <a:endParaRPr lang="en-US" altLang="en-US" sz="2000" dirty="0"/>
          </a:p>
          <a:p>
            <a:pPr marL="223838" indent="-223838" eaLnBrk="1" hangingPunct="1">
              <a:buFontTx/>
              <a:buChar char="•"/>
              <a:defRPr/>
            </a:pPr>
            <a:r>
              <a:rPr lang="en-US" altLang="en-US" sz="2000" dirty="0"/>
              <a:t>If a station transmits successfully (no collision detected) within the slot time, it is sure to have acquired the channel so it continues the whole frame.</a:t>
            </a:r>
          </a:p>
          <a:p>
            <a:pPr marL="223838" indent="-223838" eaLnBrk="1" hangingPunct="1">
              <a:buFontTx/>
              <a:buChar char="•"/>
              <a:defRPr/>
            </a:pPr>
            <a:r>
              <a:rPr lang="en-US" altLang="en-US" sz="2000" dirty="0"/>
              <a:t>Minimum packet size must fill the slot time. That is </a:t>
            </a:r>
            <a:r>
              <a:rPr lang="en-US" altLang="en-US" sz="2000" dirty="0">
                <a:solidFill>
                  <a:srgbClr val="FF0000"/>
                </a:solidFill>
              </a:rPr>
              <a:t>64 bytes minimum frame size. </a:t>
            </a:r>
            <a:r>
              <a:rPr lang="en-US" altLang="en-US" sz="2000" dirty="0"/>
              <a:t> That’s headers + at least 46 bytes of payload. Padding used for smaller packets (i.e. TCP ACK has 40 bytes of TCP and IP headers, add 6 padding bytes).</a:t>
            </a:r>
          </a:p>
          <a:p>
            <a:pPr marL="0" indent="0" eaLnBrk="1" hangingPunct="1">
              <a:buNone/>
              <a:defRPr/>
            </a:pPr>
            <a:endParaRPr lang="en-US" altLang="en-US" sz="2000" dirty="0"/>
          </a:p>
        </p:txBody>
      </p:sp>
      <p:pic>
        <p:nvPicPr>
          <p:cNvPr id="1741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355" y="680203"/>
            <a:ext cx="7886700" cy="2162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433137"/>
          </a:xfrm>
        </p:spPr>
        <p:txBody>
          <a:bodyPr/>
          <a:lstStyle/>
          <a:p>
            <a:pPr eaLnBrk="1" hangingPunct="1"/>
            <a:r>
              <a:rPr lang="en-US" altLang="en-US" sz="3200" dirty="0"/>
              <a:t>The Binary-Exponential </a:t>
            </a:r>
            <a:r>
              <a:rPr lang="en-US" altLang="en-US" sz="3200" dirty="0" err="1"/>
              <a:t>Backoff</a:t>
            </a:r>
            <a:r>
              <a:rPr lang="en-US" altLang="en-US" sz="3200" dirty="0"/>
              <a:t> Algorithm</a:t>
            </a:r>
          </a:p>
        </p:txBody>
      </p:sp>
      <p:sp>
        <p:nvSpPr>
          <p:cNvPr id="11267" name="Rectangle 3"/>
          <p:cNvSpPr>
            <a:spLocks noGrp="1" noChangeArrowheads="1"/>
          </p:cNvSpPr>
          <p:nvPr>
            <p:ph type="body" idx="1"/>
          </p:nvPr>
        </p:nvSpPr>
        <p:spPr>
          <a:xfrm>
            <a:off x="0" y="529389"/>
            <a:ext cx="9144000" cy="2791327"/>
          </a:xfrm>
        </p:spPr>
        <p:txBody>
          <a:bodyPr/>
          <a:lstStyle/>
          <a:p>
            <a:pPr marL="288925" indent="-288925" eaLnBrk="1" hangingPunct="1">
              <a:buFont typeface="+mj-lt"/>
              <a:buAutoNum type="arabicPeriod"/>
              <a:defRPr/>
            </a:pPr>
            <a:r>
              <a:rPr lang="en-US" altLang="en-US" sz="1900" dirty="0"/>
              <a:t>Listen before transmitting (“carrier detect”).</a:t>
            </a:r>
          </a:p>
          <a:p>
            <a:pPr marL="288925" indent="-288925" eaLnBrk="1" hangingPunct="1">
              <a:buFont typeface="+mj-lt"/>
              <a:buAutoNum type="arabicPeriod"/>
              <a:defRPr/>
            </a:pPr>
            <a:r>
              <a:rPr lang="en-US" altLang="en-US" sz="1900" dirty="0"/>
              <a:t>If line is busy, wait for sender to stop and then wait an additional 9.6</a:t>
            </a:r>
            <a:r>
              <a:rPr lang="el-GR" altLang="en-US" sz="1900" dirty="0"/>
              <a:t>μ</a:t>
            </a:r>
            <a:r>
              <a:rPr lang="en-US" altLang="en-US" sz="1900" dirty="0"/>
              <a:t>s (96 bits).</a:t>
            </a:r>
          </a:p>
          <a:p>
            <a:pPr marL="288925" indent="-288925" eaLnBrk="1" hangingPunct="1">
              <a:buFont typeface="+mj-lt"/>
              <a:buAutoNum type="arabicPeriod"/>
              <a:defRPr/>
            </a:pPr>
            <a:r>
              <a:rPr lang="en-US" altLang="en-US" sz="1900" dirty="0"/>
              <a:t>Begin transmitting while simultaneously monitoring for collisions (CD).</a:t>
            </a:r>
          </a:p>
          <a:p>
            <a:pPr marL="288925" indent="-288925" eaLnBrk="1" hangingPunct="1">
              <a:buFont typeface="+mj-lt"/>
              <a:buAutoNum type="arabicPeriod"/>
              <a:defRPr/>
            </a:pPr>
            <a:r>
              <a:rPr lang="en-US" altLang="en-US" sz="1900" dirty="0"/>
              <a:t>If collision occur, send the jam signal, and choose a backoff time, k slots of 51.2</a:t>
            </a:r>
            <a:r>
              <a:rPr lang="el-GR" altLang="en-US" sz="1900" dirty="0"/>
              <a:t> μ</a:t>
            </a:r>
            <a:r>
              <a:rPr lang="en-US" altLang="en-US" sz="1900" dirty="0"/>
              <a:t>s . Select k randomly from {0, 1}, then from {0, 1, 2, 3} and so on. </a:t>
            </a:r>
            <a:r>
              <a:rPr lang="en-US" altLang="en-US" sz="1900" dirty="0">
                <a:solidFill>
                  <a:srgbClr val="7030A0"/>
                </a:solidFill>
              </a:rPr>
              <a:t>The interval doubles after each new failed attempt on the same packet</a:t>
            </a:r>
            <a:r>
              <a:rPr lang="en-US" altLang="en-US" sz="1900" dirty="0"/>
              <a:t> until the 10</a:t>
            </a:r>
            <a:r>
              <a:rPr lang="en-US" altLang="en-US" sz="1900" baseline="30000" dirty="0"/>
              <a:t>th</a:t>
            </a:r>
            <a:r>
              <a:rPr lang="en-US" altLang="en-US" sz="1900" dirty="0"/>
              <a:t> attempt. If someone else acquires the channel successfully during backoff, wait then restart from step 3.</a:t>
            </a:r>
          </a:p>
          <a:p>
            <a:pPr marL="288925" indent="-288925" eaLnBrk="1" hangingPunct="1">
              <a:buFont typeface="+mj-lt"/>
              <a:buAutoNum type="arabicPeriod"/>
              <a:defRPr/>
            </a:pPr>
            <a:r>
              <a:rPr lang="en-US" altLang="en-US" sz="1900" dirty="0"/>
              <a:t>If we reach16 transmission attempts, give up: drop the packet.</a:t>
            </a:r>
          </a:p>
        </p:txBody>
      </p:sp>
      <p:pic>
        <p:nvPicPr>
          <p:cNvPr id="4" name="Picture 3"/>
          <p:cNvPicPr>
            <a:picLocks noChangeAspect="1"/>
          </p:cNvPicPr>
          <p:nvPr/>
        </p:nvPicPr>
        <p:blipFill>
          <a:blip r:embed="rId2"/>
          <a:stretch>
            <a:fillRect/>
          </a:stretch>
        </p:blipFill>
        <p:spPr>
          <a:xfrm>
            <a:off x="194994" y="3616297"/>
            <a:ext cx="8491807" cy="2958570"/>
          </a:xfrm>
          <a:prstGeom prst="rect">
            <a:avLst/>
          </a:prstGeom>
        </p:spPr>
      </p:pic>
    </p:spTree>
    <p:extLst>
      <p:ext uri="{BB962C8B-B14F-4D97-AF65-F5344CB8AC3E}">
        <p14:creationId xmlns:p14="http://schemas.microsoft.com/office/powerpoint/2010/main" val="392773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9144000" cy="520700"/>
          </a:xfrm>
        </p:spPr>
        <p:txBody>
          <a:bodyPr/>
          <a:lstStyle/>
          <a:p>
            <a:pPr eaLnBrk="1" hangingPunct="1"/>
            <a:r>
              <a:rPr lang="en-US" altLang="en-US" sz="2800" dirty="0"/>
              <a:t>Slot Time and Minimum Frame Size</a:t>
            </a:r>
          </a:p>
        </p:txBody>
      </p:sp>
      <p:sp>
        <p:nvSpPr>
          <p:cNvPr id="11267" name="Rectangle 3"/>
          <p:cNvSpPr>
            <a:spLocks noGrp="1" noChangeArrowheads="1"/>
          </p:cNvSpPr>
          <p:nvPr>
            <p:ph type="body" idx="1"/>
          </p:nvPr>
        </p:nvSpPr>
        <p:spPr>
          <a:xfrm>
            <a:off x="0" y="2013948"/>
            <a:ext cx="9144000" cy="4844052"/>
          </a:xfrm>
        </p:spPr>
        <p:txBody>
          <a:bodyPr/>
          <a:lstStyle/>
          <a:p>
            <a:pPr marL="223838" indent="-223838" eaLnBrk="1" hangingPunct="1">
              <a:buFontTx/>
              <a:buChar char="•"/>
              <a:defRPr/>
            </a:pPr>
            <a:r>
              <a:rPr lang="en-US" altLang="en-US" sz="1800" dirty="0"/>
              <a:t>The LAN </a:t>
            </a:r>
            <a:r>
              <a:rPr lang="en-US" altLang="en-US" sz="1800" i="1" dirty="0"/>
              <a:t>Diameter</a:t>
            </a:r>
            <a:r>
              <a:rPr lang="en-US" altLang="en-US" sz="1800" dirty="0"/>
              <a:t> is the maximum distance between two hosts on the LAN</a:t>
            </a:r>
          </a:p>
          <a:p>
            <a:pPr marL="223838" indent="-223838" eaLnBrk="1" hangingPunct="1">
              <a:buFontTx/>
              <a:buChar char="•"/>
              <a:defRPr/>
            </a:pPr>
            <a:r>
              <a:rPr lang="en-US" altLang="en-US" sz="1800" dirty="0"/>
              <a:t>The IEEE 802.3 specification allows a diameter of 2500m, but with a max of 500m per </a:t>
            </a:r>
            <a:r>
              <a:rPr lang="en-US" altLang="en-US" sz="1800" i="1" dirty="0"/>
              <a:t>segment</a:t>
            </a:r>
            <a:r>
              <a:rPr lang="en-US" altLang="en-US" sz="1800" dirty="0"/>
              <a:t>, segments might be joined by </a:t>
            </a:r>
            <a:r>
              <a:rPr lang="en-US" altLang="en-US" sz="1800" i="1" dirty="0"/>
              <a:t>repeaters</a:t>
            </a:r>
            <a:r>
              <a:rPr lang="en-US" altLang="en-US" sz="1800" dirty="0"/>
              <a:t>.</a:t>
            </a:r>
          </a:p>
          <a:p>
            <a:pPr marL="223838" indent="-223838" eaLnBrk="1" hangingPunct="1">
              <a:buFontTx/>
              <a:buChar char="•"/>
              <a:defRPr/>
            </a:pPr>
            <a:r>
              <a:rPr lang="en-US" altLang="en-US" sz="1800" dirty="0"/>
              <a:t>Under these conditions, the </a:t>
            </a:r>
            <a:r>
              <a:rPr lang="en-US" altLang="en-US" sz="1800" i="1" dirty="0"/>
              <a:t>delay budget </a:t>
            </a:r>
            <a:r>
              <a:rPr lang="en-US" altLang="en-US" sz="1800" dirty="0"/>
              <a:t>was calculated by considering</a:t>
            </a:r>
          </a:p>
          <a:p>
            <a:pPr marL="381000" lvl="1" indent="0" eaLnBrk="1" hangingPunct="1">
              <a:buNone/>
              <a:defRPr/>
            </a:pPr>
            <a:r>
              <a:rPr lang="en-US" altLang="en-US" sz="1600" dirty="0"/>
              <a:t>* signal delay in cables    * delays in electronic devices (encoders, transceivers, repeaters, etc.).</a:t>
            </a:r>
          </a:p>
          <a:p>
            <a:pPr marL="223838" indent="-223838" eaLnBrk="1" hangingPunct="1">
              <a:buFontTx/>
              <a:buChar char="•"/>
              <a:defRPr/>
            </a:pPr>
            <a:endParaRPr lang="en-US" altLang="en-US" sz="1200" dirty="0"/>
          </a:p>
          <a:p>
            <a:pPr marL="223838" indent="-223838" eaLnBrk="1" hangingPunct="1">
              <a:buFontTx/>
              <a:buChar char="•"/>
              <a:defRPr/>
            </a:pPr>
            <a:r>
              <a:rPr lang="en-US" altLang="en-US" sz="1800" dirty="0"/>
              <a:t>The </a:t>
            </a:r>
            <a:r>
              <a:rPr lang="en-US" altLang="en-US" sz="1800" i="1" dirty="0"/>
              <a:t>delay upper bound </a:t>
            </a:r>
            <a:r>
              <a:rPr lang="en-US" altLang="en-US" sz="1800" dirty="0"/>
              <a:t>was calculated to be equivalent to </a:t>
            </a:r>
            <a:r>
              <a:rPr lang="en-US" altLang="en-US" sz="1800" i="1" dirty="0">
                <a:solidFill>
                  <a:schemeClr val="tx2"/>
                </a:solidFill>
              </a:rPr>
              <a:t>232 bits</a:t>
            </a:r>
            <a:r>
              <a:rPr lang="en-US" altLang="en-US" sz="1800" dirty="0"/>
              <a:t>. </a:t>
            </a:r>
            <a:r>
              <a:rPr lang="en-US" altLang="en-US" sz="1600" dirty="0">
                <a:solidFill>
                  <a:schemeClr val="bg1">
                    <a:lumMod val="50000"/>
                  </a:schemeClr>
                </a:solidFill>
              </a:rPr>
              <a:t>(or 23.2 </a:t>
            </a:r>
            <a:r>
              <a:rPr lang="el-GR" altLang="en-US" sz="1600" dirty="0">
                <a:solidFill>
                  <a:schemeClr val="bg1">
                    <a:lumMod val="50000"/>
                  </a:schemeClr>
                </a:solidFill>
              </a:rPr>
              <a:t>μ</a:t>
            </a:r>
            <a:r>
              <a:rPr lang="en-US" altLang="en-US" sz="1600" dirty="0">
                <a:solidFill>
                  <a:schemeClr val="bg1">
                    <a:lumMod val="50000"/>
                  </a:schemeClr>
                </a:solidFill>
              </a:rPr>
              <a:t>s). </a:t>
            </a:r>
            <a:r>
              <a:rPr lang="en-US" altLang="en-US" sz="1800" dirty="0"/>
              <a:t>Hence the upper-bound of RTT is 2 * 232 = 464 bits</a:t>
            </a:r>
          </a:p>
          <a:p>
            <a:pPr marL="223838" indent="-223838" eaLnBrk="1" hangingPunct="1">
              <a:buFontTx/>
              <a:buChar char="•"/>
              <a:defRPr/>
            </a:pPr>
            <a:r>
              <a:rPr lang="en-US" altLang="en-US" sz="1800" dirty="0"/>
              <a:t>In addition to the calculated RTT, the protocol specifies that when a collision is detected the </a:t>
            </a:r>
            <a:r>
              <a:rPr lang="en-US" sz="1800" dirty="0"/>
              <a:t> host must send a “</a:t>
            </a:r>
            <a:r>
              <a:rPr lang="en-US" sz="1800" i="1" dirty="0"/>
              <a:t>jam signal</a:t>
            </a:r>
            <a:r>
              <a:rPr lang="en-US" sz="1800" dirty="0"/>
              <a:t>” of  48 bits. This extended RTT is called the </a:t>
            </a:r>
            <a:r>
              <a:rPr lang="en-US" sz="1800" b="1" dirty="0"/>
              <a:t>Slot-time</a:t>
            </a:r>
          </a:p>
          <a:p>
            <a:pPr marL="0" indent="0" eaLnBrk="1" hangingPunct="1">
              <a:buNone/>
              <a:defRPr/>
            </a:pPr>
            <a:r>
              <a:rPr lang="en-US" sz="1800" b="1" dirty="0"/>
              <a:t>		 T</a:t>
            </a:r>
            <a:r>
              <a:rPr lang="en-US" sz="1800" dirty="0"/>
              <a:t> = 512 bits  = 64 Bytes</a:t>
            </a:r>
            <a:endParaRPr lang="en-US" altLang="en-US" sz="1800" dirty="0"/>
          </a:p>
          <a:p>
            <a:pPr marL="223838" indent="-223838" eaLnBrk="1" hangingPunct="1">
              <a:buFontTx/>
              <a:buChar char="•"/>
              <a:defRPr/>
            </a:pPr>
            <a:r>
              <a:rPr lang="en-US" altLang="en-US" sz="1800" dirty="0"/>
              <a:t>If a host transmits successfully during the slot time </a:t>
            </a:r>
            <a:r>
              <a:rPr lang="en-US" altLang="en-US" sz="1600" dirty="0">
                <a:solidFill>
                  <a:schemeClr val="tx1">
                    <a:lumMod val="50000"/>
                    <a:lumOff val="50000"/>
                  </a:schemeClr>
                </a:solidFill>
              </a:rPr>
              <a:t>(no collision detected)</a:t>
            </a:r>
            <a:r>
              <a:rPr lang="en-US" altLang="en-US" sz="1800" dirty="0"/>
              <a:t>, it is sure to have acquired the medium </a:t>
            </a:r>
            <a:r>
              <a:rPr lang="en-US" altLang="en-US" sz="1600" dirty="0">
                <a:solidFill>
                  <a:schemeClr val="tx1">
                    <a:lumMod val="50000"/>
                    <a:lumOff val="50000"/>
                  </a:schemeClr>
                </a:solidFill>
              </a:rPr>
              <a:t>(everybody else will backoff) </a:t>
            </a:r>
            <a:r>
              <a:rPr lang="en-US" altLang="en-US" sz="1800" dirty="0"/>
              <a:t>so it continues the whole packet.</a:t>
            </a:r>
          </a:p>
          <a:p>
            <a:pPr marL="223838" indent="-223838" eaLnBrk="1" hangingPunct="1">
              <a:buFontTx/>
              <a:buChar char="•"/>
              <a:defRPr/>
            </a:pPr>
            <a:r>
              <a:rPr lang="en-US" altLang="en-US" sz="1800" i="1" dirty="0"/>
              <a:t>Minimum packet size is </a:t>
            </a:r>
            <a:r>
              <a:rPr lang="en-US" altLang="en-US" sz="1800" dirty="0">
                <a:solidFill>
                  <a:srgbClr val="FF0000"/>
                </a:solidFill>
              </a:rPr>
              <a:t>64 bytes. </a:t>
            </a:r>
            <a:r>
              <a:rPr lang="en-US" altLang="en-US" sz="1800" dirty="0"/>
              <a:t>It must “fill” the RTT, to ensure that the transmitting host detects any possible collision. Ethernet header is 18 bytes, so we need at least 46 bytes of payload. </a:t>
            </a:r>
            <a:r>
              <a:rPr lang="en-US" altLang="en-US" sz="1600" i="1" dirty="0">
                <a:solidFill>
                  <a:schemeClr val="tx1">
                    <a:lumMod val="50000"/>
                    <a:lumOff val="50000"/>
                  </a:schemeClr>
                </a:solidFill>
              </a:rPr>
              <a:t>Padding</a:t>
            </a:r>
            <a:r>
              <a:rPr lang="en-US" altLang="en-US" sz="1600" dirty="0">
                <a:solidFill>
                  <a:schemeClr val="tx1">
                    <a:lumMod val="50000"/>
                    <a:lumOff val="50000"/>
                  </a:schemeClr>
                </a:solidFill>
              </a:rPr>
              <a:t> is used when the packet is too small.</a:t>
            </a:r>
          </a:p>
          <a:p>
            <a:pPr marL="0" indent="0" eaLnBrk="1" hangingPunct="1">
              <a:buNone/>
              <a:defRPr/>
            </a:pPr>
            <a:endParaRPr lang="en-US" altLang="en-US" sz="1800" dirty="0"/>
          </a:p>
        </p:txBody>
      </p:sp>
      <p:pic>
        <p:nvPicPr>
          <p:cNvPr id="5" name="Picture 7">
            <a:extLst>
              <a:ext uri="{FF2B5EF4-FFF2-40B4-BE49-F238E27FC236}">
                <a16:creationId xmlns:a16="http://schemas.microsoft.com/office/drawing/2014/main" id="{980B84C2-DA21-4372-B873-92FC7BF46E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16" y="618052"/>
            <a:ext cx="4220569" cy="1298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3B94A16B-7429-48F4-8B33-B2896077C13D}"/>
              </a:ext>
            </a:extLst>
          </p:cNvPr>
          <p:cNvSpPr txBox="1"/>
          <p:nvPr/>
        </p:nvSpPr>
        <p:spPr>
          <a:xfrm>
            <a:off x="4933667" y="572544"/>
            <a:ext cx="4353635" cy="1261884"/>
          </a:xfrm>
          <a:prstGeom prst="rect">
            <a:avLst/>
          </a:prstGeom>
          <a:noFill/>
        </p:spPr>
        <p:txBody>
          <a:bodyPr wrap="square" rtlCol="0">
            <a:spAutoFit/>
          </a:bodyPr>
          <a:lstStyle/>
          <a:p>
            <a:r>
              <a:rPr lang="en-US" sz="1400" dirty="0">
                <a:solidFill>
                  <a:schemeClr val="bg1">
                    <a:lumMod val="50000"/>
                  </a:schemeClr>
                </a:solidFill>
              </a:rPr>
              <a:t>Hosts A and B separated by the max allowed distance (LAN diameter)</a:t>
            </a:r>
            <a:r>
              <a:rPr lang="ar-LB" sz="1400" dirty="0">
                <a:solidFill>
                  <a:schemeClr val="bg1">
                    <a:lumMod val="50000"/>
                  </a:schemeClr>
                </a:solidFill>
              </a:rPr>
              <a:t>.</a:t>
            </a:r>
            <a:r>
              <a:rPr lang="en-US" sz="1400" dirty="0">
                <a:solidFill>
                  <a:schemeClr val="bg1">
                    <a:lumMod val="50000"/>
                  </a:schemeClr>
                </a:solidFill>
              </a:rPr>
              <a:t>This scenario shows</a:t>
            </a:r>
          </a:p>
          <a:p>
            <a:r>
              <a:rPr lang="en-US" sz="600" dirty="0">
                <a:solidFill>
                  <a:schemeClr val="bg1">
                    <a:lumMod val="50000"/>
                  </a:schemeClr>
                </a:solidFill>
              </a:rPr>
              <a:t>  </a:t>
            </a:r>
          </a:p>
          <a:p>
            <a:pPr marL="169863" indent="-169863">
              <a:buFont typeface="Arial" panose="020B0604020202020204" pitchFamily="34" charset="0"/>
              <a:buChar char="•"/>
            </a:pPr>
            <a:r>
              <a:rPr lang="en-US" sz="1400" dirty="0">
                <a:solidFill>
                  <a:schemeClr val="bg1">
                    <a:lumMod val="50000"/>
                  </a:schemeClr>
                </a:solidFill>
              </a:rPr>
              <a:t>the need to define for a minimum packet length, enough to detect all collisions</a:t>
            </a:r>
          </a:p>
          <a:p>
            <a:pPr marL="169863" indent="-169863">
              <a:buFont typeface="Arial" panose="020B0604020202020204" pitchFamily="34" charset="0"/>
              <a:buChar char="•"/>
            </a:pPr>
            <a:r>
              <a:rPr lang="en-US" sz="1400" dirty="0">
                <a:solidFill>
                  <a:schemeClr val="bg1">
                    <a:lumMod val="50000"/>
                  </a:schemeClr>
                </a:solidFill>
              </a:rPr>
              <a:t>The slot time T, defined as the maximum RTT </a:t>
            </a:r>
          </a:p>
        </p:txBody>
      </p:sp>
    </p:spTree>
    <p:extLst>
      <p:ext uri="{BB962C8B-B14F-4D97-AF65-F5344CB8AC3E}">
        <p14:creationId xmlns:p14="http://schemas.microsoft.com/office/powerpoint/2010/main" val="327950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267">
                                            <p:txEl>
                                              <p:pRg st="0" end="0"/>
                                            </p:txEl>
                                          </p:spTgt>
                                        </p:tgtEl>
                                        <p:attrNameLst>
                                          <p:attrName>style.visibility</p:attrName>
                                        </p:attrNameLst>
                                      </p:cBhvr>
                                      <p:to>
                                        <p:strVal val="visible"/>
                                      </p:to>
                                    </p:set>
                                    <p:animEffect transition="in" filter="wipe(left)">
                                      <p:cBhvr>
                                        <p:cTn id="15" dur="500"/>
                                        <p:tgtEl>
                                          <p:spTgt spid="1126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267">
                                            <p:txEl>
                                              <p:pRg st="1" end="1"/>
                                            </p:txEl>
                                          </p:spTgt>
                                        </p:tgtEl>
                                        <p:attrNameLst>
                                          <p:attrName>style.visibility</p:attrName>
                                        </p:attrNameLst>
                                      </p:cBhvr>
                                      <p:to>
                                        <p:strVal val="visible"/>
                                      </p:to>
                                    </p:set>
                                    <p:animEffect transition="in" filter="wipe(left)">
                                      <p:cBhvr>
                                        <p:cTn id="20" dur="500"/>
                                        <p:tgtEl>
                                          <p:spTgt spid="1126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267">
                                            <p:txEl>
                                              <p:pRg st="2" end="2"/>
                                            </p:txEl>
                                          </p:spTgt>
                                        </p:tgtEl>
                                        <p:attrNameLst>
                                          <p:attrName>style.visibility</p:attrName>
                                        </p:attrNameLst>
                                      </p:cBhvr>
                                      <p:to>
                                        <p:strVal val="visible"/>
                                      </p:to>
                                    </p:set>
                                    <p:animEffect transition="in" filter="wipe(left)">
                                      <p:cBhvr>
                                        <p:cTn id="25" dur="500"/>
                                        <p:tgtEl>
                                          <p:spTgt spid="11267">
                                            <p:txEl>
                                              <p:pRg st="2" end="2"/>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1267">
                                            <p:txEl>
                                              <p:pRg st="3" end="3"/>
                                            </p:txEl>
                                          </p:spTgt>
                                        </p:tgtEl>
                                        <p:attrNameLst>
                                          <p:attrName>style.visibility</p:attrName>
                                        </p:attrNameLst>
                                      </p:cBhvr>
                                      <p:to>
                                        <p:strVal val="visible"/>
                                      </p:to>
                                    </p:set>
                                    <p:animEffect transition="in" filter="wipe(left)">
                                      <p:cBhvr>
                                        <p:cTn id="28" dur="500"/>
                                        <p:tgtEl>
                                          <p:spTgt spid="1126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267">
                                            <p:txEl>
                                              <p:pRg st="5" end="5"/>
                                            </p:txEl>
                                          </p:spTgt>
                                        </p:tgtEl>
                                        <p:attrNameLst>
                                          <p:attrName>style.visibility</p:attrName>
                                        </p:attrNameLst>
                                      </p:cBhvr>
                                      <p:to>
                                        <p:strVal val="visible"/>
                                      </p:to>
                                    </p:set>
                                    <p:animEffect transition="in" filter="wipe(left)">
                                      <p:cBhvr>
                                        <p:cTn id="33" dur="500"/>
                                        <p:tgtEl>
                                          <p:spTgt spid="1126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267">
                                            <p:txEl>
                                              <p:pRg st="6" end="6"/>
                                            </p:txEl>
                                          </p:spTgt>
                                        </p:tgtEl>
                                        <p:attrNameLst>
                                          <p:attrName>style.visibility</p:attrName>
                                        </p:attrNameLst>
                                      </p:cBhvr>
                                      <p:to>
                                        <p:strVal val="visible"/>
                                      </p:to>
                                    </p:set>
                                    <p:animEffect transition="in" filter="wipe(left)">
                                      <p:cBhvr>
                                        <p:cTn id="38" dur="500"/>
                                        <p:tgtEl>
                                          <p:spTgt spid="11267">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267">
                                            <p:txEl>
                                              <p:pRg st="7" end="7"/>
                                            </p:txEl>
                                          </p:spTgt>
                                        </p:tgtEl>
                                        <p:attrNameLst>
                                          <p:attrName>style.visibility</p:attrName>
                                        </p:attrNameLst>
                                      </p:cBhvr>
                                      <p:to>
                                        <p:strVal val="visible"/>
                                      </p:to>
                                    </p:set>
                                    <p:animEffect transition="in" filter="wipe(left)">
                                      <p:cBhvr>
                                        <p:cTn id="43" dur="500"/>
                                        <p:tgtEl>
                                          <p:spTgt spid="11267">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267">
                                            <p:txEl>
                                              <p:pRg st="8" end="8"/>
                                            </p:txEl>
                                          </p:spTgt>
                                        </p:tgtEl>
                                        <p:attrNameLst>
                                          <p:attrName>style.visibility</p:attrName>
                                        </p:attrNameLst>
                                      </p:cBhvr>
                                      <p:to>
                                        <p:strVal val="visible"/>
                                      </p:to>
                                    </p:set>
                                    <p:animEffect transition="in" filter="wipe(left)">
                                      <p:cBhvr>
                                        <p:cTn id="48" dur="500"/>
                                        <p:tgtEl>
                                          <p:spTgt spid="11267">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267">
                                            <p:txEl>
                                              <p:pRg st="9" end="9"/>
                                            </p:txEl>
                                          </p:spTgt>
                                        </p:tgtEl>
                                        <p:attrNameLst>
                                          <p:attrName>style.visibility</p:attrName>
                                        </p:attrNameLst>
                                      </p:cBhvr>
                                      <p:to>
                                        <p:strVal val="visible"/>
                                      </p:to>
                                    </p:set>
                                    <p:animEffect transition="in" filter="wipe(left)">
                                      <p:cBhvr>
                                        <p:cTn id="53" dur="500"/>
                                        <p:tgtEl>
                                          <p:spTgt spid="11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0"/>
            <a:ext cx="9144000" cy="561474"/>
          </a:xfrm>
        </p:spPr>
        <p:txBody>
          <a:bodyPr/>
          <a:lstStyle/>
          <a:p>
            <a:pPr eaLnBrk="1" hangingPunct="1"/>
            <a:r>
              <a:rPr lang="en-US" altLang="en-US" sz="3200" dirty="0"/>
              <a:t>Performance analysis preliminary: ALOHA model</a:t>
            </a:r>
          </a:p>
        </p:txBody>
      </p:sp>
      <p:sp>
        <p:nvSpPr>
          <p:cNvPr id="6147" name="Rectangle 3"/>
          <p:cNvSpPr>
            <a:spLocks noGrp="1" noChangeArrowheads="1"/>
          </p:cNvSpPr>
          <p:nvPr>
            <p:ph type="body" idx="1"/>
          </p:nvPr>
        </p:nvSpPr>
        <p:spPr>
          <a:xfrm>
            <a:off x="160421" y="4652210"/>
            <a:ext cx="1909010" cy="994610"/>
          </a:xfrm>
        </p:spPr>
        <p:txBody>
          <a:bodyPr/>
          <a:lstStyle/>
          <a:p>
            <a:pPr marL="0" indent="0" eaLnBrk="1" hangingPunct="1">
              <a:buNone/>
              <a:defRPr/>
            </a:pPr>
            <a:r>
              <a:rPr lang="en-US" altLang="en-US" dirty="0">
                <a:solidFill>
                  <a:srgbClr val="002060"/>
                </a:solidFill>
              </a:rPr>
              <a:t>Vulnerability period is </a:t>
            </a:r>
            <a:r>
              <a:rPr lang="en-US" altLang="en-US" b="1" dirty="0">
                <a:solidFill>
                  <a:srgbClr val="002060"/>
                </a:solidFill>
              </a:rPr>
              <a:t>2T</a:t>
            </a:r>
          </a:p>
        </p:txBody>
      </p:sp>
      <p:pic>
        <p:nvPicPr>
          <p:cNvPr id="922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69" y="534069"/>
            <a:ext cx="7943850" cy="29791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Picture 1"/>
          <p:cNvPicPr>
            <a:picLocks noChangeAspect="1"/>
          </p:cNvPicPr>
          <p:nvPr/>
        </p:nvPicPr>
        <p:blipFill>
          <a:blip r:embed="rId3"/>
          <a:stretch>
            <a:fillRect/>
          </a:stretch>
        </p:blipFill>
        <p:spPr>
          <a:xfrm>
            <a:off x="2165684" y="3954259"/>
            <a:ext cx="6817895" cy="2558716"/>
          </a:xfrm>
          <a:prstGeom prst="rect">
            <a:avLst/>
          </a:prstGeom>
        </p:spPr>
      </p:pic>
      <p:sp>
        <p:nvSpPr>
          <p:cNvPr id="3" name="Rectangle 2"/>
          <p:cNvSpPr/>
          <p:nvPr/>
        </p:nvSpPr>
        <p:spPr>
          <a:xfrm>
            <a:off x="6537158" y="683478"/>
            <a:ext cx="2366210" cy="923330"/>
          </a:xfrm>
          <a:prstGeom prst="rect">
            <a:avLst/>
          </a:prstGeom>
          <a:solidFill>
            <a:schemeClr val="bg1">
              <a:lumMod val="85000"/>
            </a:schemeClr>
          </a:solidFill>
          <a:ln>
            <a:solidFill>
              <a:schemeClr val="accent1"/>
            </a:solidFill>
          </a:ln>
        </p:spPr>
        <p:txBody>
          <a:bodyPr wrap="square">
            <a:spAutoFit/>
          </a:bodyPr>
          <a:lstStyle/>
          <a:p>
            <a:pPr marL="0" indent="0" eaLnBrk="1" hangingPunct="1">
              <a:buNone/>
              <a:defRPr/>
            </a:pPr>
            <a:r>
              <a:rPr lang="en-US" altLang="en-US" dirty="0">
                <a:solidFill>
                  <a:srgbClr val="00B0F0"/>
                </a:solidFill>
              </a:rPr>
              <a:t>Host waits random time then transmits. No carrier sensing.</a:t>
            </a:r>
          </a:p>
        </p:txBody>
      </p:sp>
    </p:spTree>
    <p:extLst>
      <p:ext uri="{BB962C8B-B14F-4D97-AF65-F5344CB8AC3E}">
        <p14:creationId xmlns:p14="http://schemas.microsoft.com/office/powerpoint/2010/main" val="1897197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545432"/>
          </a:xfrm>
        </p:spPr>
        <p:txBody>
          <a:bodyPr/>
          <a:lstStyle/>
          <a:p>
            <a:pPr eaLnBrk="1" hangingPunct="1"/>
            <a:r>
              <a:rPr lang="en-US" altLang="en-US" sz="3600" dirty="0"/>
              <a:t>performance analysis based on ALOHA model</a:t>
            </a:r>
          </a:p>
        </p:txBody>
      </p:sp>
      <p:sp>
        <p:nvSpPr>
          <p:cNvPr id="4" name="Rectangle 3"/>
          <p:cNvSpPr/>
          <p:nvPr/>
        </p:nvSpPr>
        <p:spPr>
          <a:xfrm>
            <a:off x="0" y="641684"/>
            <a:ext cx="9144000" cy="6124754"/>
          </a:xfrm>
          <a:prstGeom prst="rect">
            <a:avLst/>
          </a:prstGeom>
        </p:spPr>
        <p:txBody>
          <a:bodyPr>
            <a:spAutoFit/>
          </a:bodyPr>
          <a:lstStyle/>
          <a:p>
            <a:pPr>
              <a:defRPr/>
            </a:pPr>
            <a:r>
              <a:rPr lang="en-US" dirty="0">
                <a:latin typeface="+mj-lt"/>
                <a:cs typeface="+mn-cs"/>
              </a:rPr>
              <a:t>Consider N hosts in contention, and each host has a probability </a:t>
            </a:r>
            <a:r>
              <a:rPr lang="en-US" b="1" dirty="0">
                <a:solidFill>
                  <a:srgbClr val="0070C0"/>
                </a:solidFill>
                <a:latin typeface="+mj-lt"/>
                <a:cs typeface="+mn-cs"/>
              </a:rPr>
              <a:t>s</a:t>
            </a:r>
            <a:r>
              <a:rPr lang="en-US" dirty="0">
                <a:latin typeface="+mj-lt"/>
                <a:cs typeface="+mn-cs"/>
              </a:rPr>
              <a:t> to transmit during a timeslot (or back-off with probability </a:t>
            </a:r>
            <a:r>
              <a:rPr lang="en-US" dirty="0">
                <a:solidFill>
                  <a:srgbClr val="0070C0"/>
                </a:solidFill>
                <a:latin typeface="+mj-lt"/>
                <a:cs typeface="+mn-cs"/>
              </a:rPr>
              <a:t>1 – s</a:t>
            </a:r>
            <a:r>
              <a:rPr lang="en-US" dirty="0">
                <a:latin typeface="+mj-lt"/>
                <a:cs typeface="+mn-cs"/>
              </a:rPr>
              <a:t>).</a:t>
            </a:r>
          </a:p>
          <a:p>
            <a:pPr>
              <a:defRPr/>
            </a:pPr>
            <a:r>
              <a:rPr lang="en-US" dirty="0">
                <a:latin typeface="+mj-lt"/>
                <a:cs typeface="+mn-cs"/>
              </a:rPr>
              <a:t>For a given host, the probability of a successful transmission at a given slot is </a:t>
            </a:r>
            <a:r>
              <a:rPr lang="en-US" b="1" dirty="0">
                <a:solidFill>
                  <a:srgbClr val="0070C0"/>
                </a:solidFill>
                <a:latin typeface="+mj-lt"/>
                <a:cs typeface="+mn-cs"/>
              </a:rPr>
              <a:t>s(1–s)</a:t>
            </a:r>
            <a:r>
              <a:rPr lang="en-US" b="1" baseline="30000" dirty="0">
                <a:solidFill>
                  <a:srgbClr val="0070C0"/>
                </a:solidFill>
                <a:latin typeface="+mj-lt"/>
                <a:cs typeface="+mn-cs"/>
              </a:rPr>
              <a:t>2(N–1)</a:t>
            </a:r>
            <a:r>
              <a:rPr lang="en-US" dirty="0">
                <a:solidFill>
                  <a:srgbClr val="0070C0"/>
                </a:solidFill>
                <a:latin typeface="+mj-lt"/>
                <a:cs typeface="+mn-cs"/>
              </a:rPr>
              <a:t> </a:t>
            </a:r>
          </a:p>
          <a:p>
            <a:pPr marL="285750" lvl="1" indent="-174625">
              <a:buFontTx/>
              <a:buChar char="-"/>
              <a:defRPr/>
            </a:pPr>
            <a:r>
              <a:rPr lang="en-US" dirty="0">
                <a:solidFill>
                  <a:schemeClr val="bg1">
                    <a:lumMod val="50000"/>
                  </a:schemeClr>
                </a:solidFill>
                <a:latin typeface="+mj-lt"/>
                <a:cs typeface="+mn-cs"/>
              </a:rPr>
              <a:t>the host transmits, probability = s</a:t>
            </a:r>
          </a:p>
          <a:p>
            <a:pPr marL="285750" lvl="1" indent="-174625">
              <a:buFontTx/>
              <a:buChar char="-"/>
              <a:defRPr/>
            </a:pPr>
            <a:r>
              <a:rPr lang="en-US" dirty="0">
                <a:solidFill>
                  <a:schemeClr val="bg1">
                    <a:lumMod val="50000"/>
                  </a:schemeClr>
                </a:solidFill>
                <a:latin typeface="+mj-lt"/>
                <a:cs typeface="+mn-cs"/>
              </a:rPr>
              <a:t>all other N–1 hosts stay quite for 2 slot times, so that no collision occurs ( </a:t>
            </a:r>
            <a:r>
              <a:rPr lang="en-US" dirty="0" err="1">
                <a:solidFill>
                  <a:schemeClr val="bg1">
                    <a:lumMod val="50000"/>
                  </a:schemeClr>
                </a:solidFill>
                <a:latin typeface="+mj-lt"/>
                <a:cs typeface="+mn-cs"/>
              </a:rPr>
              <a:t>proba</a:t>
            </a:r>
            <a:r>
              <a:rPr lang="en-US" dirty="0">
                <a:solidFill>
                  <a:schemeClr val="bg1">
                    <a:lumMod val="50000"/>
                  </a:schemeClr>
                </a:solidFill>
                <a:latin typeface="+mj-lt"/>
                <a:cs typeface="+mn-cs"/>
              </a:rPr>
              <a:t> = (1-s)</a:t>
            </a:r>
            <a:r>
              <a:rPr lang="en-US" baseline="30000" dirty="0">
                <a:solidFill>
                  <a:schemeClr val="bg1">
                    <a:lumMod val="50000"/>
                  </a:schemeClr>
                </a:solidFill>
                <a:latin typeface="+mj-lt"/>
                <a:cs typeface="+mn-cs"/>
              </a:rPr>
              <a:t>2(N-1) </a:t>
            </a:r>
            <a:r>
              <a:rPr lang="en-US" dirty="0">
                <a:solidFill>
                  <a:schemeClr val="bg1">
                    <a:lumMod val="50000"/>
                  </a:schemeClr>
                </a:solidFill>
                <a:latin typeface="+mj-lt"/>
                <a:cs typeface="+mn-cs"/>
              </a:rPr>
              <a:t>). </a:t>
            </a:r>
          </a:p>
          <a:p>
            <a:pPr>
              <a:defRPr/>
            </a:pPr>
            <a:endParaRPr lang="en-US" sz="800" dirty="0">
              <a:latin typeface="+mj-lt"/>
              <a:cs typeface="+mn-cs"/>
            </a:endParaRPr>
          </a:p>
          <a:p>
            <a:pPr>
              <a:defRPr/>
            </a:pPr>
            <a:r>
              <a:rPr lang="en-US" dirty="0">
                <a:latin typeface="+mj-lt"/>
                <a:cs typeface="+mn-cs"/>
              </a:rPr>
              <a:t>Accordingly, the successful transmit rate (probability of a successful transmission by </a:t>
            </a:r>
            <a:r>
              <a:rPr lang="en-US" i="1" dirty="0">
                <a:latin typeface="+mj-lt"/>
                <a:cs typeface="+mn-cs"/>
              </a:rPr>
              <a:t>any</a:t>
            </a:r>
            <a:r>
              <a:rPr lang="en-US" dirty="0">
                <a:latin typeface="+mj-lt"/>
                <a:cs typeface="+mn-cs"/>
              </a:rPr>
              <a:t> host) is</a:t>
            </a:r>
          </a:p>
          <a:p>
            <a:pPr>
              <a:defRPr/>
            </a:pPr>
            <a:r>
              <a:rPr lang="en-US" b="1" dirty="0">
                <a:solidFill>
                  <a:srgbClr val="0070C0"/>
                </a:solidFill>
                <a:latin typeface="+mj-lt"/>
                <a:cs typeface="+mn-cs"/>
              </a:rPr>
              <a:t>	</a:t>
            </a:r>
            <a:r>
              <a:rPr lang="en-US" b="1" dirty="0">
                <a:solidFill>
                  <a:srgbClr val="0070C0"/>
                </a:solidFill>
                <a:latin typeface="+mj-lt"/>
              </a:rPr>
              <a:t>Ns (1 – s) </a:t>
            </a:r>
            <a:r>
              <a:rPr lang="en-US" b="1" baseline="30000" dirty="0">
                <a:solidFill>
                  <a:srgbClr val="0070C0"/>
                </a:solidFill>
                <a:latin typeface="+mj-lt"/>
              </a:rPr>
              <a:t>2(N – 1 )   </a:t>
            </a:r>
            <a:r>
              <a:rPr lang="en-US" b="1" dirty="0">
                <a:solidFill>
                  <a:srgbClr val="0070C0"/>
                </a:solidFill>
                <a:latin typeface="+mj-lt"/>
              </a:rPr>
              <a:t>= G (1 – G/N) </a:t>
            </a:r>
            <a:r>
              <a:rPr lang="en-US" b="1" baseline="30000" dirty="0">
                <a:solidFill>
                  <a:srgbClr val="0070C0"/>
                </a:solidFill>
                <a:latin typeface="+mj-lt"/>
              </a:rPr>
              <a:t>2(N – 1 )</a:t>
            </a:r>
          </a:p>
          <a:p>
            <a:pPr>
              <a:defRPr/>
            </a:pPr>
            <a:endParaRPr lang="en-US" sz="800" dirty="0">
              <a:latin typeface="+mj-lt"/>
              <a:cs typeface="+mn-cs"/>
            </a:endParaRPr>
          </a:p>
          <a:p>
            <a:pPr>
              <a:defRPr/>
            </a:pPr>
            <a:r>
              <a:rPr lang="en-US" dirty="0">
                <a:latin typeface="+mj-lt"/>
                <a:cs typeface="+mn-cs"/>
              </a:rPr>
              <a:t>Where </a:t>
            </a:r>
            <a:r>
              <a:rPr lang="en-US" b="1" dirty="0">
                <a:solidFill>
                  <a:srgbClr val="0070C0"/>
                </a:solidFill>
                <a:latin typeface="+mj-lt"/>
                <a:cs typeface="+mn-cs"/>
              </a:rPr>
              <a:t>G = Ns</a:t>
            </a:r>
            <a:r>
              <a:rPr lang="en-US" dirty="0">
                <a:latin typeface="+mj-lt"/>
                <a:cs typeface="+mn-cs"/>
              </a:rPr>
              <a:t> is defined as the total “traffic” (total transmit attempts by all hosts). Under the assumption of large </a:t>
            </a:r>
            <a:r>
              <a:rPr lang="en-US" dirty="0">
                <a:solidFill>
                  <a:srgbClr val="000000"/>
                </a:solidFill>
                <a:latin typeface="+mj-lt"/>
              </a:rPr>
              <a:t>N and small s, the rate of successful transmissions </a:t>
            </a:r>
            <a:r>
              <a:rPr lang="en-US" dirty="0">
                <a:solidFill>
                  <a:srgbClr val="000000"/>
                </a:solidFill>
                <a:latin typeface="+mj-lt"/>
                <a:sym typeface="Wingdings" panose="05000000000000000000" pitchFamily="2" charset="2"/>
              </a:rPr>
              <a:t></a:t>
            </a:r>
            <a:r>
              <a:rPr lang="en-US" dirty="0">
                <a:solidFill>
                  <a:srgbClr val="000000"/>
                </a:solidFill>
                <a:latin typeface="+mj-lt"/>
              </a:rPr>
              <a:t> </a:t>
            </a:r>
            <a:r>
              <a:rPr lang="en-US" b="1" dirty="0">
                <a:solidFill>
                  <a:srgbClr val="0070C0"/>
                </a:solidFill>
                <a:latin typeface="+mj-lt"/>
              </a:rPr>
              <a:t>S = e</a:t>
            </a:r>
            <a:r>
              <a:rPr lang="en-US" b="1" baseline="30000" dirty="0">
                <a:solidFill>
                  <a:srgbClr val="0070C0"/>
                </a:solidFill>
                <a:latin typeface="+mj-lt"/>
              </a:rPr>
              <a:t>– 2G</a:t>
            </a:r>
            <a:r>
              <a:rPr lang="en-US" dirty="0">
                <a:solidFill>
                  <a:srgbClr val="002060"/>
                </a:solidFill>
                <a:latin typeface="+mj-lt"/>
              </a:rPr>
              <a:t>, with a </a:t>
            </a:r>
            <a:r>
              <a:rPr lang="en-US" b="1" dirty="0">
                <a:solidFill>
                  <a:srgbClr val="002060"/>
                </a:solidFill>
                <a:latin typeface="+mj-lt"/>
              </a:rPr>
              <a:t> </a:t>
            </a:r>
            <a:r>
              <a:rPr lang="en-US" dirty="0">
                <a:latin typeface="+mj-lt"/>
              </a:rPr>
              <a:t>maximum of (1</a:t>
            </a:r>
            <a:r>
              <a:rPr lang="en-US" sz="800" dirty="0">
                <a:latin typeface="+mj-lt"/>
              </a:rPr>
              <a:t> </a:t>
            </a:r>
            <a:r>
              <a:rPr lang="en-US" dirty="0">
                <a:latin typeface="+mj-lt"/>
              </a:rPr>
              <a:t>/</a:t>
            </a:r>
            <a:r>
              <a:rPr lang="en-US" sz="800" dirty="0">
                <a:latin typeface="+mj-lt"/>
              </a:rPr>
              <a:t> </a:t>
            </a:r>
            <a:r>
              <a:rPr lang="en-US" dirty="0">
                <a:latin typeface="+mj-lt"/>
              </a:rPr>
              <a:t>2e) at G = ½</a:t>
            </a:r>
          </a:p>
          <a:p>
            <a:pPr>
              <a:defRPr/>
            </a:pPr>
            <a:endParaRPr lang="en-US" sz="800" dirty="0">
              <a:latin typeface="+mj-lt"/>
            </a:endParaRPr>
          </a:p>
          <a:p>
            <a:pPr>
              <a:defRPr/>
            </a:pPr>
            <a:r>
              <a:rPr lang="en-US" dirty="0">
                <a:latin typeface="+mj-lt"/>
              </a:rPr>
              <a:t>Applying this result to approximate </a:t>
            </a:r>
            <a:r>
              <a:rPr lang="en-US" dirty="0">
                <a:solidFill>
                  <a:srgbClr val="FF0000"/>
                </a:solidFill>
                <a:latin typeface="+mj-lt"/>
              </a:rPr>
              <a:t>Ethernet’s </a:t>
            </a:r>
            <a:r>
              <a:rPr lang="en-US" i="1" dirty="0">
                <a:solidFill>
                  <a:srgbClr val="FF0000"/>
                </a:solidFill>
                <a:latin typeface="+mj-lt"/>
              </a:rPr>
              <a:t>contention period</a:t>
            </a:r>
            <a:r>
              <a:rPr lang="en-US" dirty="0">
                <a:latin typeface="+mj-lt"/>
              </a:rPr>
              <a:t>, under similar circumstances, avg. number of </a:t>
            </a:r>
            <a:r>
              <a:rPr lang="en-US" i="1" dirty="0">
                <a:latin typeface="+mj-lt"/>
              </a:rPr>
              <a:t>wasted</a:t>
            </a:r>
            <a:r>
              <a:rPr lang="en-US" dirty="0">
                <a:latin typeface="+mj-lt"/>
              </a:rPr>
              <a:t> slots per contention period is 2e – 1, or wasted time = (2e – 1)T.</a:t>
            </a:r>
          </a:p>
          <a:p>
            <a:pPr>
              <a:defRPr/>
            </a:pPr>
            <a:endParaRPr lang="en-US" sz="800" dirty="0">
              <a:latin typeface="+mj-lt"/>
            </a:endParaRPr>
          </a:p>
          <a:p>
            <a:pPr>
              <a:defRPr/>
            </a:pPr>
            <a:r>
              <a:rPr lang="en-US" dirty="0">
                <a:latin typeface="+mj-lt"/>
              </a:rPr>
              <a:t>Let P.T be the average the average time to transmit a successful packet. Then, the </a:t>
            </a:r>
            <a:r>
              <a:rPr lang="en-US" i="1" dirty="0">
                <a:latin typeface="+mj-lt"/>
              </a:rPr>
              <a:t>efficiency</a:t>
            </a:r>
            <a:r>
              <a:rPr lang="en-US" dirty="0">
                <a:latin typeface="+mj-lt"/>
              </a:rPr>
              <a:t>, d</a:t>
            </a:r>
            <a:r>
              <a:rPr lang="en-US" dirty="0">
                <a:solidFill>
                  <a:schemeClr val="bg1">
                    <a:lumMod val="50000"/>
                  </a:schemeClr>
                </a:solidFill>
                <a:latin typeface="+mj-lt"/>
              </a:rPr>
              <a:t>efined as </a:t>
            </a:r>
            <a:r>
              <a:rPr lang="en-US" dirty="0">
                <a:solidFill>
                  <a:srgbClr val="00B0F0"/>
                </a:solidFill>
                <a:latin typeface="+mj-lt"/>
              </a:rPr>
              <a:t>(useful time) / (total time)</a:t>
            </a:r>
            <a:r>
              <a:rPr lang="en-US" dirty="0">
                <a:latin typeface="+mj-lt"/>
              </a:rPr>
              <a:t> is  </a:t>
            </a:r>
            <a:r>
              <a:rPr lang="en-US" dirty="0">
                <a:solidFill>
                  <a:schemeClr val="accent6"/>
                </a:solidFill>
                <a:latin typeface="+mj-lt"/>
              </a:rPr>
              <a:t>P / (P + 2e – 1)</a:t>
            </a:r>
          </a:p>
          <a:p>
            <a:pPr marL="285750" indent="-285750">
              <a:buFont typeface="Arial" panose="020B0604020202020204" pitchFamily="34" charset="0"/>
              <a:buChar char="•"/>
              <a:defRPr/>
            </a:pPr>
            <a:r>
              <a:rPr lang="en-US" sz="1600" dirty="0">
                <a:latin typeface="+mj-lt"/>
              </a:rPr>
              <a:t>In other words, the </a:t>
            </a:r>
            <a:r>
              <a:rPr lang="en-US" sz="1600" i="1" dirty="0">
                <a:latin typeface="+mj-lt"/>
              </a:rPr>
              <a:t>throughput</a:t>
            </a:r>
            <a:r>
              <a:rPr lang="en-US" sz="1600" dirty="0">
                <a:latin typeface="+mj-lt"/>
              </a:rPr>
              <a:t> is </a:t>
            </a:r>
            <a:r>
              <a:rPr lang="en-US" sz="1600" dirty="0">
                <a:solidFill>
                  <a:schemeClr val="accent6"/>
                </a:solidFill>
                <a:latin typeface="+mj-lt"/>
              </a:rPr>
              <a:t>P / (P + 2e – 1) </a:t>
            </a:r>
            <a:r>
              <a:rPr lang="en-US" sz="1600" dirty="0">
                <a:latin typeface="+mj-lt"/>
              </a:rPr>
              <a:t>times the bit-rate.</a:t>
            </a:r>
            <a:endParaRPr lang="en-US" sz="1600" dirty="0">
              <a:solidFill>
                <a:schemeClr val="bg1">
                  <a:lumMod val="50000"/>
                </a:schemeClr>
              </a:solidFill>
              <a:latin typeface="+mj-lt"/>
            </a:endParaRPr>
          </a:p>
          <a:p>
            <a:pPr>
              <a:defRPr/>
            </a:pPr>
            <a:endParaRPr lang="en-US" sz="800" dirty="0">
              <a:latin typeface="+mj-lt"/>
            </a:endParaRPr>
          </a:p>
          <a:p>
            <a:pPr>
              <a:defRPr/>
            </a:pPr>
            <a:r>
              <a:rPr lang="en-US" b="1" dirty="0">
                <a:latin typeface="+mj-lt"/>
              </a:rPr>
              <a:t>Examples</a:t>
            </a:r>
            <a:r>
              <a:rPr lang="en-US" b="1" dirty="0">
                <a:solidFill>
                  <a:schemeClr val="bg1">
                    <a:lumMod val="50000"/>
                  </a:schemeClr>
                </a:solidFill>
                <a:latin typeface="+mj-lt"/>
              </a:rPr>
              <a:t>.</a:t>
            </a:r>
            <a:r>
              <a:rPr lang="en-US" dirty="0">
                <a:solidFill>
                  <a:schemeClr val="bg1">
                    <a:lumMod val="50000"/>
                  </a:schemeClr>
                </a:solidFill>
                <a:latin typeface="+mj-lt"/>
              </a:rPr>
              <a:t>   In 10Mbps Ethernet, T=51.2</a:t>
            </a:r>
            <a:r>
              <a:rPr lang="el-GR" dirty="0">
                <a:solidFill>
                  <a:schemeClr val="bg1">
                    <a:lumMod val="50000"/>
                  </a:schemeClr>
                </a:solidFill>
                <a:latin typeface="+mj-lt"/>
              </a:rPr>
              <a:t>μ</a:t>
            </a:r>
            <a:r>
              <a:rPr lang="en-US" dirty="0">
                <a:solidFill>
                  <a:schemeClr val="bg1">
                    <a:lumMod val="50000"/>
                  </a:schemeClr>
                </a:solidFill>
                <a:latin typeface="+mj-lt"/>
              </a:rPr>
              <a:t>s (512 bits, 64 bytes).</a:t>
            </a:r>
          </a:p>
          <a:p>
            <a:pPr marL="1257300" lvl="2" indent="-342900">
              <a:buFontTx/>
              <a:buChar char="-"/>
              <a:defRPr/>
            </a:pPr>
            <a:r>
              <a:rPr lang="en-US" dirty="0">
                <a:solidFill>
                  <a:schemeClr val="bg1">
                    <a:lumMod val="50000"/>
                  </a:schemeClr>
                </a:solidFill>
                <a:latin typeface="+mj-lt"/>
              </a:rPr>
              <a:t>P=2 (128 bytes) </a:t>
            </a:r>
            <a:r>
              <a:rPr lang="en-US" dirty="0">
                <a:solidFill>
                  <a:schemeClr val="bg1">
                    <a:lumMod val="50000"/>
                  </a:schemeClr>
                </a:solidFill>
                <a:latin typeface="+mj-lt"/>
                <a:sym typeface="Wingdings" panose="05000000000000000000" pitchFamily="2" charset="2"/>
              </a:rPr>
              <a:t> </a:t>
            </a:r>
            <a:r>
              <a:rPr lang="en-US" dirty="0">
                <a:solidFill>
                  <a:schemeClr val="bg1">
                    <a:lumMod val="50000"/>
                  </a:schemeClr>
                </a:solidFill>
                <a:latin typeface="+mj-lt"/>
              </a:rPr>
              <a:t>eff. = 2/(2e+1) = 31%</a:t>
            </a:r>
          </a:p>
          <a:p>
            <a:pPr marL="1257300" lvl="2" indent="-342900">
              <a:buFontTx/>
              <a:buChar char="-"/>
              <a:defRPr/>
            </a:pPr>
            <a:r>
              <a:rPr lang="en-US" dirty="0">
                <a:solidFill>
                  <a:schemeClr val="bg1">
                    <a:lumMod val="50000"/>
                  </a:schemeClr>
                </a:solidFill>
                <a:latin typeface="+mj-lt"/>
              </a:rPr>
              <a:t>P=8 (512 bytes) </a:t>
            </a:r>
            <a:r>
              <a:rPr lang="en-US" dirty="0">
                <a:solidFill>
                  <a:schemeClr val="bg1">
                    <a:lumMod val="50000"/>
                  </a:schemeClr>
                </a:solidFill>
                <a:latin typeface="+mj-lt"/>
                <a:sym typeface="Wingdings" panose="05000000000000000000" pitchFamily="2" charset="2"/>
              </a:rPr>
              <a:t> </a:t>
            </a:r>
            <a:r>
              <a:rPr lang="en-US" dirty="0">
                <a:solidFill>
                  <a:schemeClr val="bg1">
                    <a:lumMod val="50000"/>
                  </a:schemeClr>
                </a:solidFill>
                <a:latin typeface="+mj-lt"/>
              </a:rPr>
              <a:t>eff. = 8/(2e+7) = 64%.</a:t>
            </a:r>
          </a:p>
          <a:p>
            <a:pPr marL="1257300" lvl="2" indent="-342900">
              <a:buFontTx/>
              <a:buChar char="-"/>
              <a:defRPr/>
            </a:pPr>
            <a:r>
              <a:rPr lang="en-US" dirty="0">
                <a:solidFill>
                  <a:schemeClr val="bg1">
                    <a:lumMod val="50000"/>
                  </a:schemeClr>
                </a:solidFill>
                <a:latin typeface="+mj-lt"/>
              </a:rPr>
              <a:t>Max. packet size 1500 bytes </a:t>
            </a:r>
            <a:r>
              <a:rPr lang="en-US" dirty="0">
                <a:solidFill>
                  <a:schemeClr val="bg1">
                    <a:lumMod val="50000"/>
                  </a:schemeClr>
                </a:solidFill>
                <a:latin typeface="+mj-lt"/>
                <a:sym typeface="Wingdings" panose="05000000000000000000" pitchFamily="2" charset="2"/>
              </a:rPr>
              <a:t></a:t>
            </a:r>
            <a:r>
              <a:rPr lang="en-US" dirty="0">
                <a:solidFill>
                  <a:schemeClr val="bg1">
                    <a:lumMod val="50000"/>
                  </a:schemeClr>
                </a:solidFill>
                <a:latin typeface="+mj-lt"/>
              </a:rPr>
              <a:t> eff. = 80%.</a:t>
            </a:r>
          </a:p>
        </p:txBody>
      </p:sp>
    </p:spTree>
    <p:extLst>
      <p:ext uri="{BB962C8B-B14F-4D97-AF65-F5344CB8AC3E}">
        <p14:creationId xmlns:p14="http://schemas.microsoft.com/office/powerpoint/2010/main" val="2127321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left)">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animEffect transition="in" filter="wipe(left)">
                                      <p:cBhvr>
                                        <p:cTn id="23" dur="500"/>
                                        <p:tgtEl>
                                          <p:spTgt spid="4">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
                                            <p:txEl>
                                              <p:pRg st="6" end="6"/>
                                            </p:txEl>
                                          </p:spTgt>
                                        </p:tgtEl>
                                        <p:attrNameLst>
                                          <p:attrName>style.visibility</p:attrName>
                                        </p:attrNameLst>
                                      </p:cBhvr>
                                      <p:to>
                                        <p:strVal val="visible"/>
                                      </p:to>
                                    </p:set>
                                    <p:animEffect transition="in" filter="wipe(left)">
                                      <p:cBhvr>
                                        <p:cTn id="28" dur="500"/>
                                        <p:tgtEl>
                                          <p:spTgt spid="4">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animEffect transition="in" filter="wipe(left)">
                                      <p:cBhvr>
                                        <p:cTn id="33" dur="500"/>
                                        <p:tgtEl>
                                          <p:spTgt spid="4">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4">
                                            <p:txEl>
                                              <p:pRg st="10" end="10"/>
                                            </p:txEl>
                                          </p:spTgt>
                                        </p:tgtEl>
                                        <p:attrNameLst>
                                          <p:attrName>style.visibility</p:attrName>
                                        </p:attrNameLst>
                                      </p:cBhvr>
                                      <p:to>
                                        <p:strVal val="visible"/>
                                      </p:to>
                                    </p:set>
                                    <p:animEffect transition="in" filter="wipe(left)">
                                      <p:cBhvr>
                                        <p:cTn id="38" dur="500"/>
                                        <p:tgtEl>
                                          <p:spTgt spid="4">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animEffect transition="in" filter="wipe(left)">
                                      <p:cBhvr>
                                        <p:cTn id="43" dur="500"/>
                                        <p:tgtEl>
                                          <p:spTgt spid="4">
                                            <p:txEl>
                                              <p:pRg st="12" end="1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
                                            <p:txEl>
                                              <p:pRg st="13" end="13"/>
                                            </p:txEl>
                                          </p:spTgt>
                                        </p:tgtEl>
                                        <p:attrNameLst>
                                          <p:attrName>style.visibility</p:attrName>
                                        </p:attrNameLst>
                                      </p:cBhvr>
                                      <p:to>
                                        <p:strVal val="visible"/>
                                      </p:to>
                                    </p:set>
                                    <p:animEffect transition="in" filter="wipe(left)">
                                      <p:cBhvr>
                                        <p:cTn id="48" dur="500"/>
                                        <p:tgtEl>
                                          <p:spTgt spid="4">
                                            <p:txEl>
                                              <p:pRg st="13" end="1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
                                            <p:txEl>
                                              <p:pRg st="15" end="15"/>
                                            </p:txEl>
                                          </p:spTgt>
                                        </p:tgtEl>
                                        <p:attrNameLst>
                                          <p:attrName>style.visibility</p:attrName>
                                        </p:attrNameLst>
                                      </p:cBhvr>
                                      <p:to>
                                        <p:strVal val="visible"/>
                                      </p:to>
                                    </p:set>
                                    <p:animEffect transition="in" filter="wipe(left)">
                                      <p:cBhvr>
                                        <p:cTn id="53" dur="500"/>
                                        <p:tgtEl>
                                          <p:spTgt spid="4">
                                            <p:txEl>
                                              <p:pRg st="15" end="15"/>
                                            </p:txEl>
                                          </p:spTgt>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4">
                                            <p:txEl>
                                              <p:pRg st="16" end="16"/>
                                            </p:txEl>
                                          </p:spTgt>
                                        </p:tgtEl>
                                        <p:attrNameLst>
                                          <p:attrName>style.visibility</p:attrName>
                                        </p:attrNameLst>
                                      </p:cBhvr>
                                      <p:to>
                                        <p:strVal val="visible"/>
                                      </p:to>
                                    </p:set>
                                    <p:animEffect transition="in" filter="wipe(left)">
                                      <p:cBhvr>
                                        <p:cTn id="56" dur="500"/>
                                        <p:tgtEl>
                                          <p:spTgt spid="4">
                                            <p:txEl>
                                              <p:pRg st="16" end="16"/>
                                            </p:txEl>
                                          </p:spTgt>
                                        </p:tgtEl>
                                      </p:cBhvr>
                                    </p:animEffect>
                                  </p:childTnLst>
                                </p:cTn>
                              </p:par>
                              <p:par>
                                <p:cTn id="57" presetID="22" presetClass="entr" presetSubtype="8" fill="hold" grpId="0" nodeType="withEffect">
                                  <p:stCondLst>
                                    <p:cond delay="0"/>
                                  </p:stCondLst>
                                  <p:childTnLst>
                                    <p:set>
                                      <p:cBhvr>
                                        <p:cTn id="58" dur="1" fill="hold">
                                          <p:stCondLst>
                                            <p:cond delay="0"/>
                                          </p:stCondLst>
                                        </p:cTn>
                                        <p:tgtEl>
                                          <p:spTgt spid="4">
                                            <p:txEl>
                                              <p:pRg st="17" end="17"/>
                                            </p:txEl>
                                          </p:spTgt>
                                        </p:tgtEl>
                                        <p:attrNameLst>
                                          <p:attrName>style.visibility</p:attrName>
                                        </p:attrNameLst>
                                      </p:cBhvr>
                                      <p:to>
                                        <p:strVal val="visible"/>
                                      </p:to>
                                    </p:set>
                                    <p:animEffect transition="in" filter="wipe(left)">
                                      <p:cBhvr>
                                        <p:cTn id="59" dur="500"/>
                                        <p:tgtEl>
                                          <p:spTgt spid="4">
                                            <p:txEl>
                                              <p:pRg st="17" end="17"/>
                                            </p:txEl>
                                          </p:spTgt>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
                                            <p:txEl>
                                              <p:pRg st="18" end="18"/>
                                            </p:txEl>
                                          </p:spTgt>
                                        </p:tgtEl>
                                        <p:attrNameLst>
                                          <p:attrName>style.visibility</p:attrName>
                                        </p:attrNameLst>
                                      </p:cBhvr>
                                      <p:to>
                                        <p:strVal val="visible"/>
                                      </p:to>
                                    </p:set>
                                    <p:animEffect transition="in" filter="wipe(left)">
                                      <p:cBhvr>
                                        <p:cTn id="62" dur="500"/>
                                        <p:tgtEl>
                                          <p:spTgt spid="4">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545432"/>
          </a:xfrm>
        </p:spPr>
        <p:txBody>
          <a:bodyPr/>
          <a:lstStyle/>
          <a:p>
            <a:pPr eaLnBrk="1" hangingPunct="1"/>
            <a:r>
              <a:rPr lang="en-US" altLang="en-US" sz="2800" dirty="0"/>
              <a:t>Fast Ethernet </a:t>
            </a:r>
            <a:r>
              <a:rPr lang="en-US" altLang="en-US" sz="2400" dirty="0">
                <a:solidFill>
                  <a:schemeClr val="bg1">
                    <a:lumMod val="85000"/>
                  </a:schemeClr>
                </a:solidFill>
              </a:rPr>
              <a:t>(100Mbps)</a:t>
            </a:r>
            <a:r>
              <a:rPr lang="en-US" altLang="en-US" sz="2400" dirty="0"/>
              <a:t> </a:t>
            </a:r>
            <a:r>
              <a:rPr lang="en-US" altLang="en-US" sz="2800" dirty="0"/>
              <a:t>and Switched Ethernet </a:t>
            </a:r>
            <a:endParaRPr lang="en-US" altLang="en-US" sz="1800" dirty="0">
              <a:solidFill>
                <a:schemeClr val="bg1">
                  <a:lumMod val="85000"/>
                </a:schemeClr>
              </a:solidFill>
            </a:endParaRPr>
          </a:p>
        </p:txBody>
      </p:sp>
      <p:sp>
        <p:nvSpPr>
          <p:cNvPr id="4" name="Rectangle 3"/>
          <p:cNvSpPr/>
          <p:nvPr/>
        </p:nvSpPr>
        <p:spPr>
          <a:xfrm>
            <a:off x="0" y="641684"/>
            <a:ext cx="9144000" cy="4555093"/>
          </a:xfrm>
          <a:prstGeom prst="rect">
            <a:avLst/>
          </a:prstGeom>
        </p:spPr>
        <p:txBody>
          <a:bodyPr>
            <a:spAutoFit/>
          </a:bodyPr>
          <a:lstStyle/>
          <a:p>
            <a:pPr marL="342900" indent="-342900">
              <a:buFont typeface="Arial" panose="020B0604020202020204" pitchFamily="34" charset="0"/>
              <a:buChar char="•"/>
              <a:defRPr/>
            </a:pPr>
            <a:r>
              <a:rPr lang="en-US" dirty="0">
                <a:latin typeface="+mj-lt"/>
              </a:rPr>
              <a:t>100BaseTX, works with Category 5 (or higher) UTP, </a:t>
            </a:r>
            <a:r>
              <a:rPr lang="en-US" dirty="0">
                <a:solidFill>
                  <a:schemeClr val="bg1">
                    <a:lumMod val="50000"/>
                  </a:schemeClr>
                </a:solidFill>
                <a:latin typeface="+mj-lt"/>
              </a:rPr>
              <a:t>(works also with coax but rarely used).</a:t>
            </a:r>
          </a:p>
          <a:p>
            <a:pPr marL="342900" indent="-342900">
              <a:buFont typeface="Arial" panose="020B0604020202020204" pitchFamily="34" charset="0"/>
              <a:buChar char="•"/>
              <a:defRPr/>
            </a:pPr>
            <a:endParaRPr lang="en-US" sz="800" dirty="0">
              <a:latin typeface="+mj-lt"/>
            </a:endParaRPr>
          </a:p>
          <a:p>
            <a:pPr marL="342900" indent="-342900">
              <a:buFont typeface="Arial" panose="020B0604020202020204" pitchFamily="34" charset="0"/>
              <a:buChar char="•"/>
              <a:defRPr/>
            </a:pPr>
            <a:r>
              <a:rPr lang="en-US" dirty="0">
                <a:latin typeface="+mj-lt"/>
              </a:rPr>
              <a:t>Network diameter reduced to 400m to keep the Minimum packet at 64 Bytes. </a:t>
            </a:r>
          </a:p>
          <a:p>
            <a:pPr marL="342900" indent="-342900">
              <a:buFont typeface="Arial" panose="020B0604020202020204" pitchFamily="34" charset="0"/>
              <a:buChar char="•"/>
              <a:defRPr/>
            </a:pPr>
            <a:endParaRPr lang="en-US" sz="800" dirty="0">
              <a:latin typeface="+mj-lt"/>
            </a:endParaRPr>
          </a:p>
          <a:p>
            <a:pPr marL="342900" indent="-342900">
              <a:buFont typeface="Arial" panose="020B0604020202020204" pitchFamily="34" charset="0"/>
              <a:buChar char="•"/>
              <a:defRPr/>
            </a:pPr>
            <a:r>
              <a:rPr lang="en-US" dirty="0">
                <a:latin typeface="+mj-lt"/>
              </a:rPr>
              <a:t>CAT5 imposes cable length &lt; 100m. So with UTP the network diameter (max host-to-host distance) is </a:t>
            </a:r>
            <a:r>
              <a:rPr lang="en-US" b="1" dirty="0">
                <a:latin typeface="+mj-lt"/>
              </a:rPr>
              <a:t>200m </a:t>
            </a:r>
            <a:r>
              <a:rPr lang="en-US" dirty="0">
                <a:latin typeface="+mj-lt"/>
              </a:rPr>
              <a:t>(hub and links to hosts).</a:t>
            </a:r>
          </a:p>
          <a:p>
            <a:pPr marL="342900" indent="-342900">
              <a:buFont typeface="Arial" panose="020B0604020202020204" pitchFamily="34" charset="0"/>
              <a:buChar char="•"/>
              <a:defRPr/>
            </a:pPr>
            <a:endParaRPr lang="en-US" sz="800" dirty="0">
              <a:latin typeface="+mj-lt"/>
            </a:endParaRPr>
          </a:p>
          <a:p>
            <a:pPr marL="342900" indent="-342900">
              <a:buFont typeface="Arial" panose="020B0604020202020204" pitchFamily="34" charset="0"/>
              <a:buChar char="•"/>
              <a:defRPr/>
            </a:pPr>
            <a:r>
              <a:rPr lang="en-US" dirty="0">
                <a:latin typeface="+mj-lt"/>
              </a:rPr>
              <a:t>To achieve longer distances, a </a:t>
            </a:r>
            <a:r>
              <a:rPr lang="en-US" b="1" dirty="0">
                <a:latin typeface="+mj-lt"/>
              </a:rPr>
              <a:t>Switch</a:t>
            </a:r>
            <a:r>
              <a:rPr lang="en-US" dirty="0">
                <a:latin typeface="+mj-lt"/>
              </a:rPr>
              <a:t> is used to “federate” the hubs. Switches separate the “collision domains”</a:t>
            </a:r>
          </a:p>
          <a:p>
            <a:pPr marL="342900" indent="-342900">
              <a:buFont typeface="Arial" panose="020B0604020202020204" pitchFamily="34" charset="0"/>
              <a:buChar char="•"/>
              <a:defRPr/>
            </a:pPr>
            <a:endParaRPr lang="en-US" sz="800" b="1" i="1" dirty="0">
              <a:latin typeface="+mj-lt"/>
            </a:endParaRPr>
          </a:p>
          <a:p>
            <a:pPr marL="342900" indent="-342900">
              <a:buFont typeface="Arial" panose="020B0604020202020204" pitchFamily="34" charset="0"/>
              <a:buChar char="•"/>
              <a:defRPr/>
            </a:pPr>
            <a:r>
              <a:rPr lang="en-US" dirty="0">
                <a:latin typeface="+mj-lt"/>
              </a:rPr>
              <a:t>For long (inter building) connections, we use </a:t>
            </a:r>
            <a:r>
              <a:rPr lang="en-US" i="1" dirty="0">
                <a:latin typeface="+mj-lt"/>
              </a:rPr>
              <a:t>Full Duplex 100BaseFX</a:t>
            </a:r>
            <a:r>
              <a:rPr lang="en-US" b="1" i="1" dirty="0">
                <a:latin typeface="+mj-lt"/>
              </a:rPr>
              <a:t> </a:t>
            </a:r>
            <a:r>
              <a:rPr lang="en-US" i="1" dirty="0">
                <a:latin typeface="+mj-lt"/>
              </a:rPr>
              <a:t> </a:t>
            </a:r>
            <a:r>
              <a:rPr lang="en-US" sz="1600" dirty="0">
                <a:solidFill>
                  <a:schemeClr val="bg1">
                    <a:lumMod val="50000"/>
                  </a:schemeClr>
                </a:solidFill>
                <a:latin typeface="+mj-lt"/>
              </a:rPr>
              <a:t>(fiber with limit 2km).</a:t>
            </a:r>
            <a:endParaRPr lang="en-US" dirty="0">
              <a:solidFill>
                <a:schemeClr val="bg1">
                  <a:lumMod val="50000"/>
                </a:schemeClr>
              </a:solidFill>
              <a:latin typeface="+mj-lt"/>
            </a:endParaRPr>
          </a:p>
          <a:p>
            <a:pPr marL="342900" indent="-342900">
              <a:buFont typeface="Arial" panose="020B0604020202020204" pitchFamily="34" charset="0"/>
              <a:buChar char="•"/>
              <a:defRPr/>
            </a:pPr>
            <a:endParaRPr lang="en-US" sz="800" b="1" i="1" dirty="0">
              <a:latin typeface="+mj-lt"/>
            </a:endParaRPr>
          </a:p>
          <a:p>
            <a:pPr marL="342900" indent="-342900">
              <a:buFont typeface="Arial" panose="020B0604020202020204" pitchFamily="34" charset="0"/>
              <a:buChar char="•"/>
              <a:defRPr/>
            </a:pPr>
            <a:r>
              <a:rPr lang="en-US" b="1" i="1" dirty="0">
                <a:latin typeface="+mj-lt"/>
              </a:rPr>
              <a:t>Full Duplex mode </a:t>
            </a:r>
            <a:r>
              <a:rPr lang="en-US" dirty="0">
                <a:latin typeface="+mj-lt"/>
              </a:rPr>
              <a:t>is collision-free, using switches only, and two twisted pairs (one in each direction). </a:t>
            </a:r>
            <a:r>
              <a:rPr lang="en-US" dirty="0">
                <a:solidFill>
                  <a:schemeClr val="bg1">
                    <a:lumMod val="50000"/>
                  </a:schemeClr>
                </a:solidFill>
                <a:latin typeface="+mj-lt"/>
              </a:rPr>
              <a:t>CAT5 and CAT6 cables have 4 twisted pairs</a:t>
            </a:r>
            <a:r>
              <a:rPr lang="en-US" dirty="0">
                <a:latin typeface="+mj-lt"/>
              </a:rPr>
              <a:t>. </a:t>
            </a:r>
          </a:p>
          <a:p>
            <a:pPr marL="342900" indent="-342900">
              <a:buFont typeface="Arial" panose="020B0604020202020204" pitchFamily="34" charset="0"/>
              <a:buChar char="•"/>
              <a:defRPr/>
            </a:pPr>
            <a:endParaRPr lang="en-US" sz="800" dirty="0">
              <a:solidFill>
                <a:schemeClr val="bg1">
                  <a:lumMod val="65000"/>
                </a:schemeClr>
              </a:solidFill>
              <a:latin typeface="+mj-lt"/>
            </a:endParaRPr>
          </a:p>
          <a:p>
            <a:pPr marL="800100" lvl="1" indent="-342900">
              <a:buFont typeface="Arial" panose="020B0604020202020204" pitchFamily="34" charset="0"/>
              <a:buChar char="•"/>
              <a:defRPr/>
            </a:pPr>
            <a:r>
              <a:rPr lang="en-US" dirty="0">
                <a:latin typeface="+mj-lt"/>
              </a:rPr>
              <a:t>Today, in practice we use only Full Duplex, switched Ethernet, although some (useless) rules are inherited from classic Ethernet (i.e. slot time, min and max packet size, etc.)</a:t>
            </a:r>
          </a:p>
          <a:p>
            <a:pPr marL="342900" indent="-342900">
              <a:buFont typeface="Arial" panose="020B0604020202020204" pitchFamily="34" charset="0"/>
              <a:buChar char="•"/>
              <a:defRPr/>
            </a:pPr>
            <a:endParaRPr lang="en-US" sz="800" dirty="0">
              <a:latin typeface="+mj-lt"/>
            </a:endParaRPr>
          </a:p>
          <a:p>
            <a:pPr marL="800100" lvl="1" indent="-342900">
              <a:buFont typeface="Arial" panose="020B0604020202020204" pitchFamily="34" charset="0"/>
              <a:buChar char="•"/>
              <a:defRPr/>
            </a:pPr>
            <a:r>
              <a:rPr lang="en-US" dirty="0">
                <a:latin typeface="+mj-lt"/>
              </a:rPr>
              <a:t>Still using mainly CAT5 UTP.  Multimode fiber is used only in long distances because its high noise immunity, so it can achieve up to 2km </a:t>
            </a:r>
            <a:r>
              <a:rPr lang="en-US" sz="1600" dirty="0">
                <a:latin typeface="+mj-lt"/>
              </a:rPr>
              <a:t>distance </a:t>
            </a:r>
            <a:r>
              <a:rPr lang="en-US" sz="1600" dirty="0">
                <a:solidFill>
                  <a:schemeClr val="bg1">
                    <a:lumMod val="50000"/>
                  </a:schemeClr>
                </a:solidFill>
                <a:latin typeface="+mj-lt"/>
              </a:rPr>
              <a:t>(which is great for LAN…).</a:t>
            </a:r>
            <a:endParaRPr lang="en-US" dirty="0">
              <a:solidFill>
                <a:schemeClr val="bg1">
                  <a:lumMod val="50000"/>
                </a:schemeClr>
              </a:solidFill>
              <a:latin typeface="+mj-lt"/>
            </a:endParaRPr>
          </a:p>
        </p:txBody>
      </p:sp>
      <p:sp>
        <p:nvSpPr>
          <p:cNvPr id="5" name="TextBox 4">
            <a:extLst>
              <a:ext uri="{FF2B5EF4-FFF2-40B4-BE49-F238E27FC236}">
                <a16:creationId xmlns:a16="http://schemas.microsoft.com/office/drawing/2014/main" id="{743975F6-605A-49ED-8E26-FFC868E031A7}"/>
              </a:ext>
            </a:extLst>
          </p:cNvPr>
          <p:cNvSpPr txBox="1"/>
          <p:nvPr/>
        </p:nvSpPr>
        <p:spPr>
          <a:xfrm>
            <a:off x="3231108" y="980198"/>
            <a:ext cx="330957" cy="461665"/>
          </a:xfrm>
          <a:prstGeom prst="rect">
            <a:avLst/>
          </a:prstGeom>
          <a:noFill/>
        </p:spPr>
        <p:txBody>
          <a:bodyPr wrap="square">
            <a:spAutoFit/>
          </a:bodyPr>
          <a:lstStyle/>
          <a:p>
            <a:r>
              <a:rPr kumimoji="0" lang="en-US" altLang="en-US" sz="2400" b="0" i="0" u="none" strike="noStrike" kern="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rPr>
              <a:t>x</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393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left)">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
                                            <p:txEl>
                                              <p:pRg st="6" end="6"/>
                                            </p:txEl>
                                          </p:spTgt>
                                        </p:tgtEl>
                                        <p:attrNameLst>
                                          <p:attrName>style.visibility</p:attrName>
                                        </p:attrNameLst>
                                      </p:cBhvr>
                                      <p:to>
                                        <p:strVal val="visible"/>
                                      </p:to>
                                    </p:set>
                                    <p:animEffect transition="in" filter="wipe(left)">
                                      <p:cBhvr>
                                        <p:cTn id="26" dur="500"/>
                                        <p:tgtEl>
                                          <p:spTgt spid="4">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animEffect transition="in" filter="wipe(left)">
                                      <p:cBhvr>
                                        <p:cTn id="31" dur="500"/>
                                        <p:tgtEl>
                                          <p:spTgt spid="4">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xEl>
                                              <p:pRg st="10" end="10"/>
                                            </p:txEl>
                                          </p:spTgt>
                                        </p:tgtEl>
                                        <p:attrNameLst>
                                          <p:attrName>style.visibility</p:attrName>
                                        </p:attrNameLst>
                                      </p:cBhvr>
                                      <p:to>
                                        <p:strVal val="visible"/>
                                      </p:to>
                                    </p:set>
                                    <p:animEffect transition="in" filter="wipe(left)">
                                      <p:cBhvr>
                                        <p:cTn id="36" dur="500"/>
                                        <p:tgtEl>
                                          <p:spTgt spid="4">
                                            <p:txEl>
                                              <p:pRg st="10" end="10"/>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animEffect transition="in" filter="wipe(left)">
                                      <p:cBhvr>
                                        <p:cTn id="39" dur="500"/>
                                        <p:tgtEl>
                                          <p:spTgt spid="4">
                                            <p:txEl>
                                              <p:pRg st="12" end="12"/>
                                            </p:txEl>
                                          </p:spTgt>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
                                            <p:txEl>
                                              <p:pRg st="14" end="14"/>
                                            </p:txEl>
                                          </p:spTgt>
                                        </p:tgtEl>
                                        <p:attrNameLst>
                                          <p:attrName>style.visibility</p:attrName>
                                        </p:attrNameLst>
                                      </p:cBhvr>
                                      <p:to>
                                        <p:strVal val="visible"/>
                                      </p:to>
                                    </p:set>
                                    <p:animEffect transition="in" filter="wipe(left)">
                                      <p:cBhvr>
                                        <p:cTn id="42" dur="500"/>
                                        <p:tgtEl>
                                          <p:spTgt spid="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445168"/>
          </a:xfrm>
        </p:spPr>
        <p:txBody>
          <a:bodyPr/>
          <a:lstStyle/>
          <a:p>
            <a:pPr eaLnBrk="1" hangingPunct="1"/>
            <a:r>
              <a:rPr lang="en-US" altLang="en-US" sz="2800" dirty="0"/>
              <a:t>Gigabit Ethernet</a:t>
            </a:r>
            <a:endParaRPr lang="en-US" altLang="en-US" sz="2800" dirty="0">
              <a:solidFill>
                <a:schemeClr val="bg1">
                  <a:lumMod val="85000"/>
                </a:schemeClr>
              </a:solidFill>
            </a:endParaRPr>
          </a:p>
        </p:txBody>
      </p:sp>
      <p:sp>
        <p:nvSpPr>
          <p:cNvPr id="4" name="Rectangle 3"/>
          <p:cNvSpPr/>
          <p:nvPr/>
        </p:nvSpPr>
        <p:spPr>
          <a:xfrm>
            <a:off x="0" y="557463"/>
            <a:ext cx="9144000" cy="5847755"/>
          </a:xfrm>
          <a:prstGeom prst="rect">
            <a:avLst/>
          </a:prstGeom>
        </p:spPr>
        <p:txBody>
          <a:bodyPr>
            <a:spAutoFit/>
          </a:bodyPr>
          <a:lstStyle/>
          <a:p>
            <a:pPr marL="168275" indent="-168275">
              <a:buFont typeface="Arial" panose="020B0604020202020204" pitchFamily="34" charset="0"/>
              <a:buChar char="•"/>
              <a:defRPr/>
            </a:pPr>
            <a:r>
              <a:rPr lang="en-US" dirty="0"/>
              <a:t>GigE is especially important for “server clusters”, common in data centers and clouds.</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1000BaseT works with Category 5 (or higher) UTP. Uses all four pairs. Each pair is 250Mbps bi-directional! Using the modern “echo cancellation” technique.</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Versions that require CAT6 didn’t break through!</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Purely</a:t>
            </a:r>
            <a:r>
              <a:rPr lang="en-US" b="1" i="1" dirty="0"/>
              <a:t> Full Duplex,  </a:t>
            </a:r>
            <a:r>
              <a:rPr lang="en-US" dirty="0"/>
              <a:t>collision-free (switched). Still, inherits some obsolete rules from collision-enable Ethernet. i.e. 512-byte (4.096 μs) slot time and padding.</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b="1" dirty="0"/>
              <a:t>PAM5 encoding</a:t>
            </a:r>
            <a:r>
              <a:rPr lang="en-US" dirty="0"/>
              <a:t>. 5 amplitudes </a:t>
            </a:r>
            <a:r>
              <a:rPr lang="en-US" sz="1600" dirty="0">
                <a:solidFill>
                  <a:schemeClr val="bg1">
                    <a:lumMod val="50000"/>
                  </a:schemeClr>
                </a:solidFill>
              </a:rPr>
              <a:t>(on each pair) </a:t>
            </a:r>
            <a:r>
              <a:rPr lang="en-US" dirty="0"/>
              <a:t>yielding 5*5*5*5=625 codepoints. Only 256 codes used </a:t>
            </a:r>
            <a:r>
              <a:rPr lang="en-US" sz="1600" dirty="0">
                <a:solidFill>
                  <a:schemeClr val="bg1">
                    <a:lumMod val="50000"/>
                  </a:schemeClr>
                </a:solidFill>
              </a:rPr>
              <a:t>(8 bits/symbol, clocked at 125MHz), </a:t>
            </a:r>
            <a:r>
              <a:rPr lang="en-US" dirty="0"/>
              <a:t>allowing 2X redundancy and FEC.</a:t>
            </a:r>
          </a:p>
          <a:p>
            <a:pPr marL="168275" indent="-168275">
              <a:buFont typeface="Arial" panose="020B0604020202020204" pitchFamily="34" charset="0"/>
              <a:buChar char="•"/>
              <a:defRPr/>
            </a:pPr>
            <a:endParaRPr lang="en-US" dirty="0"/>
          </a:p>
          <a:p>
            <a:pPr marL="168275" indent="-168275">
              <a:buFont typeface="Arial" panose="020B0604020202020204" pitchFamily="34" charset="0"/>
              <a:buChar char="•"/>
              <a:defRPr/>
            </a:pPr>
            <a:r>
              <a:rPr lang="en-US" dirty="0"/>
              <a:t>Variants: 1000BaseSX, 1000BaseLX, 1000BaseCX. </a:t>
            </a:r>
            <a:r>
              <a:rPr lang="en-US" sz="1600" dirty="0">
                <a:solidFill>
                  <a:schemeClr val="bg1">
                    <a:lumMod val="50000"/>
                  </a:schemeClr>
                </a:solidFill>
              </a:rPr>
              <a:t>See Ethernet versions summary slide </a:t>
            </a:r>
          </a:p>
          <a:p>
            <a:pPr marL="168275" indent="-168275">
              <a:buFont typeface="Arial" panose="020B0604020202020204" pitchFamily="34" charset="0"/>
              <a:buChar char="•"/>
              <a:defRPr/>
            </a:pPr>
            <a:endParaRPr lang="en-US" sz="1600" dirty="0">
              <a:solidFill>
                <a:schemeClr val="bg1">
                  <a:lumMod val="50000"/>
                </a:schemeClr>
              </a:solidFill>
            </a:endParaRPr>
          </a:p>
          <a:p>
            <a:pPr marL="168275" lvl="0" indent="-168275">
              <a:buFont typeface="Arial" panose="020B0604020202020204" pitchFamily="34" charset="0"/>
              <a:buChar char="•"/>
              <a:defRPr/>
            </a:pPr>
            <a:r>
              <a:rPr lang="en-US" dirty="0">
                <a:solidFill>
                  <a:srgbClr val="000000"/>
                </a:solidFill>
              </a:rPr>
              <a:t>10GBase Ethernet: similar ideas, pushing the speed further</a:t>
            </a:r>
          </a:p>
          <a:p>
            <a:pPr marL="625475" lvl="1" indent="-168275">
              <a:buFont typeface="Arial" panose="020B0604020202020204" pitchFamily="34" charset="0"/>
              <a:buChar char="•"/>
              <a:defRPr/>
            </a:pPr>
            <a:r>
              <a:rPr lang="en-US" dirty="0">
                <a:solidFill>
                  <a:srgbClr val="000000"/>
                </a:solidFill>
              </a:rPr>
              <a:t>10GBaseT, 10GBaseSR, 10GBaseLR, 10GBaseER, 10GBaseCX4</a:t>
            </a:r>
          </a:p>
          <a:p>
            <a:pPr marL="625475" lvl="1" indent="-168275">
              <a:buFont typeface="Arial" panose="020B0604020202020204" pitchFamily="34" charset="0"/>
              <a:buChar char="•"/>
              <a:defRPr/>
            </a:pPr>
            <a:r>
              <a:rPr lang="en-US" dirty="0">
                <a:solidFill>
                  <a:srgbClr val="000000"/>
                </a:solidFill>
              </a:rPr>
              <a:t>Mostly uses “single mode” optical fibers.</a:t>
            </a:r>
          </a:p>
          <a:p>
            <a:pPr marL="625475" lvl="1" indent="-168275">
              <a:buFont typeface="Arial" panose="020B0604020202020204" pitchFamily="34" charset="0"/>
              <a:buChar char="•"/>
              <a:defRPr/>
            </a:pPr>
            <a:endParaRPr lang="en-US" dirty="0">
              <a:solidFill>
                <a:srgbClr val="000000"/>
              </a:solidFill>
            </a:endParaRPr>
          </a:p>
          <a:p>
            <a:pPr marL="168275" indent="-168275">
              <a:buFont typeface="Arial" panose="020B0604020202020204" pitchFamily="34" charset="0"/>
              <a:buChar char="•"/>
              <a:defRPr/>
            </a:pPr>
            <a:r>
              <a:rPr lang="en-US" dirty="0">
                <a:solidFill>
                  <a:srgbClr val="000000"/>
                </a:solidFill>
              </a:rPr>
              <a:t>40GBase...</a:t>
            </a:r>
          </a:p>
          <a:p>
            <a:pPr lvl="0">
              <a:defRPr/>
            </a:pPr>
            <a:endParaRPr lang="en-US" sz="1600" dirty="0">
              <a:solidFill>
                <a:schemeClr val="bg1">
                  <a:lumMod val="50000"/>
                </a:schemeClr>
              </a:solidFill>
            </a:endParaRPr>
          </a:p>
        </p:txBody>
      </p:sp>
    </p:spTree>
    <p:extLst>
      <p:ext uri="{BB962C8B-B14F-4D97-AF65-F5344CB8AC3E}">
        <p14:creationId xmlns:p14="http://schemas.microsoft.com/office/powerpoint/2010/main" val="3645288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9144000" cy="496888"/>
          </a:xfrm>
        </p:spPr>
        <p:txBody>
          <a:bodyPr/>
          <a:lstStyle/>
          <a:p>
            <a:pPr eaLnBrk="1" hangingPunct="1"/>
            <a:r>
              <a:rPr lang="en-US" altLang="en-US" sz="3600" dirty="0"/>
              <a:t>Ethernet – versions, </a:t>
            </a:r>
            <a:r>
              <a:rPr lang="en-US" altLang="en-US" sz="3600" dirty="0" err="1"/>
              <a:t>namings</a:t>
            </a:r>
            <a:r>
              <a:rPr lang="en-US" altLang="en-US" sz="3600" dirty="0"/>
              <a:t>…</a:t>
            </a:r>
          </a:p>
        </p:txBody>
      </p:sp>
      <p:sp>
        <p:nvSpPr>
          <p:cNvPr id="2" name="Rectangle 1"/>
          <p:cNvSpPr/>
          <p:nvPr/>
        </p:nvSpPr>
        <p:spPr>
          <a:xfrm>
            <a:off x="0" y="671691"/>
            <a:ext cx="9144000" cy="6186309"/>
          </a:xfrm>
          <a:prstGeom prst="rect">
            <a:avLst/>
          </a:prstGeom>
        </p:spPr>
        <p:txBody>
          <a:bodyPr wrap="square">
            <a:spAutoFit/>
          </a:bodyPr>
          <a:lstStyle/>
          <a:p>
            <a:pPr marL="285750" indent="-285750">
              <a:buFont typeface="Arial" panose="020B0604020202020204" pitchFamily="34" charset="0"/>
              <a:buChar char="•"/>
            </a:pPr>
            <a:r>
              <a:rPr lang="en-US" dirty="0">
                <a:solidFill>
                  <a:srgbClr val="222222"/>
                </a:solidFill>
                <a:latin typeface="Roboto"/>
              </a:rPr>
              <a:t>First number is the bit rate.</a:t>
            </a:r>
          </a:p>
          <a:p>
            <a:pPr marL="285750" indent="-285750">
              <a:buFont typeface="Arial" panose="020B0604020202020204" pitchFamily="34" charset="0"/>
              <a:buChar char="•"/>
            </a:pPr>
            <a:endParaRPr lang="en-US" dirty="0">
              <a:solidFill>
                <a:srgbClr val="222222"/>
              </a:solidFill>
              <a:latin typeface="Roboto"/>
            </a:endParaRPr>
          </a:p>
          <a:p>
            <a:pPr marL="285750" indent="-285750">
              <a:buFont typeface="Arial" panose="020B0604020202020204" pitchFamily="34" charset="0"/>
              <a:buChar char="•"/>
            </a:pPr>
            <a:r>
              <a:rPr lang="en-US" dirty="0">
                <a:solidFill>
                  <a:srgbClr val="222222"/>
                </a:solidFill>
                <a:latin typeface="Roboto"/>
              </a:rPr>
              <a:t>BASE means </a:t>
            </a:r>
            <a:r>
              <a:rPr lang="en-US" i="1" dirty="0">
                <a:solidFill>
                  <a:srgbClr val="222222"/>
                </a:solidFill>
                <a:latin typeface="Roboto"/>
              </a:rPr>
              <a:t>baseband</a:t>
            </a:r>
            <a:r>
              <a:rPr lang="en-US" dirty="0">
                <a:solidFill>
                  <a:srgbClr val="222222"/>
                </a:solidFill>
                <a:latin typeface="Roboto"/>
              </a:rPr>
              <a:t>. </a:t>
            </a:r>
            <a:r>
              <a:rPr lang="en-US" sz="1600" dirty="0">
                <a:solidFill>
                  <a:schemeClr val="bg1">
                    <a:lumMod val="50000"/>
                  </a:schemeClr>
                </a:solidFill>
                <a:latin typeface="Roboto"/>
              </a:rPr>
              <a:t>(BROAD existed but almost never used)</a:t>
            </a:r>
            <a:r>
              <a:rPr lang="en-US" dirty="0">
                <a:solidFill>
                  <a:srgbClr val="222222"/>
                </a:solidFill>
                <a:latin typeface="Roboto"/>
              </a:rPr>
              <a:t>.</a:t>
            </a:r>
          </a:p>
          <a:p>
            <a:pPr marL="285750" indent="-285750">
              <a:buFont typeface="Arial" panose="020B0604020202020204" pitchFamily="34" charset="0"/>
              <a:buChar char="•"/>
            </a:pPr>
            <a:endParaRPr lang="en-US" dirty="0">
              <a:solidFill>
                <a:srgbClr val="222222"/>
              </a:solidFill>
              <a:latin typeface="Roboto"/>
            </a:endParaRPr>
          </a:p>
          <a:p>
            <a:pPr marL="285750" indent="-285750">
              <a:buFont typeface="Arial" panose="020B0604020202020204" pitchFamily="34" charset="0"/>
              <a:buChar char="•"/>
            </a:pPr>
            <a:r>
              <a:rPr lang="en-US" dirty="0">
                <a:solidFill>
                  <a:srgbClr val="222222"/>
                </a:solidFill>
                <a:latin typeface="Roboto"/>
              </a:rPr>
              <a:t>First letter is suffix concerns the medium: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T</a:t>
            </a:r>
            <a:r>
              <a:rPr lang="en-US" dirty="0">
                <a:solidFill>
                  <a:srgbClr val="222222"/>
                </a:solidFill>
                <a:latin typeface="Roboto"/>
              </a:rPr>
              <a:t>” twisted-pair cable (Cat5 or Cat6)</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F</a:t>
            </a:r>
            <a:r>
              <a:rPr lang="en-US" dirty="0">
                <a:solidFill>
                  <a:srgbClr val="222222"/>
                </a:solidFill>
                <a:latin typeface="Roboto"/>
              </a:rPr>
              <a:t>” optical fiber</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S</a:t>
            </a:r>
            <a:r>
              <a:rPr lang="en-US" dirty="0">
                <a:solidFill>
                  <a:srgbClr val="222222"/>
                </a:solidFill>
                <a:latin typeface="Roboto"/>
              </a:rPr>
              <a:t>” short-range optical (less than 100 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L</a:t>
            </a:r>
            <a:r>
              <a:rPr lang="en-US" dirty="0">
                <a:solidFill>
                  <a:srgbClr val="222222"/>
                </a:solidFill>
                <a:latin typeface="Roboto"/>
              </a:rPr>
              <a:t>” long-range optical (100 m to 10 km)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E</a:t>
            </a:r>
            <a:r>
              <a:rPr lang="en-US" dirty="0">
                <a:solidFill>
                  <a:srgbClr val="222222"/>
                </a:solidFill>
                <a:latin typeface="Roboto"/>
              </a:rPr>
              <a:t>” extended-range optical cable (10 km to 40 km)</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K</a:t>
            </a:r>
            <a:r>
              <a:rPr lang="en-US" dirty="0">
                <a:solidFill>
                  <a:srgbClr val="222222"/>
                </a:solidFill>
                <a:latin typeface="Roboto"/>
              </a:rPr>
              <a:t>”: Backplane Ethernet (server farms)</a:t>
            </a:r>
          </a:p>
          <a:p>
            <a:pPr marL="742950" lvl="1" indent="-285750">
              <a:buFont typeface="Arial" panose="020B0604020202020204" pitchFamily="34" charset="0"/>
              <a:buChar char="•"/>
            </a:pPr>
            <a:r>
              <a:rPr lang="en-US" dirty="0">
                <a:solidFill>
                  <a:srgbClr val="222222"/>
                </a:solidFill>
                <a:latin typeface="Roboto"/>
              </a:rPr>
              <a:t>Other (C coax, STP or </a:t>
            </a:r>
            <a:r>
              <a:rPr lang="en-US" dirty="0" err="1">
                <a:solidFill>
                  <a:srgbClr val="222222"/>
                </a:solidFill>
                <a:latin typeface="Roboto"/>
              </a:rPr>
              <a:t>twinax</a:t>
            </a:r>
            <a:r>
              <a:rPr lang="en-US" dirty="0">
                <a:solidFill>
                  <a:srgbClr val="222222"/>
                </a:solidFill>
                <a:latin typeface="Roboto"/>
              </a:rPr>
              <a:t>. Z high wavelength optical etc.)</a:t>
            </a:r>
          </a:p>
          <a:p>
            <a:pPr marL="742950" lvl="1" indent="-285750">
              <a:buFont typeface="Arial" panose="020B0604020202020204" pitchFamily="34" charset="0"/>
              <a:buChar char="•"/>
            </a:pPr>
            <a:endParaRPr lang="en-US" dirty="0">
              <a:solidFill>
                <a:srgbClr val="222222"/>
              </a:solidFill>
              <a:latin typeface="Roboto"/>
            </a:endParaRPr>
          </a:p>
          <a:p>
            <a:pPr marL="285750" indent="-285750">
              <a:buFont typeface="Arial" panose="020B0604020202020204" pitchFamily="34" charset="0"/>
              <a:buChar char="•"/>
            </a:pPr>
            <a:r>
              <a:rPr lang="en-US" dirty="0">
                <a:solidFill>
                  <a:srgbClr val="222222"/>
                </a:solidFill>
                <a:latin typeface="Roboto"/>
              </a:rPr>
              <a:t>Then the following letter concerns coding scheme</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X</a:t>
            </a:r>
            <a:r>
              <a:rPr lang="en-US" dirty="0">
                <a:solidFill>
                  <a:srgbClr val="222222"/>
                </a:solidFill>
                <a:latin typeface="Roboto"/>
              </a:rPr>
              <a:t>” 4B/5B (100Mbps case) or 8B/10B (GigE)  </a:t>
            </a:r>
            <a:r>
              <a:rPr lang="en-US" sz="1600" dirty="0">
                <a:solidFill>
                  <a:schemeClr val="bg1">
                    <a:lumMod val="65000"/>
                  </a:schemeClr>
                </a:solidFill>
                <a:latin typeface="Roboto"/>
              </a:rPr>
              <a:t>(extended, unspecified,  whatever!)</a:t>
            </a:r>
          </a:p>
          <a:p>
            <a:pPr marL="742950" lvl="1" indent="-285750">
              <a:buFont typeface="Arial" panose="020B0604020202020204" pitchFamily="34" charset="0"/>
              <a:buChar char="•"/>
            </a:pPr>
            <a:r>
              <a:rPr lang="en-US" dirty="0">
                <a:solidFill>
                  <a:srgbClr val="222222"/>
                </a:solidFill>
                <a:latin typeface="Roboto"/>
              </a:rPr>
              <a:t>“</a:t>
            </a:r>
            <a:r>
              <a:rPr lang="en-US" b="1" dirty="0">
                <a:solidFill>
                  <a:srgbClr val="222222"/>
                </a:solidFill>
                <a:latin typeface="Roboto"/>
              </a:rPr>
              <a:t>R</a:t>
            </a:r>
            <a:r>
              <a:rPr lang="en-US" dirty="0">
                <a:solidFill>
                  <a:srgbClr val="222222"/>
                </a:solidFill>
                <a:latin typeface="Roboto"/>
              </a:rPr>
              <a:t>” 64B/66B</a:t>
            </a:r>
          </a:p>
          <a:p>
            <a:pPr marL="742950" lvl="1" indent="-285750">
              <a:buFont typeface="Arial" panose="020B0604020202020204" pitchFamily="34" charset="0"/>
              <a:buChar char="•"/>
            </a:pPr>
            <a:endParaRPr lang="en-US" dirty="0">
              <a:solidFill>
                <a:srgbClr val="222222"/>
              </a:solidFill>
              <a:latin typeface="Roboto"/>
            </a:endParaRPr>
          </a:p>
          <a:p>
            <a:pPr>
              <a:buFont typeface="Arial" panose="020B0604020202020204" pitchFamily="34" charset="0"/>
              <a:buChar char="•"/>
            </a:pPr>
            <a:r>
              <a:rPr lang="en-US" dirty="0">
                <a:solidFill>
                  <a:srgbClr val="222222"/>
                </a:solidFill>
                <a:latin typeface="Roboto"/>
              </a:rPr>
              <a:t>Optionally used at the end: number of parallel lanes (default = 1)</a:t>
            </a:r>
          </a:p>
          <a:p>
            <a:pPr>
              <a:buFont typeface="Arial" panose="020B0604020202020204" pitchFamily="34" charset="0"/>
              <a:buChar char="•"/>
            </a:pPr>
            <a:endParaRPr lang="en-US" b="0" i="0" dirty="0">
              <a:solidFill>
                <a:srgbClr val="222222"/>
              </a:solidFill>
              <a:effectLst/>
              <a:latin typeface="Roboto"/>
            </a:endParaRPr>
          </a:p>
          <a:p>
            <a:pPr>
              <a:buFont typeface="Arial" panose="020B0604020202020204" pitchFamily="34" charset="0"/>
              <a:buChar char="•"/>
            </a:pPr>
            <a:r>
              <a:rPr lang="en-US" dirty="0">
                <a:solidFill>
                  <a:srgbClr val="222222"/>
                </a:solidFill>
                <a:latin typeface="Roboto"/>
              </a:rPr>
              <a:t>Examples</a:t>
            </a:r>
          </a:p>
          <a:p>
            <a:r>
              <a:rPr lang="en-US" dirty="0"/>
              <a:t>	10BaseT</a:t>
            </a:r>
            <a:r>
              <a:rPr lang="en-US" b="1" dirty="0"/>
              <a:t>, 100BaseTX, </a:t>
            </a:r>
            <a:r>
              <a:rPr lang="en-US" dirty="0"/>
              <a:t>100BaseFX, 10GBaseER, 40GBaseSR4…</a:t>
            </a:r>
          </a:p>
          <a:p>
            <a:endParaRPr lang="en-US" i="0" dirty="0">
              <a:solidFill>
                <a:srgbClr val="222222"/>
              </a:solidFill>
              <a:effectLst/>
              <a:latin typeface="Roboto"/>
            </a:endParaRPr>
          </a:p>
        </p:txBody>
      </p:sp>
    </p:spTree>
    <p:extLst>
      <p:ext uri="{BB962C8B-B14F-4D97-AF65-F5344CB8AC3E}">
        <p14:creationId xmlns:p14="http://schemas.microsoft.com/office/powerpoint/2010/main" val="54856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16042"/>
            <a:ext cx="9144000" cy="496888"/>
          </a:xfrm>
        </p:spPr>
        <p:txBody>
          <a:bodyPr/>
          <a:lstStyle/>
          <a:p>
            <a:pPr eaLnBrk="1" hangingPunct="1"/>
            <a:r>
              <a:rPr lang="en-US" altLang="en-US" sz="3600"/>
              <a:t>Fast Ethernet</a:t>
            </a:r>
          </a:p>
        </p:txBody>
      </p:sp>
      <p:pic>
        <p:nvPicPr>
          <p:cNvPr id="24579" name="Picture 4" descr="4-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925" y="639763"/>
            <a:ext cx="8388350" cy="138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bwMode="auto">
          <a:xfrm>
            <a:off x="0" y="4273550"/>
            <a:ext cx="9144000" cy="495300"/>
          </a:xfrm>
          <a:prstGeom prst="rect">
            <a:avLst/>
          </a:prstGeom>
          <a:noFill/>
          <a:ln w="9525">
            <a:noFill/>
            <a:miter lim="800000"/>
            <a:headEnd/>
            <a:tailEnd/>
          </a:ln>
        </p:spPr>
        <p:txBody>
          <a:bodyPr anchor="ctr"/>
          <a:lstStyle/>
          <a:p>
            <a:pPr algn="ctr">
              <a:defRPr/>
            </a:pPr>
            <a:r>
              <a:rPr lang="en-US" sz="3600" kern="0" dirty="0">
                <a:solidFill>
                  <a:srgbClr val="FF0000"/>
                </a:solidFill>
                <a:latin typeface="+mj-lt"/>
                <a:ea typeface="+mj-ea"/>
                <a:cs typeface="+mj-cs"/>
              </a:rPr>
              <a:t>10Gigabit Ethernet</a:t>
            </a:r>
          </a:p>
        </p:txBody>
      </p:sp>
      <p:pic>
        <p:nvPicPr>
          <p:cNvPr id="24581" name="Picture 4" descr="4-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925" y="2600325"/>
            <a:ext cx="8388350" cy="154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p:cNvSpPr txBox="1">
            <a:spLocks noChangeArrowheads="1"/>
          </p:cNvSpPr>
          <p:nvPr/>
        </p:nvSpPr>
        <p:spPr bwMode="auto">
          <a:xfrm>
            <a:off x="147638" y="2063750"/>
            <a:ext cx="9144000" cy="495300"/>
          </a:xfrm>
          <a:prstGeom prst="rect">
            <a:avLst/>
          </a:prstGeom>
          <a:noFill/>
          <a:ln w="9525">
            <a:noFill/>
            <a:miter lim="800000"/>
            <a:headEnd/>
            <a:tailEnd/>
          </a:ln>
        </p:spPr>
        <p:txBody>
          <a:bodyPr anchor="ctr"/>
          <a:lstStyle/>
          <a:p>
            <a:pPr algn="ctr">
              <a:defRPr/>
            </a:pPr>
            <a:r>
              <a:rPr lang="en-US" sz="3600" kern="0" dirty="0">
                <a:solidFill>
                  <a:srgbClr val="FF0000"/>
                </a:solidFill>
                <a:latin typeface="+mj-lt"/>
                <a:ea typeface="+mj-ea"/>
                <a:cs typeface="+mj-cs"/>
              </a:rPr>
              <a:t>Gigabit Ethernet</a:t>
            </a:r>
          </a:p>
        </p:txBody>
      </p:sp>
      <p:pic>
        <p:nvPicPr>
          <p:cNvPr id="2458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925" y="4768850"/>
            <a:ext cx="8512175" cy="1952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0" y="0"/>
            <a:ext cx="9144000" cy="508000"/>
          </a:xfrm>
        </p:spPr>
        <p:txBody>
          <a:bodyPr/>
          <a:lstStyle/>
          <a:p>
            <a:pPr eaLnBrk="1" hangingPunct="1"/>
            <a:r>
              <a:rPr lang="en-US" altLang="en-US" sz="4000" dirty="0"/>
              <a:t>Encoding schemes in Ethernet</a:t>
            </a:r>
          </a:p>
        </p:txBody>
      </p:sp>
      <p:sp>
        <p:nvSpPr>
          <p:cNvPr id="22532" name="TextBox 5"/>
          <p:cNvSpPr txBox="1">
            <a:spLocks noChangeArrowheads="1"/>
          </p:cNvSpPr>
          <p:nvPr/>
        </p:nvSpPr>
        <p:spPr bwMode="auto">
          <a:xfrm>
            <a:off x="112295" y="3848313"/>
            <a:ext cx="4879075"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AutoNum type="alphaLcParenR"/>
              <a:defRPr sz="2400">
                <a:solidFill>
                  <a:schemeClr val="tx1"/>
                </a:solidFill>
                <a:latin typeface="Times New Roman" pitchFamily="18" charset="0"/>
              </a:defRPr>
            </a:lvl1pPr>
            <a:lvl2pPr marL="742950" indent="-285750" eaLnBrk="0" hangingPunct="0">
              <a:spcBef>
                <a:spcPct val="20000"/>
              </a:spcBef>
              <a:buClr>
                <a:schemeClr val="accent2"/>
              </a:buClr>
              <a:buChar char="–"/>
              <a:defRPr sz="2800">
                <a:solidFill>
                  <a:schemeClr val="tx1"/>
                </a:solidFill>
                <a:latin typeface="Times New Roman" pitchFamily="18" charset="0"/>
              </a:defRPr>
            </a:lvl2pPr>
            <a:lvl3pPr marL="1143000" indent="-228600" eaLnBrk="0" hangingPunct="0">
              <a:spcBef>
                <a:spcPct val="20000"/>
              </a:spcBef>
              <a:buClr>
                <a:schemeClr val="accent2"/>
              </a:buClr>
              <a:buChar char="•"/>
              <a:defRPr sz="2400">
                <a:solidFill>
                  <a:schemeClr val="tx1"/>
                </a:solidFill>
                <a:latin typeface="Times New Roman" pitchFamily="18" charset="0"/>
              </a:defRPr>
            </a:lvl3pPr>
            <a:lvl4pPr marL="1600200" indent="-228600" eaLnBrk="0" hangingPunct="0">
              <a:spcBef>
                <a:spcPct val="20000"/>
              </a:spcBef>
              <a:buClr>
                <a:schemeClr val="accent2"/>
              </a:buClr>
              <a:buChar char="–"/>
              <a:defRPr sz="2000">
                <a:solidFill>
                  <a:schemeClr val="tx1"/>
                </a:solidFill>
                <a:latin typeface="Times New Roman" pitchFamily="18" charset="0"/>
              </a:defRPr>
            </a:lvl4pPr>
            <a:lvl5pPr marL="2057400" indent="-228600" eaLnBrk="0" hangingPunct="0">
              <a:spcBef>
                <a:spcPct val="20000"/>
              </a:spcBef>
              <a:buClr>
                <a:schemeClr val="accent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9pPr>
          </a:lstStyle>
          <a:p>
            <a:pPr eaLnBrk="1" hangingPunct="1">
              <a:spcBef>
                <a:spcPct val="0"/>
              </a:spcBef>
              <a:buClrTx/>
              <a:buNone/>
              <a:defRPr/>
            </a:pPr>
            <a:endParaRPr lang="en-US" altLang="en-US" sz="1800" dirty="0">
              <a:latin typeface="Arial" charset="0"/>
            </a:endParaRPr>
          </a:p>
          <a:p>
            <a:pPr eaLnBrk="1" hangingPunct="1">
              <a:spcBef>
                <a:spcPct val="0"/>
              </a:spcBef>
              <a:buClrTx/>
              <a:buFontTx/>
              <a:buChar char="•"/>
              <a:defRPr/>
            </a:pPr>
            <a:r>
              <a:rPr lang="en-US" altLang="en-US" sz="1800" dirty="0">
                <a:latin typeface="Arial" charset="0"/>
              </a:rPr>
              <a:t> 100BaseT uses </a:t>
            </a:r>
            <a:r>
              <a:rPr lang="en-US" altLang="en-US" sz="1800" dirty="0">
                <a:solidFill>
                  <a:schemeClr val="accent2">
                    <a:lumMod val="75000"/>
                  </a:schemeClr>
                </a:solidFill>
                <a:latin typeface="Arial" charset="0"/>
              </a:rPr>
              <a:t>4B/5B </a:t>
            </a:r>
          </a:p>
          <a:p>
            <a:pPr lvl="2" eaLnBrk="1" hangingPunct="1">
              <a:spcBef>
                <a:spcPct val="0"/>
              </a:spcBef>
              <a:buClrTx/>
              <a:defRPr/>
            </a:pPr>
            <a:r>
              <a:rPr lang="en-US" altLang="en-US" sz="1800" dirty="0" err="1">
                <a:solidFill>
                  <a:srgbClr val="000000"/>
                </a:solidFill>
                <a:latin typeface="Arial" panose="020B0604020202020204" pitchFamily="34" charset="0"/>
                <a:cs typeface="Arial" panose="020B0604020202020204" pitchFamily="34" charset="0"/>
              </a:rPr>
              <a:t>DataRate</a:t>
            </a:r>
            <a:r>
              <a:rPr lang="en-US" altLang="en-US" sz="1800" dirty="0">
                <a:solidFill>
                  <a:srgbClr val="000000"/>
                </a:solidFill>
                <a:latin typeface="Arial" panose="020B0604020202020204" pitchFamily="34" charset="0"/>
                <a:cs typeface="Arial" panose="020B0604020202020204" pitchFamily="34" charset="0"/>
              </a:rPr>
              <a:t> = 0.8 </a:t>
            </a:r>
            <a:r>
              <a:rPr lang="en-US" altLang="en-US" sz="1800" dirty="0" err="1">
                <a:solidFill>
                  <a:srgbClr val="000000"/>
                </a:solidFill>
                <a:latin typeface="Arial" panose="020B0604020202020204" pitchFamily="34" charset="0"/>
                <a:cs typeface="Arial" panose="020B0604020202020204" pitchFamily="34" charset="0"/>
              </a:rPr>
              <a:t>ClockRate</a:t>
            </a:r>
            <a:r>
              <a:rPr lang="en-US" altLang="en-US" sz="1800" dirty="0">
                <a:solidFill>
                  <a:srgbClr val="000000"/>
                </a:solidFill>
                <a:latin typeface="Arial" panose="020B0604020202020204" pitchFamily="34" charset="0"/>
                <a:cs typeface="Arial" panose="020B0604020202020204" pitchFamily="34" charset="0"/>
              </a:rPr>
              <a:t>.</a:t>
            </a:r>
          </a:p>
          <a:p>
            <a:pPr eaLnBrk="1" hangingPunct="1">
              <a:spcBef>
                <a:spcPct val="0"/>
              </a:spcBef>
              <a:buClrTx/>
              <a:buNone/>
              <a:defRPr/>
            </a:pPr>
            <a:endParaRPr lang="en-US" altLang="en-US" sz="1800" dirty="0">
              <a:latin typeface="Arial" charset="0"/>
            </a:endParaRPr>
          </a:p>
          <a:p>
            <a:pPr eaLnBrk="1" hangingPunct="1">
              <a:spcBef>
                <a:spcPct val="0"/>
              </a:spcBef>
              <a:buClrTx/>
              <a:buFontTx/>
              <a:buChar char="•"/>
              <a:defRPr/>
            </a:pPr>
            <a:r>
              <a:rPr lang="en-US" altLang="en-US" sz="1800" dirty="0">
                <a:latin typeface="Arial" charset="0"/>
              </a:rPr>
              <a:t> GigE </a:t>
            </a:r>
            <a:r>
              <a:rPr lang="en-US" altLang="en-US" sz="1800" dirty="0">
                <a:solidFill>
                  <a:schemeClr val="accent2">
                    <a:lumMod val="75000"/>
                  </a:schemeClr>
                </a:solidFill>
                <a:latin typeface="Arial" charset="0"/>
              </a:rPr>
              <a:t>64B/66B</a:t>
            </a:r>
          </a:p>
          <a:p>
            <a:pPr lvl="2" eaLnBrk="1" hangingPunct="1">
              <a:spcBef>
                <a:spcPct val="0"/>
              </a:spcBef>
              <a:buClrTx/>
              <a:defRPr/>
            </a:pPr>
            <a:r>
              <a:rPr lang="en-US" altLang="en-US" sz="1800" dirty="0" err="1">
                <a:solidFill>
                  <a:srgbClr val="000000"/>
                </a:solidFill>
                <a:latin typeface="Arial" panose="020B0604020202020204" pitchFamily="34" charset="0"/>
                <a:cs typeface="Arial" panose="020B0604020202020204" pitchFamily="34" charset="0"/>
              </a:rPr>
              <a:t>DataRate</a:t>
            </a:r>
            <a:r>
              <a:rPr lang="en-US" altLang="en-US" sz="1800" dirty="0">
                <a:solidFill>
                  <a:srgbClr val="000000"/>
                </a:solidFill>
                <a:latin typeface="Arial" panose="020B0604020202020204" pitchFamily="34" charset="0"/>
                <a:cs typeface="Arial" panose="020B0604020202020204" pitchFamily="34" charset="0"/>
              </a:rPr>
              <a:t> = 0.97 </a:t>
            </a:r>
            <a:r>
              <a:rPr lang="en-US" altLang="en-US" sz="1800" dirty="0" err="1">
                <a:solidFill>
                  <a:srgbClr val="000000"/>
                </a:solidFill>
                <a:latin typeface="Arial" panose="020B0604020202020204" pitchFamily="34" charset="0"/>
                <a:cs typeface="Arial" panose="020B0604020202020204" pitchFamily="34" charset="0"/>
              </a:rPr>
              <a:t>ClockRate</a:t>
            </a:r>
            <a:r>
              <a:rPr lang="en-US" altLang="en-US" sz="1800" dirty="0">
                <a:solidFill>
                  <a:srgbClr val="000000"/>
                </a:solidFill>
                <a:latin typeface="Arial" panose="020B0604020202020204" pitchFamily="34" charset="0"/>
                <a:cs typeface="Arial" panose="020B0604020202020204" pitchFamily="34" charset="0"/>
              </a:rPr>
              <a:t>.</a:t>
            </a:r>
          </a:p>
          <a:p>
            <a:pPr marL="457200" lvl="1" indent="0" eaLnBrk="1" hangingPunct="1">
              <a:spcBef>
                <a:spcPct val="0"/>
              </a:spcBef>
              <a:buClrTx/>
              <a:buNone/>
              <a:defRPr/>
            </a:pPr>
            <a:endParaRPr lang="en-US" altLang="en-US" sz="2200" dirty="0">
              <a:latin typeface="Arial" charset="0"/>
            </a:endParaRPr>
          </a:p>
        </p:txBody>
      </p:sp>
      <p:pic>
        <p:nvPicPr>
          <p:cNvPr id="4" name="Picture 3"/>
          <p:cNvPicPr>
            <a:picLocks noChangeAspect="1"/>
          </p:cNvPicPr>
          <p:nvPr/>
        </p:nvPicPr>
        <p:blipFill>
          <a:blip r:embed="rId3"/>
          <a:stretch>
            <a:fillRect/>
          </a:stretch>
        </p:blipFill>
        <p:spPr>
          <a:xfrm>
            <a:off x="5179326" y="3622316"/>
            <a:ext cx="3852380" cy="3051200"/>
          </a:xfrm>
          <a:prstGeom prst="rect">
            <a:avLst/>
          </a:prstGeom>
        </p:spPr>
      </p:pic>
      <p:sp>
        <p:nvSpPr>
          <p:cNvPr id="7" name="Rectangle 6"/>
          <p:cNvSpPr/>
          <p:nvPr/>
        </p:nvSpPr>
        <p:spPr>
          <a:xfrm>
            <a:off x="95534" y="705125"/>
            <a:ext cx="8809630" cy="1477328"/>
          </a:xfrm>
          <a:prstGeom prst="rect">
            <a:avLst/>
          </a:prstGeom>
        </p:spPr>
        <p:txBody>
          <a:bodyPr wrap="square">
            <a:spAutoFit/>
          </a:bodyPr>
          <a:lstStyle/>
          <a:p>
            <a:pPr>
              <a:buFontTx/>
              <a:buChar char="•"/>
              <a:defRPr/>
            </a:pPr>
            <a:r>
              <a:rPr lang="en-US" altLang="en-US" dirty="0">
                <a:solidFill>
                  <a:srgbClr val="000000"/>
                </a:solidFill>
              </a:rPr>
              <a:t> Encoding schemes are designed to avoid long periods of constant signal (long runs of 0 or of 1). This is necessary for “bit synchronization” as well as to maintain a zero DC component.</a:t>
            </a:r>
          </a:p>
          <a:p>
            <a:pPr>
              <a:buFontTx/>
              <a:buChar char="•"/>
              <a:defRPr/>
            </a:pPr>
            <a:endParaRPr lang="en-US" altLang="en-US" dirty="0">
              <a:solidFill>
                <a:srgbClr val="000000"/>
              </a:solidFill>
            </a:endParaRPr>
          </a:p>
          <a:p>
            <a:pPr lvl="0">
              <a:buFontTx/>
              <a:buChar char="•"/>
              <a:defRPr/>
            </a:pPr>
            <a:r>
              <a:rPr lang="en-US" altLang="en-US" dirty="0">
                <a:solidFill>
                  <a:srgbClr val="000000"/>
                </a:solidFill>
              </a:rPr>
              <a:t> Classic Ethernet uses </a:t>
            </a:r>
            <a:r>
              <a:rPr lang="en-US" altLang="en-US" dirty="0">
                <a:solidFill>
                  <a:srgbClr val="3333CC">
                    <a:lumMod val="75000"/>
                  </a:srgbClr>
                </a:solidFill>
              </a:rPr>
              <a:t>Manchester</a:t>
            </a:r>
            <a:r>
              <a:rPr lang="en-US" altLang="en-US" dirty="0">
                <a:solidFill>
                  <a:srgbClr val="000000"/>
                </a:solidFill>
              </a:rPr>
              <a:t> encoding. </a:t>
            </a:r>
            <a:r>
              <a:rPr lang="en-US" altLang="en-US" dirty="0" err="1">
                <a:solidFill>
                  <a:srgbClr val="000000"/>
                </a:solidFill>
              </a:rPr>
              <a:t>DataRate</a:t>
            </a:r>
            <a:r>
              <a:rPr lang="en-US" altLang="en-US" dirty="0">
                <a:solidFill>
                  <a:srgbClr val="000000"/>
                </a:solidFill>
              </a:rPr>
              <a:t> = ½ </a:t>
            </a:r>
            <a:r>
              <a:rPr lang="en-US" altLang="en-US" dirty="0" err="1">
                <a:solidFill>
                  <a:srgbClr val="000000"/>
                </a:solidFill>
              </a:rPr>
              <a:t>ClockRate</a:t>
            </a:r>
            <a:r>
              <a:rPr lang="en-US" altLang="en-US" dirty="0">
                <a:solidFill>
                  <a:srgbClr val="000000"/>
                </a:solidFill>
              </a:rPr>
              <a:t>.</a:t>
            </a:r>
          </a:p>
        </p:txBody>
      </p:sp>
      <p:pic>
        <p:nvPicPr>
          <p:cNvPr id="2" name="Picture 1"/>
          <p:cNvPicPr>
            <a:picLocks noChangeAspect="1"/>
          </p:cNvPicPr>
          <p:nvPr/>
        </p:nvPicPr>
        <p:blipFill>
          <a:blip r:embed="rId4"/>
          <a:stretch>
            <a:fillRect/>
          </a:stretch>
        </p:blipFill>
        <p:spPr>
          <a:xfrm>
            <a:off x="2361062" y="2367775"/>
            <a:ext cx="6782937" cy="958650"/>
          </a:xfrm>
          <a:prstGeom prst="rect">
            <a:avLst/>
          </a:prstGeom>
        </p:spPr>
      </p:pic>
      <p:sp>
        <p:nvSpPr>
          <p:cNvPr id="8" name="TextBox 5"/>
          <p:cNvSpPr txBox="1">
            <a:spLocks noChangeArrowheads="1"/>
          </p:cNvSpPr>
          <p:nvPr/>
        </p:nvSpPr>
        <p:spPr bwMode="auto">
          <a:xfrm>
            <a:off x="-1" y="2286097"/>
            <a:ext cx="236106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accent2"/>
              </a:buClr>
              <a:buAutoNum type="alphaLcParenR"/>
              <a:defRPr sz="2400">
                <a:solidFill>
                  <a:schemeClr val="tx1"/>
                </a:solidFill>
                <a:latin typeface="Times New Roman" pitchFamily="18" charset="0"/>
              </a:defRPr>
            </a:lvl1pPr>
            <a:lvl2pPr marL="742950" indent="-285750" eaLnBrk="0" hangingPunct="0">
              <a:spcBef>
                <a:spcPct val="20000"/>
              </a:spcBef>
              <a:buClr>
                <a:schemeClr val="accent2"/>
              </a:buClr>
              <a:buChar char="–"/>
              <a:defRPr sz="2800">
                <a:solidFill>
                  <a:schemeClr val="tx1"/>
                </a:solidFill>
                <a:latin typeface="Times New Roman" pitchFamily="18" charset="0"/>
              </a:defRPr>
            </a:lvl2pPr>
            <a:lvl3pPr marL="1143000" indent="-228600" eaLnBrk="0" hangingPunct="0">
              <a:spcBef>
                <a:spcPct val="20000"/>
              </a:spcBef>
              <a:buClr>
                <a:schemeClr val="accent2"/>
              </a:buClr>
              <a:buChar char="•"/>
              <a:defRPr sz="2400">
                <a:solidFill>
                  <a:schemeClr val="tx1"/>
                </a:solidFill>
                <a:latin typeface="Times New Roman" pitchFamily="18" charset="0"/>
              </a:defRPr>
            </a:lvl3pPr>
            <a:lvl4pPr marL="1600200" indent="-228600" eaLnBrk="0" hangingPunct="0">
              <a:spcBef>
                <a:spcPct val="20000"/>
              </a:spcBef>
              <a:buClr>
                <a:schemeClr val="accent2"/>
              </a:buClr>
              <a:buChar char="–"/>
              <a:defRPr sz="2000">
                <a:solidFill>
                  <a:schemeClr val="tx1"/>
                </a:solidFill>
                <a:latin typeface="Times New Roman" pitchFamily="18" charset="0"/>
              </a:defRPr>
            </a:lvl4pPr>
            <a:lvl5pPr marL="2057400" indent="-228600" eaLnBrk="0" hangingPunct="0">
              <a:spcBef>
                <a:spcPct val="20000"/>
              </a:spcBef>
              <a:buClr>
                <a:schemeClr val="accent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accent2"/>
              </a:buClr>
              <a:buChar char="»"/>
              <a:defRPr sz="2000">
                <a:solidFill>
                  <a:schemeClr val="tx1"/>
                </a:solidFill>
                <a:latin typeface="Times New Roman" pitchFamily="18" charset="0"/>
              </a:defRPr>
            </a:lvl9pPr>
          </a:lstStyle>
          <a:p>
            <a:pPr eaLnBrk="1" hangingPunct="1">
              <a:spcBef>
                <a:spcPct val="0"/>
              </a:spcBef>
              <a:buClrTx/>
              <a:buNone/>
              <a:defRPr/>
            </a:pPr>
            <a:r>
              <a:rPr lang="en-US" altLang="en-US" sz="1600" dirty="0">
                <a:solidFill>
                  <a:srgbClr val="FF0000"/>
                </a:solidFill>
                <a:latin typeface="Arial" charset="0"/>
              </a:rPr>
              <a:t>1=transition in middle of clock cycle</a:t>
            </a:r>
          </a:p>
          <a:p>
            <a:pPr eaLnBrk="1" hangingPunct="1">
              <a:spcBef>
                <a:spcPct val="0"/>
              </a:spcBef>
              <a:buClrTx/>
              <a:buNone/>
              <a:defRPr/>
            </a:pPr>
            <a:r>
              <a:rPr lang="en-US" altLang="en-US" sz="1600" dirty="0">
                <a:solidFill>
                  <a:srgbClr val="FF0000"/>
                </a:solidFill>
                <a:latin typeface="Arial" charset="0"/>
              </a:rPr>
              <a:t>0=no transition. Always transition at the end of each clock cycle.</a:t>
            </a:r>
            <a:endParaRPr lang="en-US" altLang="en-US" sz="2000" dirty="0">
              <a:solidFill>
                <a:srgbClr val="FF0000"/>
              </a:solidFill>
              <a:latin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Switches and Bridges </a:t>
            </a:r>
          </a:p>
        </p:txBody>
      </p:sp>
      <p:sp>
        <p:nvSpPr>
          <p:cNvPr id="27651" name="Rectangle 3"/>
          <p:cNvSpPr>
            <a:spLocks noGrp="1" noChangeArrowheads="1"/>
          </p:cNvSpPr>
          <p:nvPr>
            <p:ph type="body" idx="1"/>
          </p:nvPr>
        </p:nvSpPr>
        <p:spPr>
          <a:xfrm>
            <a:off x="0" y="572167"/>
            <a:ext cx="9144000" cy="4237577"/>
          </a:xfrm>
        </p:spPr>
        <p:txBody>
          <a:bodyPr/>
          <a:lstStyle/>
          <a:p>
            <a:pPr marL="168275" indent="-168275" eaLnBrk="1" hangingPunct="1">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Switch is a “multiport bridge”.  </a:t>
            </a:r>
            <a:r>
              <a:rPr lang="en-US" altLang="en-US" sz="1600" dirty="0">
                <a:solidFill>
                  <a:schemeClr val="bg1">
                    <a:lumMod val="50000"/>
                  </a:schemeClr>
                </a:solidFill>
                <a:latin typeface="Arial" panose="020B0604020202020204" pitchFamily="34" charset="0"/>
                <a:cs typeface="Arial" panose="020B0604020202020204" pitchFamily="34" charset="0"/>
              </a:rPr>
              <a:t>Similarly, Hub is a multiport repeater (layer 1).</a:t>
            </a:r>
            <a:endParaRPr lang="en-US" altLang="en-US" sz="1800" dirty="0">
              <a:solidFill>
                <a:schemeClr val="bg1">
                  <a:lumMod val="50000"/>
                </a:schemeClr>
              </a:solidFill>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Connects together different “collision domains” by doing “</a:t>
            </a:r>
            <a:r>
              <a:rPr lang="en-US" altLang="en-US" sz="1800" b="1" dirty="0">
                <a:latin typeface="Arial" panose="020B0604020202020204" pitchFamily="34" charset="0"/>
                <a:cs typeface="Arial" panose="020B0604020202020204" pitchFamily="34" charset="0"/>
              </a:rPr>
              <a:t>Store-And-Forward</a:t>
            </a:r>
            <a:r>
              <a:rPr lang="en-US" altLang="en-US" sz="1800" dirty="0">
                <a:latin typeface="Arial" panose="020B0604020202020204" pitchFamily="34" charset="0"/>
                <a:cs typeface="Arial" panose="020B0604020202020204" pitchFamily="34" charset="0"/>
              </a:rPr>
              <a:t>”. Hence it is technically a “layer-2” gateway </a:t>
            </a:r>
            <a:r>
              <a:rPr lang="en-US" altLang="en-US" sz="1400" dirty="0">
                <a:solidFill>
                  <a:schemeClr val="bg1">
                    <a:lumMod val="50000"/>
                  </a:schemeClr>
                </a:solidFill>
                <a:latin typeface="Arial" panose="020B0604020202020204" pitchFamily="34" charset="0"/>
                <a:cs typeface="Arial" panose="020B0604020202020204" pitchFamily="34" charset="0"/>
              </a:rPr>
              <a:t>(understands the </a:t>
            </a:r>
            <a:r>
              <a:rPr lang="en-US" altLang="en-US" sz="1400" i="1" dirty="0">
                <a:solidFill>
                  <a:schemeClr val="bg1">
                    <a:lumMod val="50000"/>
                  </a:schemeClr>
                </a:solidFill>
                <a:latin typeface="Arial" panose="020B0604020202020204" pitchFamily="34" charset="0"/>
                <a:cs typeface="Arial" panose="020B0604020202020204" pitchFamily="34" charset="0"/>
              </a:rPr>
              <a:t>frame</a:t>
            </a:r>
            <a:r>
              <a:rPr lang="en-US" altLang="en-US" sz="1400" dirty="0">
                <a:solidFill>
                  <a:schemeClr val="bg1">
                    <a:lumMod val="50000"/>
                  </a:schemeClr>
                </a:solidFill>
                <a:latin typeface="Arial" panose="020B0604020202020204" pitchFamily="34" charset="0"/>
                <a:cs typeface="Arial" panose="020B0604020202020204" pitchFamily="34" charset="0"/>
              </a:rPr>
              <a:t>).</a:t>
            </a:r>
          </a:p>
          <a:p>
            <a:pPr marL="0" indent="0" eaLnBrk="1" hangingPunct="1">
              <a:buNone/>
            </a:pPr>
            <a:endParaRPr lang="en-US" altLang="en-US" sz="800" dirty="0">
              <a:solidFill>
                <a:schemeClr val="bg1">
                  <a:lumMod val="50000"/>
                </a:schemeClr>
              </a:solidFill>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r>
              <a:rPr lang="en-US" altLang="en-US" sz="1800" dirty="0">
                <a:latin typeface="Arial" panose="020B0604020202020204" pitchFamily="34" charset="0"/>
                <a:cs typeface="Arial" panose="020B0604020202020204" pitchFamily="34" charset="0"/>
              </a:rPr>
              <a:t>Maintains a “forwarding table”: list of reachable MAC addresses per interface. The key idea of the </a:t>
            </a:r>
            <a:r>
              <a:rPr lang="en-US" altLang="en-US" sz="1800" i="1" dirty="0">
                <a:solidFill>
                  <a:srgbClr val="0070C0"/>
                </a:solidFill>
                <a:latin typeface="Arial" panose="020B0604020202020204" pitchFamily="34" charset="0"/>
                <a:cs typeface="Arial" panose="020B0604020202020204" pitchFamily="34" charset="0"/>
              </a:rPr>
              <a:t>Ethernet Learning Algorithm </a:t>
            </a:r>
            <a:r>
              <a:rPr lang="en-US" altLang="en-US" sz="1800" dirty="0">
                <a:latin typeface="Arial" panose="020B0604020202020204" pitchFamily="34" charset="0"/>
                <a:cs typeface="Arial" panose="020B0604020202020204" pitchFamily="34" charset="0"/>
              </a:rPr>
              <a:t>(</a:t>
            </a:r>
            <a:r>
              <a:rPr lang="en-US" altLang="en-US" sz="1600" dirty="0">
                <a:solidFill>
                  <a:schemeClr val="bg1">
                    <a:lumMod val="50000"/>
                  </a:schemeClr>
                </a:solidFill>
                <a:latin typeface="Arial" panose="020B0604020202020204" pitchFamily="34" charset="0"/>
                <a:cs typeface="Arial" panose="020B0604020202020204" pitchFamily="34" charset="0"/>
              </a:rPr>
              <a:t>how switches learn the topology and fill their forwarding table) </a:t>
            </a:r>
            <a:r>
              <a:rPr lang="en-US" altLang="en-US" sz="1800" dirty="0">
                <a:latin typeface="Arial" panose="020B0604020202020204" pitchFamily="34" charset="0"/>
                <a:cs typeface="Arial" panose="020B0604020202020204" pitchFamily="34" charset="0"/>
              </a:rPr>
              <a:t>is as follows. When a packet arrives to a switch:</a:t>
            </a:r>
          </a:p>
          <a:p>
            <a:pPr marL="168275" indent="-168275" eaLnBrk="1" hangingPunct="1">
              <a:buFont typeface="Arial" panose="020B0604020202020204" pitchFamily="34" charset="0"/>
              <a:buChar char="•"/>
            </a:pPr>
            <a:endParaRPr lang="en-US" altLang="en-US" sz="800" dirty="0">
              <a:latin typeface="Arial" panose="020B0604020202020204" pitchFamily="34" charset="0"/>
              <a:cs typeface="Arial" panose="020B0604020202020204" pitchFamily="34" charset="0"/>
            </a:endParaRPr>
          </a:p>
          <a:p>
            <a:pPr marL="549275" lvl="1" indent="-168275" eaLnBrk="1" hangingPunct="1">
              <a:buFont typeface="Arial" panose="020B0604020202020204" pitchFamily="34" charset="0"/>
              <a:buChar char="•"/>
            </a:pPr>
            <a:r>
              <a:rPr lang="en-US" altLang="en-US" sz="1800" dirty="0">
                <a:solidFill>
                  <a:srgbClr val="0070C0"/>
                </a:solidFill>
                <a:latin typeface="Arial" panose="020B0604020202020204" pitchFamily="34" charset="0"/>
                <a:cs typeface="Arial" panose="020B0604020202020204" pitchFamily="34" charset="0"/>
              </a:rPr>
              <a:t>If Destination MAC not in forward table, apply “flooding”</a:t>
            </a:r>
          </a:p>
          <a:p>
            <a:pPr marL="549275" lvl="1" indent="-168275" eaLnBrk="1" hangingPunct="1">
              <a:buFont typeface="Arial" panose="020B0604020202020204" pitchFamily="34" charset="0"/>
              <a:buChar char="•"/>
            </a:pPr>
            <a:r>
              <a:rPr lang="en-US" altLang="en-US" sz="1800" dirty="0">
                <a:solidFill>
                  <a:srgbClr val="0070C0"/>
                </a:solidFill>
                <a:latin typeface="Arial" panose="020B0604020202020204" pitchFamily="34" charset="0"/>
                <a:cs typeface="Arial" panose="020B0604020202020204" pitchFamily="34" charset="0"/>
              </a:rPr>
              <a:t>If source MAC not in forward table, add it to the list of the incoming interface. </a:t>
            </a:r>
          </a:p>
          <a:p>
            <a:pPr marL="168275" indent="-168275" eaLnBrk="1" hangingPunct="1">
              <a:buFont typeface="Arial" panose="020B0604020202020204" pitchFamily="34" charset="0"/>
              <a:buChar char="•"/>
            </a:pPr>
            <a:r>
              <a:rPr lang="en-US" altLang="en-US" sz="1600" dirty="0">
                <a:solidFill>
                  <a:srgbClr val="002060"/>
                </a:solidFill>
                <a:latin typeface="Arial" panose="020B0604020202020204" pitchFamily="34" charset="0"/>
                <a:cs typeface="Arial" panose="020B0604020202020204" pitchFamily="34" charset="0"/>
              </a:rPr>
              <a:t>Broadcasts are flooded. Multicast addresses can be listed on many interfaces</a:t>
            </a:r>
            <a:r>
              <a:rPr lang="en-US" altLang="en-US" sz="2000" dirty="0">
                <a:latin typeface="Arial" panose="020B0604020202020204" pitchFamily="34" charset="0"/>
                <a:cs typeface="Arial" panose="020B0604020202020204" pitchFamily="34" charset="0"/>
              </a:rPr>
              <a:t>. </a:t>
            </a:r>
          </a:p>
          <a:p>
            <a:pPr marL="168275" indent="-168275" eaLnBrk="1" hangingPunct="1">
              <a:buFont typeface="Arial" panose="020B0604020202020204" pitchFamily="34" charset="0"/>
              <a:buChar char="•"/>
            </a:pPr>
            <a:endParaRPr lang="en-US" altLang="en-US" sz="800" dirty="0">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r>
              <a:rPr lang="en-US" altLang="en-US" sz="1800" i="1" dirty="0">
                <a:latin typeface="Arial" panose="020B0604020202020204" pitchFamily="34" charset="0"/>
                <a:cs typeface="Arial" panose="020B0604020202020204" pitchFamily="34" charset="0"/>
              </a:rPr>
              <a:t>Tree Topology is necessary </a:t>
            </a:r>
            <a:r>
              <a:rPr lang="en-US" altLang="en-US" sz="1800" dirty="0">
                <a:latin typeface="Arial" panose="020B0604020202020204" pitchFamily="34" charset="0"/>
                <a:cs typeface="Arial" panose="020B0604020202020204" pitchFamily="34" charset="0"/>
              </a:rPr>
              <a:t>to avoid forwarding loops. However, redundant links can be installed as backup (to use upon failure). The Spanning-Tree-Algorithm permits switches to negotiate which links to drop or use to establish a tree topology.</a:t>
            </a:r>
          </a:p>
          <a:p>
            <a:pPr marL="0" indent="0" eaLnBrk="1" hangingPunct="1">
              <a:buNone/>
            </a:pPr>
            <a:endParaRPr lang="en-US" altLang="en-US" sz="1800" dirty="0">
              <a:latin typeface="Arial" panose="020B0604020202020204" pitchFamily="34" charset="0"/>
              <a:cs typeface="Arial" panose="020B0604020202020204" pitchFamily="34" charset="0"/>
            </a:endParaRPr>
          </a:p>
          <a:p>
            <a:pPr marL="168275" indent="-168275" eaLnBrk="1" hangingPunct="1">
              <a:buFont typeface="Arial" panose="020B0604020202020204" pitchFamily="34" charset="0"/>
              <a:buChar char="•"/>
            </a:pPr>
            <a:endParaRPr lang="en-US" altLang="en-US" sz="18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C9A1DC8-C611-484A-B991-9303C680B800}"/>
              </a:ext>
            </a:extLst>
          </p:cNvPr>
          <p:cNvSpPr txBox="1"/>
          <p:nvPr/>
        </p:nvSpPr>
        <p:spPr>
          <a:xfrm>
            <a:off x="0" y="4967543"/>
            <a:ext cx="9144000" cy="1865126"/>
          </a:xfrm>
          <a:prstGeom prst="rect">
            <a:avLst/>
          </a:prstGeom>
          <a:solidFill>
            <a:schemeClr val="bg1">
              <a:lumMod val="95000"/>
            </a:schemeClr>
          </a:solidFill>
        </p:spPr>
        <p:txBody>
          <a:bodyPr wrap="square">
            <a:spAutoFit/>
          </a:bodyPr>
          <a:lstStyle/>
          <a:p>
            <a:pPr marR="0" lvl="0" algn="l" defTabSz="914400" rtl="0" eaLnBrk="1" fontAlgn="base" latinLnBrk="0" hangingPunct="1">
              <a:lnSpc>
                <a:spcPct val="100000"/>
              </a:lnSpc>
              <a:spcBef>
                <a:spcPct val="20000"/>
              </a:spcBef>
              <a:spcAft>
                <a:spcPct val="0"/>
              </a:spcAft>
              <a:buClr>
                <a:srgbClr val="3333CC"/>
              </a:buClr>
              <a:buSzTx/>
              <a:tabLst/>
              <a:defRPr/>
            </a:pPr>
            <a:r>
              <a:rPr kumimoji="0" lang="en-US" altLang="en-US" sz="1800" b="0" i="1" u="none" strike="noStrike" kern="0" cap="none" spc="0" normalizeH="0" baseline="0" noProof="0" dirty="0">
                <a:ln>
                  <a:noFill/>
                </a:ln>
                <a:solidFill>
                  <a:schemeClr val="tx1">
                    <a:lumMod val="50000"/>
                    <a:lumOff val="50000"/>
                  </a:schemeClr>
                </a:solidFill>
                <a:effectLst/>
                <a:uLnTx/>
                <a:uFillTx/>
                <a:latin typeface="Arial" panose="020B0604020202020204" pitchFamily="34" charset="0"/>
                <a:ea typeface="+mn-ea"/>
                <a:cs typeface="Arial" panose="020B0604020202020204" pitchFamily="34" charset="0"/>
              </a:rPr>
              <a:t>Thrill, SPB, SDN &amp; OpenFlow</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All these are ideas (mainly applied in data centers) to exploit the redundant links in order to achieve higher network throughput. </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In short, </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284163" marR="0" lvl="1" indent="-168275"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switches use a “routing update algorithm” ( </a:t>
            </a:r>
            <a:r>
              <a:rPr kumimoji="0" lang="en-US" altLang="en-US" sz="1800" b="0" i="0" u="none" strike="noStrike" kern="0" cap="none" spc="0" normalizeH="0" baseline="0" noProof="0" dirty="0" err="1">
                <a:ln>
                  <a:noFill/>
                </a:ln>
                <a:solidFill>
                  <a:srgbClr val="000000"/>
                </a:solidFill>
                <a:effectLst/>
                <a:uLnTx/>
                <a:uFillTx/>
                <a:latin typeface="Arial" panose="020B0604020202020204" pitchFamily="34" charset="0"/>
                <a:cs typeface="Arial" panose="020B0604020202020204" pitchFamily="34" charset="0"/>
              </a:rPr>
              <a:t>ie</a:t>
            </a: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 IS-IS) to have full routing tables, similarly to Internet routers, but using MAC addresses</a:t>
            </a:r>
          </a:p>
          <a:p>
            <a:pPr marL="284163" marR="0" lvl="1" indent="-168275"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Broadcast packets and packets destined to unknown destinations are flooded on the spanning tree, which avoids infinite looping…</a:t>
            </a: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wipe(left)">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animEffect transition="in" filter="wipe(left)">
                                      <p:cBhvr>
                                        <p:cTn id="17" dur="500"/>
                                        <p:tgtEl>
                                          <p:spTgt spid="27651">
                                            <p:txEl>
                                              <p:pRg st="3" end="3"/>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651">
                                            <p:txEl>
                                              <p:pRg st="5" end="5"/>
                                            </p:txEl>
                                          </p:spTgt>
                                        </p:tgtEl>
                                        <p:attrNameLst>
                                          <p:attrName>style.visibility</p:attrName>
                                        </p:attrNameLst>
                                      </p:cBhvr>
                                      <p:to>
                                        <p:strVal val="visible"/>
                                      </p:to>
                                    </p:set>
                                    <p:animEffect transition="in" filter="wipe(left)">
                                      <p:cBhvr>
                                        <p:cTn id="20" dur="500"/>
                                        <p:tgtEl>
                                          <p:spTgt spid="27651">
                                            <p:txEl>
                                              <p:pRg st="5" end="5"/>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7651">
                                            <p:txEl>
                                              <p:pRg st="6" end="6"/>
                                            </p:txEl>
                                          </p:spTgt>
                                        </p:tgtEl>
                                        <p:attrNameLst>
                                          <p:attrName>style.visibility</p:attrName>
                                        </p:attrNameLst>
                                      </p:cBhvr>
                                      <p:to>
                                        <p:strVal val="visible"/>
                                      </p:to>
                                    </p:set>
                                    <p:animEffect transition="in" filter="wipe(left)">
                                      <p:cBhvr>
                                        <p:cTn id="23" dur="500"/>
                                        <p:tgtEl>
                                          <p:spTgt spid="27651">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651">
                                            <p:txEl>
                                              <p:pRg st="7" end="7"/>
                                            </p:txEl>
                                          </p:spTgt>
                                        </p:tgtEl>
                                        <p:attrNameLst>
                                          <p:attrName>style.visibility</p:attrName>
                                        </p:attrNameLst>
                                      </p:cBhvr>
                                      <p:to>
                                        <p:strVal val="visible"/>
                                      </p:to>
                                    </p:set>
                                    <p:animEffect transition="in" filter="wipe(left)">
                                      <p:cBhvr>
                                        <p:cTn id="28" dur="500"/>
                                        <p:tgtEl>
                                          <p:spTgt spid="27651">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7651">
                                            <p:txEl>
                                              <p:pRg st="9" end="9"/>
                                            </p:txEl>
                                          </p:spTgt>
                                        </p:tgtEl>
                                        <p:attrNameLst>
                                          <p:attrName>style.visibility</p:attrName>
                                        </p:attrNameLst>
                                      </p:cBhvr>
                                      <p:to>
                                        <p:strVal val="visible"/>
                                      </p:to>
                                    </p:set>
                                    <p:animEffect transition="in" filter="wipe(left)">
                                      <p:cBhvr>
                                        <p:cTn id="33" dur="500"/>
                                        <p:tgtEl>
                                          <p:spTgt spid="27651">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Spanning Tree Algorithm </a:t>
            </a:r>
            <a:r>
              <a:rPr lang="en-US" altLang="en-US" sz="1800" dirty="0">
                <a:solidFill>
                  <a:schemeClr val="bg1">
                    <a:lumMod val="50000"/>
                  </a:schemeClr>
                </a:solidFill>
              </a:rPr>
              <a:t>(sections 3.1, 3.1.1)</a:t>
            </a:r>
            <a:endParaRPr lang="en-US" altLang="en-US" sz="3200" dirty="0">
              <a:solidFill>
                <a:schemeClr val="bg1">
                  <a:lumMod val="50000"/>
                </a:schemeClr>
              </a:solidFill>
            </a:endParaRPr>
          </a:p>
        </p:txBody>
      </p:sp>
      <p:sp>
        <p:nvSpPr>
          <p:cNvPr id="27651" name="Rectangle 3"/>
          <p:cNvSpPr>
            <a:spLocks noGrp="1" noChangeArrowheads="1"/>
          </p:cNvSpPr>
          <p:nvPr>
            <p:ph type="body" idx="1"/>
          </p:nvPr>
        </p:nvSpPr>
        <p:spPr>
          <a:xfrm>
            <a:off x="0" y="556538"/>
            <a:ext cx="9144000" cy="4038910"/>
          </a:xfrm>
        </p:spPr>
        <p:txBody>
          <a:bodyPr/>
          <a:lstStyle/>
          <a:p>
            <a:pPr marL="0" indent="0" eaLnBrk="1" hangingPunct="1">
              <a:buNone/>
            </a:pPr>
            <a:r>
              <a:rPr lang="en-US" altLang="en-US" sz="1600" dirty="0">
                <a:latin typeface="+mj-lt"/>
                <a:cs typeface="Arial" panose="020B0604020202020204" pitchFamily="34" charset="0"/>
              </a:rPr>
              <a:t>Redundant links are necessary to cope with link failures, but the existence of loops makes the </a:t>
            </a:r>
            <a:r>
              <a:rPr lang="en-US" altLang="en-US" sz="1600" dirty="0" err="1">
                <a:latin typeface="+mj-lt"/>
                <a:cs typeface="Arial" panose="020B0604020202020204" pitchFamily="34" charset="0"/>
              </a:rPr>
              <a:t>broadcased</a:t>
            </a:r>
            <a:r>
              <a:rPr lang="en-US" altLang="en-US" sz="1600" dirty="0">
                <a:latin typeface="+mj-lt"/>
                <a:cs typeface="Arial" panose="020B0604020202020204" pitchFamily="34" charset="0"/>
              </a:rPr>
              <a:t> packets </a:t>
            </a:r>
            <a:r>
              <a:rPr lang="en-US" altLang="en-US" sz="1200" dirty="0">
                <a:solidFill>
                  <a:schemeClr val="tx1">
                    <a:lumMod val="50000"/>
                    <a:lumOff val="50000"/>
                  </a:schemeClr>
                </a:solidFill>
                <a:latin typeface="+mj-lt"/>
                <a:cs typeface="Arial" panose="020B0604020202020204" pitchFamily="34" charset="0"/>
              </a:rPr>
              <a:t>(and packets destined to unknown destinations)</a:t>
            </a:r>
            <a:r>
              <a:rPr lang="en-US" altLang="en-US" sz="1600" dirty="0">
                <a:latin typeface="+mj-lt"/>
                <a:cs typeface="Arial" panose="020B0604020202020204" pitchFamily="34" charset="0"/>
              </a:rPr>
              <a:t> loop forever. The Spanning tree algorithm allows the Switches to “elect” the links to use to form a spanning tree. The other links are considered “backup” </a:t>
            </a:r>
            <a:r>
              <a:rPr lang="en-US" altLang="en-US" sz="1200" dirty="0">
                <a:solidFill>
                  <a:schemeClr val="tx1">
                    <a:lumMod val="50000"/>
                    <a:lumOff val="50000"/>
                  </a:schemeClr>
                </a:solidFill>
                <a:latin typeface="+mj-lt"/>
                <a:cs typeface="Arial" panose="020B0604020202020204" pitchFamily="34" charset="0"/>
              </a:rPr>
              <a:t>(will be used if a link fails).</a:t>
            </a:r>
          </a:p>
          <a:p>
            <a:pPr marL="0" indent="0" eaLnBrk="1" hangingPunct="1">
              <a:buNone/>
            </a:pPr>
            <a:endParaRPr lang="en-US" altLang="en-US" sz="600" dirty="0">
              <a:solidFill>
                <a:schemeClr val="tx1">
                  <a:lumMod val="50000"/>
                  <a:lumOff val="50000"/>
                </a:schemeClr>
              </a:solidFill>
              <a:latin typeface="+mj-lt"/>
              <a:cs typeface="Arial" panose="020B0604020202020204" pitchFamily="34" charset="0"/>
            </a:endParaRPr>
          </a:p>
          <a:p>
            <a:pPr marL="0" indent="0" eaLnBrk="1" hangingPunct="1">
              <a:buNone/>
            </a:pPr>
            <a:r>
              <a:rPr lang="en-US" sz="1600" dirty="0">
                <a:latin typeface="+mj-lt"/>
                <a:cs typeface="Arial" panose="020B0604020202020204" pitchFamily="34" charset="0"/>
              </a:rPr>
              <a:t>The algorithm is based on the “election” of a </a:t>
            </a:r>
            <a:r>
              <a:rPr lang="en-US" sz="1600" b="1" dirty="0">
                <a:latin typeface="+mj-lt"/>
                <a:cs typeface="Arial" panose="020B0604020202020204" pitchFamily="34" charset="0"/>
              </a:rPr>
              <a:t>root node</a:t>
            </a:r>
            <a:r>
              <a:rPr lang="en-US" sz="1600" dirty="0">
                <a:latin typeface="+mj-lt"/>
                <a:cs typeface="Arial" panose="020B0604020202020204" pitchFamily="34" charset="0"/>
              </a:rPr>
              <a:t>: the switch with the </a:t>
            </a:r>
            <a:r>
              <a:rPr lang="en-US" sz="1600" b="1" dirty="0">
                <a:latin typeface="+mj-lt"/>
                <a:cs typeface="Arial" panose="020B0604020202020204" pitchFamily="34" charset="0"/>
              </a:rPr>
              <a:t>lowest ID</a:t>
            </a:r>
            <a:r>
              <a:rPr lang="en-US" sz="1600" dirty="0">
                <a:latin typeface="+mj-lt"/>
                <a:cs typeface="Arial" panose="020B0604020202020204" pitchFamily="34" charset="0"/>
              </a:rPr>
              <a:t>. Then each switch activates the links that provide “shortest path” to the elected root.  </a:t>
            </a:r>
            <a:endParaRPr lang="en-US" altLang="en-US" sz="1600" dirty="0">
              <a:solidFill>
                <a:schemeClr val="tx1">
                  <a:lumMod val="50000"/>
                  <a:lumOff val="50000"/>
                </a:schemeClr>
              </a:solidFill>
              <a:latin typeface="+mj-lt"/>
              <a:cs typeface="Arial" panose="020B0604020202020204" pitchFamily="34" charset="0"/>
            </a:endParaRPr>
          </a:p>
          <a:p>
            <a:pPr marL="285750" indent="-285750">
              <a:buFont typeface="Arial" panose="020B0604020202020204" pitchFamily="34" charset="0"/>
              <a:buChar char="•"/>
            </a:pPr>
            <a:r>
              <a:rPr lang="en-GB" sz="1600" dirty="0">
                <a:latin typeface="+mj-lt"/>
                <a:cs typeface="Arial" panose="020B0604020202020204" pitchFamily="34" charset="0"/>
              </a:rPr>
              <a:t>Each s</a:t>
            </a:r>
            <a:r>
              <a:rPr lang="en-GB" sz="1600" b="0" i="0" u="none" strike="noStrike" baseline="0" dirty="0">
                <a:latin typeface="+mj-lt"/>
                <a:cs typeface="Arial" panose="020B0604020202020204" pitchFamily="34" charset="0"/>
              </a:rPr>
              <a:t>witch broadcasts regular messages called </a:t>
            </a:r>
            <a:r>
              <a:rPr lang="en-GB" sz="1600" b="0" i="1" u="none" strike="noStrike" baseline="0" dirty="0">
                <a:latin typeface="+mj-lt"/>
                <a:cs typeface="Arial" panose="020B0604020202020204" pitchFamily="34" charset="0"/>
              </a:rPr>
              <a:t>bridge protocol data units </a:t>
            </a:r>
            <a:r>
              <a:rPr lang="en-GB" sz="1600" b="0" i="0" u="none" strike="noStrike" baseline="0" dirty="0">
                <a:latin typeface="+mj-lt"/>
                <a:cs typeface="Arial" panose="020B0604020202020204" pitchFamily="34" charset="0"/>
              </a:rPr>
              <a:t>(</a:t>
            </a:r>
            <a:r>
              <a:rPr lang="en-GB" sz="1600" b="1" i="0" u="none" strike="noStrike" baseline="0" dirty="0">
                <a:latin typeface="+mj-lt"/>
                <a:cs typeface="Arial" panose="020B0604020202020204" pitchFamily="34" charset="0"/>
              </a:rPr>
              <a:t>BPDU</a:t>
            </a:r>
            <a:r>
              <a:rPr lang="en-GB" sz="1600" b="0" i="0" u="none" strike="noStrike" baseline="0" dirty="0">
                <a:latin typeface="+mj-lt"/>
                <a:cs typeface="Arial" panose="020B0604020202020204" pitchFamily="34" charset="0"/>
              </a:rPr>
              <a:t>). Destination = multicast address 01:80:c2:00:00:00</a:t>
            </a:r>
            <a:r>
              <a:rPr lang="en-GB" sz="1600" dirty="0">
                <a:latin typeface="+mj-lt"/>
                <a:cs typeface="Arial" panose="020B0604020202020204" pitchFamily="34" charset="0"/>
              </a:rPr>
              <a:t>. </a:t>
            </a:r>
            <a:r>
              <a:rPr lang="en-GB" sz="1600" b="0" i="0" u="none" strike="noStrike" baseline="0" dirty="0">
                <a:solidFill>
                  <a:schemeClr val="tx1">
                    <a:lumMod val="50000"/>
                    <a:lumOff val="50000"/>
                  </a:schemeClr>
                </a:solidFill>
                <a:latin typeface="+mj-lt"/>
                <a:cs typeface="Arial" panose="020B0604020202020204" pitchFamily="34" charset="0"/>
              </a:rPr>
              <a:t>(</a:t>
            </a:r>
            <a:r>
              <a:rPr lang="en-GB" sz="1600" b="0" i="0" u="none" strike="noStrike" baseline="0" dirty="0" err="1">
                <a:solidFill>
                  <a:schemeClr val="tx1">
                    <a:lumMod val="50000"/>
                    <a:lumOff val="50000"/>
                  </a:schemeClr>
                </a:solidFill>
                <a:latin typeface="+mj-lt"/>
                <a:cs typeface="Arial" panose="020B0604020202020204" pitchFamily="34" charset="0"/>
              </a:rPr>
              <a:t>src</a:t>
            </a:r>
            <a:r>
              <a:rPr lang="en-GB" sz="1600" b="0" i="0" u="none" strike="noStrike" baseline="0" dirty="0">
                <a:solidFill>
                  <a:schemeClr val="tx1">
                    <a:lumMod val="50000"/>
                    <a:lumOff val="50000"/>
                  </a:schemeClr>
                </a:solidFill>
                <a:latin typeface="+mj-lt"/>
                <a:cs typeface="Arial" panose="020B0604020202020204" pitchFamily="34" charset="0"/>
              </a:rPr>
              <a:t> = port MAC address) </a:t>
            </a:r>
            <a:r>
              <a:rPr lang="en-GB" sz="1600" dirty="0">
                <a:latin typeface="+mj-lt"/>
                <a:cs typeface="Arial" panose="020B0604020202020204" pitchFamily="34" charset="0"/>
              </a:rPr>
              <a:t>.The </a:t>
            </a:r>
            <a:r>
              <a:rPr lang="en-GB" sz="1600" b="0" i="0" u="none" strike="noStrike" baseline="0" dirty="0">
                <a:latin typeface="+mj-lt"/>
                <a:cs typeface="Arial" panose="020B0604020202020204" pitchFamily="34" charset="0"/>
              </a:rPr>
              <a:t>BPDU contains:</a:t>
            </a:r>
          </a:p>
          <a:p>
            <a:pPr marL="511175" lvl="1" indent="-285750">
              <a:buFont typeface="Arial" panose="020B0604020202020204" pitchFamily="34" charset="0"/>
              <a:buChar char="•"/>
            </a:pPr>
            <a:r>
              <a:rPr lang="en-GB" sz="1600" dirty="0">
                <a:latin typeface="+mj-lt"/>
                <a:cs typeface="Arial" panose="020B0604020202020204" pitchFamily="34" charset="0"/>
              </a:rPr>
              <a:t>ID of the node “thought to be” the root (lowest switch ID received in any BPDU)</a:t>
            </a:r>
          </a:p>
          <a:p>
            <a:pPr marL="511175" lvl="1" indent="-285750">
              <a:buFont typeface="Arial" panose="020B0604020202020204" pitchFamily="34" charset="0"/>
              <a:buChar char="•"/>
            </a:pPr>
            <a:r>
              <a:rPr lang="en-GB" sz="1600" b="0" i="0" u="none" strike="noStrike" baseline="0" dirty="0">
                <a:latin typeface="+mj-lt"/>
                <a:cs typeface="Arial" panose="020B0604020202020204" pitchFamily="34" charset="0"/>
              </a:rPr>
              <a:t>Path cost (number of hops to that </a:t>
            </a:r>
            <a:r>
              <a:rPr lang="en-GB" sz="1200" b="0" i="0" u="none" strike="noStrike" baseline="0" dirty="0">
                <a:solidFill>
                  <a:schemeClr val="tx1">
                    <a:lumMod val="50000"/>
                    <a:lumOff val="50000"/>
                  </a:schemeClr>
                </a:solidFill>
                <a:latin typeface="+mj-lt"/>
                <a:cs typeface="Arial" panose="020B0604020202020204" pitchFamily="34" charset="0"/>
              </a:rPr>
              <a:t>(</a:t>
            </a:r>
            <a:r>
              <a:rPr lang="en-GB" sz="1400" b="0" i="0" u="none" strike="noStrike" baseline="0" dirty="0">
                <a:solidFill>
                  <a:schemeClr val="tx1">
                    <a:lumMod val="50000"/>
                    <a:lumOff val="50000"/>
                  </a:schemeClr>
                </a:solidFill>
                <a:latin typeface="+mj-lt"/>
                <a:cs typeface="Arial" panose="020B0604020202020204" pitchFamily="34" charset="0"/>
              </a:rPr>
              <a:t>thought of) </a:t>
            </a:r>
            <a:r>
              <a:rPr lang="en-GB" sz="1600" b="0" i="0" u="none" strike="noStrike" baseline="0" dirty="0">
                <a:latin typeface="+mj-lt"/>
                <a:cs typeface="Arial" panose="020B0604020202020204" pitchFamily="34" charset="0"/>
              </a:rPr>
              <a:t>root switch</a:t>
            </a:r>
          </a:p>
          <a:p>
            <a:pPr marL="225425" lvl="1" indent="0">
              <a:buNone/>
            </a:pPr>
            <a:endParaRPr lang="en-GB" sz="600" b="0" i="0" u="none" strike="noStrike" baseline="0" dirty="0">
              <a:latin typeface="+mj-lt"/>
              <a:cs typeface="Arial" panose="020B0604020202020204" pitchFamily="34" charset="0"/>
            </a:endParaRPr>
          </a:p>
          <a:p>
            <a:pPr marL="130175" indent="-285750">
              <a:buFont typeface="Arial" panose="020B0604020202020204" pitchFamily="34" charset="0"/>
              <a:buChar char="•"/>
            </a:pPr>
            <a:r>
              <a:rPr lang="en-GB" sz="1600" dirty="0">
                <a:latin typeface="+mj-lt"/>
                <a:cs typeface="Arial" panose="020B0604020202020204" pitchFamily="34" charset="0"/>
              </a:rPr>
              <a:t>Each s</a:t>
            </a:r>
            <a:r>
              <a:rPr lang="en-GB" sz="1600" b="0" i="0" u="none" strike="noStrike" baseline="0" dirty="0">
                <a:latin typeface="+mj-lt"/>
                <a:cs typeface="Arial" panose="020B0604020202020204" pitchFamily="34" charset="0"/>
              </a:rPr>
              <a:t>witch processes the received information to update its data:</a:t>
            </a:r>
          </a:p>
          <a:p>
            <a:pPr marL="225425" lvl="1" indent="0">
              <a:buNone/>
            </a:pPr>
            <a:r>
              <a:rPr lang="en-GB" sz="1800" dirty="0">
                <a:latin typeface="+mj-lt"/>
                <a:cs typeface="Arial" panose="020B0604020202020204" pitchFamily="34" charset="0"/>
              </a:rPr>
              <a:t>. </a:t>
            </a:r>
            <a:r>
              <a:rPr lang="en-GB" sz="1400" dirty="0">
                <a:latin typeface="+mj-lt"/>
                <a:cs typeface="Arial" panose="020B0604020202020204" pitchFamily="34" charset="0"/>
              </a:rPr>
              <a:t>Root switch </a:t>
            </a:r>
            <a:r>
              <a:rPr lang="en-GB" sz="1200" dirty="0">
                <a:latin typeface="+mj-lt"/>
                <a:cs typeface="Arial" panose="020B0604020202020204" pitchFamily="34" charset="0"/>
              </a:rPr>
              <a:t>(lower switch-ID received?)         </a:t>
            </a:r>
            <a:r>
              <a:rPr lang="en-GB" sz="1800" dirty="0">
                <a:latin typeface="+mj-lt"/>
                <a:cs typeface="Arial" panose="020B0604020202020204" pitchFamily="34" charset="0"/>
              </a:rPr>
              <a:t>. </a:t>
            </a:r>
            <a:r>
              <a:rPr lang="en-GB" sz="1400" dirty="0">
                <a:latin typeface="+mj-lt"/>
                <a:cs typeface="Arial" panose="020B0604020202020204" pitchFamily="34" charset="0"/>
              </a:rPr>
              <a:t>Shortest path to root </a:t>
            </a:r>
            <a:r>
              <a:rPr lang="en-GB" sz="1200" dirty="0">
                <a:latin typeface="+mj-lt"/>
                <a:cs typeface="Arial" panose="020B0604020202020204" pitchFamily="34" charset="0"/>
              </a:rPr>
              <a:t>(does this BPDU advertise a shorter route to the root?)</a:t>
            </a:r>
          </a:p>
          <a:p>
            <a:pPr marL="225425" lvl="1" indent="0">
              <a:buNone/>
            </a:pPr>
            <a:r>
              <a:rPr lang="en-GB" sz="1800" b="0" i="0" u="none" strike="noStrike" baseline="0" dirty="0">
                <a:latin typeface="+mj-lt"/>
                <a:cs typeface="Arial" panose="020B0604020202020204" pitchFamily="34" charset="0"/>
              </a:rPr>
              <a:t>. </a:t>
            </a:r>
            <a:r>
              <a:rPr lang="en-GB" sz="1500" b="0" i="0" u="none" strike="noStrike" baseline="0" dirty="0">
                <a:latin typeface="+mj-lt"/>
                <a:cs typeface="Arial" panose="020B0604020202020204" pitchFamily="34" charset="0"/>
              </a:rPr>
              <a:t>Tie-breaking rule 1: In case of equal paths: elect the neighbour with lower ID</a:t>
            </a:r>
          </a:p>
          <a:p>
            <a:pPr marL="225425" lvl="1" indent="0">
              <a:buNone/>
            </a:pPr>
            <a:r>
              <a:rPr lang="en-GB" sz="1800" b="0" i="0" u="none" strike="noStrike" baseline="0" dirty="0">
                <a:latin typeface="+mj-lt"/>
                <a:cs typeface="Arial" panose="020B0604020202020204" pitchFamily="34" charset="0"/>
              </a:rPr>
              <a:t>. </a:t>
            </a:r>
            <a:r>
              <a:rPr lang="en-GB" sz="1500" b="0" i="0" u="none" strike="noStrike" baseline="0" dirty="0">
                <a:latin typeface="+mj-lt"/>
                <a:cs typeface="Arial" panose="020B0604020202020204" pitchFamily="34" charset="0"/>
              </a:rPr>
              <a:t>Tie-breaking rule 2: In case of multiple links to neighbour: elect the link with lower port number</a:t>
            </a:r>
          </a:p>
          <a:p>
            <a:pPr marL="225425" lvl="1" indent="0">
              <a:buNone/>
            </a:pPr>
            <a:endParaRPr lang="en-GB" sz="1600" b="0" i="0" u="none" strike="noStrike" baseline="0" dirty="0">
              <a:latin typeface="+mj-lt"/>
              <a:cs typeface="Arial" panose="020B0604020202020204" pitchFamily="34" charset="0"/>
            </a:endParaRPr>
          </a:p>
        </p:txBody>
      </p:sp>
      <p:pic>
        <p:nvPicPr>
          <p:cNvPr id="2" name="Picture 1"/>
          <p:cNvPicPr>
            <a:picLocks noChangeAspect="1"/>
          </p:cNvPicPr>
          <p:nvPr/>
        </p:nvPicPr>
        <p:blipFill>
          <a:blip r:embed="rId2">
            <a:duotone>
              <a:prstClr val="black"/>
              <a:srgbClr val="D9C3A5">
                <a:tint val="50000"/>
                <a:satMod val="180000"/>
              </a:srgbClr>
            </a:duotone>
          </a:blip>
          <a:stretch>
            <a:fillRect/>
          </a:stretch>
        </p:blipFill>
        <p:spPr>
          <a:xfrm>
            <a:off x="6721230" y="4595448"/>
            <a:ext cx="2369870" cy="1043932"/>
          </a:xfrm>
          <a:prstGeom prst="rect">
            <a:avLst/>
          </a:prstGeom>
          <a:solidFill>
            <a:schemeClr val="bg1"/>
          </a:solidFill>
        </p:spPr>
      </p:pic>
      <p:pic>
        <p:nvPicPr>
          <p:cNvPr id="3" name="Picture 2"/>
          <p:cNvPicPr>
            <a:picLocks noChangeAspect="1"/>
          </p:cNvPicPr>
          <p:nvPr/>
        </p:nvPicPr>
        <p:blipFill>
          <a:blip r:embed="rId3">
            <a:duotone>
              <a:prstClr val="black"/>
              <a:srgbClr val="D9C3A5">
                <a:tint val="50000"/>
                <a:satMod val="180000"/>
              </a:srgbClr>
            </a:duotone>
          </a:blip>
          <a:stretch>
            <a:fillRect/>
          </a:stretch>
        </p:blipFill>
        <p:spPr>
          <a:xfrm>
            <a:off x="6758918" y="5793913"/>
            <a:ext cx="2252220" cy="1019772"/>
          </a:xfrm>
          <a:prstGeom prst="rect">
            <a:avLst/>
          </a:prstGeom>
          <a:solidFill>
            <a:schemeClr val="bg1"/>
          </a:solidFill>
        </p:spPr>
      </p:pic>
      <p:sp>
        <p:nvSpPr>
          <p:cNvPr id="7" name="TextBox 6">
            <a:extLst>
              <a:ext uri="{FF2B5EF4-FFF2-40B4-BE49-F238E27FC236}">
                <a16:creationId xmlns:a16="http://schemas.microsoft.com/office/drawing/2014/main" id="{DE438D9B-27ED-4391-A558-F31A3485D469}"/>
              </a:ext>
            </a:extLst>
          </p:cNvPr>
          <p:cNvSpPr txBox="1"/>
          <p:nvPr/>
        </p:nvSpPr>
        <p:spPr>
          <a:xfrm>
            <a:off x="7815" y="4717385"/>
            <a:ext cx="6604000" cy="2062103"/>
          </a:xfrm>
          <a:prstGeom prst="rect">
            <a:avLst/>
          </a:prstGeom>
          <a:solidFill>
            <a:srgbClr val="F5E4D0"/>
          </a:solidFill>
        </p:spPr>
        <p:txBody>
          <a:bodyPr wrap="square">
            <a:spAutoFit/>
          </a:bodyPr>
          <a:lstStyle/>
          <a:p>
            <a:pPr marL="0" marR="0" lvl="0" indent="0" algn="ctr" defTabSz="914400" rtl="0" eaLnBrk="1" fontAlgn="base" latinLnBrk="0" hangingPunct="1">
              <a:lnSpc>
                <a:spcPct val="100000"/>
              </a:lnSpc>
              <a:spcBef>
                <a:spcPct val="20000"/>
              </a:spcBef>
              <a:spcAft>
                <a:spcPct val="0"/>
              </a:spcAft>
              <a:buClr>
                <a:srgbClr val="3333CC"/>
              </a:buClr>
              <a:buSzTx/>
              <a:buFontTx/>
              <a:buNone/>
              <a:tabLst/>
              <a:defRPr/>
            </a:pPr>
            <a:r>
              <a:rPr kumimoji="0" lang="en-US" altLang="en-US" sz="1600" b="1" i="0" strike="noStrike" kern="0" cap="none" spc="0" normalizeH="0" baseline="0" noProof="0" dirty="0">
                <a:ln>
                  <a:noFill/>
                </a:ln>
                <a:solidFill>
                  <a:srgbClr val="000000"/>
                </a:solidFill>
                <a:effectLst/>
                <a:uLnTx/>
                <a:uFillTx/>
                <a:latin typeface="Times New Roman"/>
                <a:ea typeface="+mn-ea"/>
                <a:cs typeface="Arial" panose="020B0604020202020204" pitchFamily="34" charset="0"/>
              </a:rPr>
              <a:t>          </a:t>
            </a:r>
            <a:r>
              <a:rPr kumimoji="0" lang="en-US" altLang="en-US" sz="1600" b="1" i="0" u="sng" strike="noStrike" kern="0" cap="none" spc="0" normalizeH="0" baseline="0" noProof="0" dirty="0">
                <a:ln>
                  <a:noFill/>
                </a:ln>
                <a:solidFill>
                  <a:srgbClr val="000000"/>
                </a:solidFill>
                <a:effectLst/>
                <a:uLnTx/>
                <a:uFillTx/>
                <a:latin typeface="Times New Roman"/>
                <a:ea typeface="+mn-ea"/>
                <a:cs typeface="Arial" panose="020B0604020202020204" pitchFamily="34" charset="0"/>
              </a:rPr>
              <a:t>Example</a:t>
            </a:r>
            <a:r>
              <a:rPr kumimoji="0" lang="en-US" altLang="en-US" sz="1600" b="0" i="0" u="none" strike="noStrike" kern="0" cap="none" spc="0" normalizeH="0" baseline="0" noProof="0" dirty="0">
                <a:ln>
                  <a:noFill/>
                </a:ln>
                <a:solidFill>
                  <a:srgbClr val="000000"/>
                </a:solidFill>
                <a:effectLst/>
                <a:uLnTx/>
                <a:uFillTx/>
                <a:latin typeface="Times New Roman"/>
                <a:ea typeface="+mn-ea"/>
                <a:cs typeface="Arial" panose="020B0604020202020204" pitchFamily="34" charset="0"/>
              </a:rPr>
              <a:t>.</a:t>
            </a:r>
          </a:p>
          <a:p>
            <a:pPr marL="227013" marR="0" lvl="0" indent="-227013"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lowest ID =&gt; elected root is S</a:t>
            </a:r>
            <a:r>
              <a:rPr kumimoji="0" lang="en-GB" sz="1600" b="0" i="0" u="sng" strike="noStrike" kern="0" cap="none" spc="0" normalizeH="0" baseline="-25000" noProof="0" dirty="0">
                <a:ln>
                  <a:noFill/>
                </a:ln>
                <a:solidFill>
                  <a:srgbClr val="000000"/>
                </a:solidFill>
                <a:effectLst/>
                <a:uLnTx/>
                <a:uFillTx/>
                <a:latin typeface="Times New Roman"/>
                <a:cs typeface="Arial" panose="020B0604020202020204" pitchFamily="34" charset="0"/>
              </a:rPr>
              <a:t>1</a:t>
            </a:r>
          </a:p>
          <a:p>
            <a:pPr marL="227013" marR="0" lvl="0" indent="-227013"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2</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and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4</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activate their links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(shortest route to elected root)</a:t>
            </a:r>
          </a:p>
          <a:p>
            <a:pPr marL="227013" marR="0" lvl="0" indent="-227013" algn="l" defTabSz="914400" rtl="0" eaLnBrk="1" fontAlgn="base" latinLnBrk="0" hangingPunct="1">
              <a:lnSpc>
                <a:spcPct val="100000"/>
              </a:lnSpc>
              <a:spcBef>
                <a:spcPct val="20000"/>
              </a:spcBef>
              <a:spcAft>
                <a:spcPct val="0"/>
              </a:spcAft>
              <a:buClr>
                <a:srgbClr val="3333CC"/>
              </a:buClr>
              <a:buSzTx/>
              <a:buFont typeface="Arial" panose="020B0604020202020204" pitchFamily="34" charset="0"/>
              <a:buChar char="•"/>
              <a:tabLst/>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5</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has two </a:t>
            </a:r>
            <a:r>
              <a:rPr kumimoji="0" lang="en-GB" sz="1600" b="0" i="1" u="none" strike="noStrike" kern="0" cap="none" spc="0" normalizeH="0" baseline="0" noProof="0" dirty="0">
                <a:ln>
                  <a:noFill/>
                </a:ln>
                <a:solidFill>
                  <a:srgbClr val="000000"/>
                </a:solidFill>
                <a:effectLst/>
                <a:uLnTx/>
                <a:uFillTx/>
                <a:latin typeface="Times New Roman"/>
                <a:cs typeface="Arial" panose="020B0604020202020204" pitchFamily="34" charset="0"/>
              </a:rPr>
              <a:t>equal paths</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it chooses the route via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2</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(TB rule 1, lower neighbour ID)</a:t>
            </a:r>
          </a:p>
          <a:p>
            <a:pPr marL="227013" indent="-227013">
              <a:spcBef>
                <a:spcPct val="20000"/>
              </a:spcBef>
              <a:buClr>
                <a:srgbClr val="3333CC"/>
              </a:buClr>
              <a:buFont typeface="Arial" panose="020B0604020202020204" pitchFamily="34" charset="0"/>
              <a:buChar char="•"/>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3</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has shortest route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via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2</a:t>
            </a:r>
          </a:p>
          <a:p>
            <a:pPr marL="227013" indent="-227013">
              <a:spcBef>
                <a:spcPct val="20000"/>
              </a:spcBef>
              <a:buClr>
                <a:srgbClr val="3333CC"/>
              </a:buClr>
              <a:buFont typeface="Arial" panose="020B0604020202020204" pitchFamily="34" charset="0"/>
              <a:buChar char="•"/>
              <a:defRPr/>
            </a:pP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6</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has two </a:t>
            </a:r>
            <a:r>
              <a:rPr kumimoji="0" lang="en-GB" sz="1600" b="0" i="1" u="none" strike="noStrike" kern="0" cap="none" spc="0" normalizeH="0" baseline="0" noProof="0" dirty="0">
                <a:ln>
                  <a:noFill/>
                </a:ln>
                <a:solidFill>
                  <a:srgbClr val="000000"/>
                </a:solidFill>
                <a:effectLst/>
                <a:uLnTx/>
                <a:uFillTx/>
                <a:latin typeface="Times New Roman"/>
                <a:cs typeface="Arial" panose="020B0604020202020204" pitchFamily="34" charset="0"/>
              </a:rPr>
              <a:t>equal paths</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to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1</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it elects the route via S</a:t>
            </a:r>
            <a:r>
              <a:rPr kumimoji="0" lang="en-GB" sz="1600" b="0" i="0" u="none" strike="noStrike" kern="0" cap="none" spc="0" normalizeH="0" baseline="-25000" noProof="0" dirty="0">
                <a:ln>
                  <a:noFill/>
                </a:ln>
                <a:solidFill>
                  <a:srgbClr val="000000"/>
                </a:solidFill>
                <a:effectLst/>
                <a:uLnTx/>
                <a:uFillTx/>
                <a:latin typeface="Times New Roman"/>
                <a:cs typeface="Arial" panose="020B0604020202020204" pitchFamily="34" charset="0"/>
              </a:rPr>
              <a:t>3</a:t>
            </a:r>
            <a:r>
              <a:rPr kumimoji="0" lang="en-GB" sz="1600" b="0" i="0" u="none" strike="noStrike" kern="0" cap="none" spc="0" normalizeH="0" baseline="0" noProof="0" dirty="0">
                <a:ln>
                  <a:noFill/>
                </a:ln>
                <a:solidFill>
                  <a:srgbClr val="000000"/>
                </a:solidFill>
                <a:effectLst/>
                <a:uLnTx/>
                <a:uFillTx/>
                <a:latin typeface="Times New Roman"/>
                <a:cs typeface="Arial" panose="020B0604020202020204" pitchFamily="34" charset="0"/>
              </a:rPr>
              <a:t> (TB rule 1)</a:t>
            </a:r>
          </a:p>
        </p:txBody>
      </p:sp>
      <p:sp>
        <p:nvSpPr>
          <p:cNvPr id="9" name="TextBox 8">
            <a:extLst>
              <a:ext uri="{FF2B5EF4-FFF2-40B4-BE49-F238E27FC236}">
                <a16:creationId xmlns:a16="http://schemas.microsoft.com/office/drawing/2014/main" id="{30E9D978-FA92-4C81-A2E7-B2C13222E7F7}"/>
              </a:ext>
            </a:extLst>
          </p:cNvPr>
          <p:cNvSpPr txBox="1"/>
          <p:nvPr/>
        </p:nvSpPr>
        <p:spPr>
          <a:xfrm>
            <a:off x="7242048" y="6132185"/>
            <a:ext cx="1289304" cy="307777"/>
          </a:xfrm>
          <a:prstGeom prst="rect">
            <a:avLst/>
          </a:prstGeom>
          <a:noFill/>
        </p:spPr>
        <p:txBody>
          <a:bodyPr wrap="square">
            <a:spAutoFit/>
          </a:bodyPr>
          <a:lstStyle/>
          <a:p>
            <a:r>
              <a:rPr lang="en-GB" sz="1400" kern="0" dirty="0">
                <a:solidFill>
                  <a:schemeClr val="bg1">
                    <a:lumMod val="65000"/>
                  </a:schemeClr>
                </a:solidFill>
                <a:latin typeface="Times New Roman"/>
                <a:cs typeface="Arial" panose="020B0604020202020204" pitchFamily="34" charset="0"/>
              </a:rPr>
              <a:t>Spanning Tree</a:t>
            </a:r>
            <a:endParaRPr lang="en-US" sz="1600" dirty="0">
              <a:solidFill>
                <a:schemeClr val="bg1">
                  <a:lumMod val="65000"/>
                </a:schemeClr>
              </a:solidFill>
            </a:endParaRPr>
          </a:p>
        </p:txBody>
      </p:sp>
    </p:spTree>
    <p:extLst>
      <p:ext uri="{BB962C8B-B14F-4D97-AF65-F5344CB8AC3E}">
        <p14:creationId xmlns:p14="http://schemas.microsoft.com/office/powerpoint/2010/main" val="428676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wipe(left)">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651">
                                            <p:txEl>
                                              <p:pRg st="2" end="2"/>
                                            </p:txEl>
                                          </p:spTgt>
                                        </p:tgtEl>
                                        <p:attrNameLst>
                                          <p:attrName>style.visibility</p:attrName>
                                        </p:attrNameLst>
                                      </p:cBhvr>
                                      <p:to>
                                        <p:strVal val="visible"/>
                                      </p:to>
                                    </p:set>
                                    <p:animEffect transition="in" filter="wipe(left)">
                                      <p:cBhvr>
                                        <p:cTn id="12" dur="500"/>
                                        <p:tgtEl>
                                          <p:spTgt spid="276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animEffect transition="in" filter="wipe(left)">
                                      <p:cBhvr>
                                        <p:cTn id="17" dur="500"/>
                                        <p:tgtEl>
                                          <p:spTgt spid="27651">
                                            <p:txEl>
                                              <p:pRg st="3" end="3"/>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7651">
                                            <p:txEl>
                                              <p:pRg st="4" end="4"/>
                                            </p:txEl>
                                          </p:spTgt>
                                        </p:tgtEl>
                                        <p:attrNameLst>
                                          <p:attrName>style.visibility</p:attrName>
                                        </p:attrNameLst>
                                      </p:cBhvr>
                                      <p:to>
                                        <p:strVal val="visible"/>
                                      </p:to>
                                    </p:set>
                                    <p:animEffect transition="in" filter="wipe(left)">
                                      <p:cBhvr>
                                        <p:cTn id="20" dur="500"/>
                                        <p:tgtEl>
                                          <p:spTgt spid="27651">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7651">
                                            <p:txEl>
                                              <p:pRg st="5" end="5"/>
                                            </p:txEl>
                                          </p:spTgt>
                                        </p:tgtEl>
                                        <p:attrNameLst>
                                          <p:attrName>style.visibility</p:attrName>
                                        </p:attrNameLst>
                                      </p:cBhvr>
                                      <p:to>
                                        <p:strVal val="visible"/>
                                      </p:to>
                                    </p:set>
                                    <p:animEffect transition="in" filter="wipe(left)">
                                      <p:cBhvr>
                                        <p:cTn id="23" dur="500"/>
                                        <p:tgtEl>
                                          <p:spTgt spid="27651">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651">
                                            <p:txEl>
                                              <p:pRg st="7" end="7"/>
                                            </p:txEl>
                                          </p:spTgt>
                                        </p:tgtEl>
                                        <p:attrNameLst>
                                          <p:attrName>style.visibility</p:attrName>
                                        </p:attrNameLst>
                                      </p:cBhvr>
                                      <p:to>
                                        <p:strVal val="visible"/>
                                      </p:to>
                                    </p:set>
                                    <p:animEffect transition="in" filter="wipe(left)">
                                      <p:cBhvr>
                                        <p:cTn id="28" dur="500"/>
                                        <p:tgtEl>
                                          <p:spTgt spid="27651">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27651">
                                            <p:txEl>
                                              <p:pRg st="8" end="8"/>
                                            </p:txEl>
                                          </p:spTgt>
                                        </p:tgtEl>
                                        <p:attrNameLst>
                                          <p:attrName>style.visibility</p:attrName>
                                        </p:attrNameLst>
                                      </p:cBhvr>
                                      <p:to>
                                        <p:strVal val="visible"/>
                                      </p:to>
                                    </p:set>
                                    <p:animEffect transition="in" filter="wipe(left)">
                                      <p:cBhvr>
                                        <p:cTn id="31" dur="500"/>
                                        <p:tgtEl>
                                          <p:spTgt spid="27651">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7651">
                                            <p:txEl>
                                              <p:pRg st="9" end="9"/>
                                            </p:txEl>
                                          </p:spTgt>
                                        </p:tgtEl>
                                        <p:attrNameLst>
                                          <p:attrName>style.visibility</p:attrName>
                                        </p:attrNameLst>
                                      </p:cBhvr>
                                      <p:to>
                                        <p:strVal val="visible"/>
                                      </p:to>
                                    </p:set>
                                    <p:animEffect transition="in" filter="wipe(left)">
                                      <p:cBhvr>
                                        <p:cTn id="34" dur="500"/>
                                        <p:tgtEl>
                                          <p:spTgt spid="27651">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7651">
                                            <p:txEl>
                                              <p:pRg st="10" end="10"/>
                                            </p:txEl>
                                          </p:spTgt>
                                        </p:tgtEl>
                                        <p:attrNameLst>
                                          <p:attrName>style.visibility</p:attrName>
                                        </p:attrNameLst>
                                      </p:cBhvr>
                                      <p:to>
                                        <p:strVal val="visible"/>
                                      </p:to>
                                    </p:set>
                                    <p:animEffect transition="in" filter="wipe(left)">
                                      <p:cBhvr>
                                        <p:cTn id="37" dur="500"/>
                                        <p:tgtEl>
                                          <p:spTgt spid="27651">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up)">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VLAN</a:t>
            </a:r>
          </a:p>
        </p:txBody>
      </p:sp>
      <p:sp>
        <p:nvSpPr>
          <p:cNvPr id="27651" name="Rectangle 3"/>
          <p:cNvSpPr>
            <a:spLocks noGrp="1" noChangeArrowheads="1"/>
          </p:cNvSpPr>
          <p:nvPr>
            <p:ph type="body" idx="1"/>
          </p:nvPr>
        </p:nvSpPr>
        <p:spPr>
          <a:xfrm>
            <a:off x="0" y="529390"/>
            <a:ext cx="9144000" cy="3801978"/>
          </a:xfrm>
        </p:spPr>
        <p:txBody>
          <a:bodyPr/>
          <a:lstStyle/>
          <a:p>
            <a:pPr marL="168275" indent="-168275" eaLnBrk="1" hangingPunct="1">
              <a:buFont typeface="Arial" panose="020B0604020202020204" pitchFamily="34" charset="0"/>
              <a:buChar char="•"/>
            </a:pPr>
            <a:r>
              <a:rPr lang="en-US" altLang="en-US" sz="1800" dirty="0">
                <a:latin typeface="+mj-lt"/>
                <a:cs typeface="Arial" panose="020B0604020202020204" pitchFamily="34" charset="0"/>
              </a:rPr>
              <a:t>Technology to split a single physical LAN into separate logical LANs. Goals:</a:t>
            </a:r>
          </a:p>
          <a:p>
            <a:pPr marL="401638" lvl="1" indent="-168275" eaLnBrk="1" hangingPunct="1">
              <a:buFont typeface="Arial" panose="020B0604020202020204" pitchFamily="34" charset="0"/>
              <a:buChar char="•"/>
            </a:pPr>
            <a:r>
              <a:rPr lang="en-US" altLang="en-US" sz="1800" dirty="0">
                <a:latin typeface="+mj-lt"/>
                <a:cs typeface="Arial" panose="020B0604020202020204" pitchFamily="34" charset="0"/>
              </a:rPr>
              <a:t>Separate/secure different departments, giving each its own LAN</a:t>
            </a:r>
          </a:p>
          <a:p>
            <a:pPr marL="401638" lvl="1" indent="-168275" eaLnBrk="1" hangingPunct="1">
              <a:buFont typeface="Arial" panose="020B0604020202020204" pitchFamily="34" charset="0"/>
              <a:buChar char="•"/>
            </a:pPr>
            <a:r>
              <a:rPr lang="en-US" altLang="en-US" sz="1800" dirty="0">
                <a:latin typeface="+mj-lt"/>
                <a:cs typeface="Arial" panose="020B0604020202020204" pitchFamily="34" charset="0"/>
              </a:rPr>
              <a:t>Do this separation independently of the wiring. Cables plug in any switch/port. Network admin configures the VLANs administratively (coloring).</a:t>
            </a:r>
          </a:p>
          <a:p>
            <a:pPr marL="168275" lvl="0" indent="-168275" eaLnBrk="1" hangingPunct="1">
              <a:buClr>
                <a:srgbClr val="3333CC"/>
              </a:buClr>
              <a:buFont typeface="Arial" panose="020B0604020202020204" pitchFamily="34" charset="0"/>
              <a:buChar char="•"/>
            </a:pPr>
            <a:r>
              <a:rPr lang="en-US" altLang="en-US" sz="1800" dirty="0">
                <a:solidFill>
                  <a:srgbClr val="000000"/>
                </a:solidFill>
                <a:latin typeface="+mj-lt"/>
                <a:cs typeface="Arial" panose="020B0604020202020204" pitchFamily="34" charset="0"/>
              </a:rPr>
              <a:t>Each VLAN is a different subnet; traffic between VLANs goes through router. However, a l”ayer3 Switch” is switch that does this routing internally (examining the IP packet).</a:t>
            </a:r>
          </a:p>
          <a:p>
            <a:pPr marL="168275" lvl="0" indent="-168275" eaLnBrk="1" hangingPunct="1">
              <a:buClr>
                <a:srgbClr val="3333CC"/>
              </a:buClr>
              <a:buFont typeface="Arial" panose="020B0604020202020204" pitchFamily="34" charset="0"/>
              <a:buChar char="•"/>
            </a:pPr>
            <a:r>
              <a:rPr lang="en-US" altLang="en-US" sz="1800" dirty="0">
                <a:solidFill>
                  <a:srgbClr val="000000"/>
                </a:solidFill>
                <a:latin typeface="+mj-lt"/>
                <a:cs typeface="Arial" panose="020B0604020202020204" pitchFamily="34" charset="0"/>
              </a:rPr>
              <a:t>In addition to security, VLAN improves performance by splitting broadcast domains. broadcasts (</a:t>
            </a:r>
            <a:r>
              <a:rPr lang="en-US" altLang="en-US" sz="1800" dirty="0" err="1">
                <a:solidFill>
                  <a:srgbClr val="000000"/>
                </a:solidFill>
                <a:latin typeface="+mj-lt"/>
                <a:cs typeface="Arial" panose="020B0604020202020204" pitchFamily="34" charset="0"/>
              </a:rPr>
              <a:t>ie</a:t>
            </a:r>
            <a:r>
              <a:rPr lang="en-US" altLang="en-US" sz="1800" dirty="0">
                <a:solidFill>
                  <a:srgbClr val="000000"/>
                </a:solidFill>
                <a:latin typeface="+mj-lt"/>
                <a:cs typeface="Arial" panose="020B0604020202020204" pitchFamily="34" charset="0"/>
              </a:rPr>
              <a:t>. ARP) are limited to the VLAN (subnet), not the whole LAN.</a:t>
            </a:r>
          </a:p>
          <a:p>
            <a:pPr marL="168275" lvl="0" indent="-168275" eaLnBrk="1" hangingPunct="1">
              <a:buClr>
                <a:srgbClr val="3333CC"/>
              </a:buClr>
              <a:buFont typeface="Arial" panose="020B0604020202020204" pitchFamily="34" charset="0"/>
              <a:buChar char="•"/>
            </a:pPr>
            <a:endParaRPr lang="en-US" altLang="en-US" sz="1800" dirty="0">
              <a:solidFill>
                <a:srgbClr val="000000"/>
              </a:solidFill>
              <a:latin typeface="+mj-lt"/>
              <a:cs typeface="Arial" panose="020B0604020202020204" pitchFamily="34" charset="0"/>
            </a:endParaRPr>
          </a:p>
          <a:p>
            <a:pPr marL="168275" lvl="0" indent="-168275" eaLnBrk="1" hangingPunct="1">
              <a:buClr>
                <a:srgbClr val="3333CC"/>
              </a:buClr>
              <a:buFont typeface="Arial" panose="020B0604020202020204" pitchFamily="34" charset="0"/>
              <a:buChar char="•"/>
            </a:pPr>
            <a:r>
              <a:rPr lang="en-US" altLang="en-US" sz="1800" dirty="0">
                <a:solidFill>
                  <a:srgbClr val="000000"/>
                </a:solidFill>
                <a:latin typeface="+mj-lt"/>
                <a:cs typeface="Arial" panose="020B0604020202020204" pitchFamily="34" charset="0"/>
              </a:rPr>
              <a:t>802.1Q adds a VLAN TAG field to identify the VLAN to which the frame belongs. Each tag is like a color. Switch ports connected to end hosts are configured with one color. Traffic between switches might carry many colors as necessary.</a:t>
            </a:r>
          </a:p>
        </p:txBody>
      </p:sp>
      <p:pic>
        <p:nvPicPr>
          <p:cNvPr id="4" name="Picture 3"/>
          <p:cNvPicPr>
            <a:picLocks noChangeAspect="1"/>
          </p:cNvPicPr>
          <p:nvPr/>
        </p:nvPicPr>
        <p:blipFill>
          <a:blip r:embed="rId2"/>
          <a:stretch>
            <a:fillRect/>
          </a:stretch>
        </p:blipFill>
        <p:spPr>
          <a:xfrm>
            <a:off x="1395664" y="4485638"/>
            <a:ext cx="6531732" cy="2195898"/>
          </a:xfrm>
          <a:prstGeom prst="rect">
            <a:avLst/>
          </a:prstGeom>
        </p:spPr>
      </p:pic>
    </p:spTree>
    <p:extLst>
      <p:ext uri="{BB962C8B-B14F-4D97-AF65-F5344CB8AC3E}">
        <p14:creationId xmlns:p14="http://schemas.microsoft.com/office/powerpoint/2010/main" val="178994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Other LAN technologies</a:t>
            </a:r>
          </a:p>
        </p:txBody>
      </p:sp>
      <p:sp>
        <p:nvSpPr>
          <p:cNvPr id="27651" name="Rectangle 3"/>
          <p:cNvSpPr>
            <a:spLocks noGrp="1" noChangeArrowheads="1"/>
          </p:cNvSpPr>
          <p:nvPr>
            <p:ph type="body" idx="1"/>
          </p:nvPr>
        </p:nvSpPr>
        <p:spPr>
          <a:xfrm>
            <a:off x="-1" y="529390"/>
            <a:ext cx="4154906" cy="2438399"/>
          </a:xfrm>
        </p:spPr>
        <p:txBody>
          <a:bodyPr/>
          <a:lstStyle/>
          <a:p>
            <a:pPr marL="0" indent="0" eaLnBrk="1" hangingPunct="1">
              <a:buNone/>
            </a:pPr>
            <a:r>
              <a:rPr lang="en-US" altLang="en-US" sz="1600" b="1" u="sng" dirty="0">
                <a:latin typeface="Arial" panose="020B0604020202020204" pitchFamily="34" charset="0"/>
                <a:cs typeface="Arial" panose="020B0604020202020204" pitchFamily="34" charset="0"/>
              </a:rPr>
              <a:t>VPN</a:t>
            </a:r>
            <a:r>
              <a:rPr lang="en-US" altLang="en-US" sz="1600" dirty="0">
                <a:latin typeface="Arial" panose="020B0604020202020204" pitchFamily="34" charset="0"/>
                <a:cs typeface="Arial" panose="020B0604020202020204" pitchFamily="34" charset="0"/>
              </a:rPr>
              <a:t>. Virtual NIC (blue) assigned a (private) IP belonging to site A’s subnet . Packet is encapsulated inside another packet (aka </a:t>
            </a:r>
            <a:r>
              <a:rPr lang="en-US" altLang="en-US" sz="1600" b="1" dirty="0">
                <a:solidFill>
                  <a:srgbClr val="0070C0"/>
                </a:solidFill>
                <a:latin typeface="Arial" panose="020B0604020202020204" pitchFamily="34" charset="0"/>
                <a:cs typeface="Arial" panose="020B0604020202020204" pitchFamily="34" charset="0"/>
              </a:rPr>
              <a:t>tunneling</a:t>
            </a:r>
            <a:r>
              <a:rPr lang="en-US" altLang="en-US" sz="1600" dirty="0">
                <a:latin typeface="Arial" panose="020B0604020202020204" pitchFamily="34" charset="0"/>
                <a:cs typeface="Arial" panose="020B0604020202020204" pitchFamily="34" charset="0"/>
              </a:rPr>
              <a:t>) which is sent via internet to VPN server, which forwards the internal packet to destination in site A.</a:t>
            </a:r>
          </a:p>
          <a:p>
            <a:pPr marL="0" indent="0" eaLnBrk="1" hangingPunct="1">
              <a:buNone/>
            </a:pPr>
            <a:endParaRPr lang="en-US" altLang="en-US" sz="1600" dirty="0">
              <a:solidFill>
                <a:srgbClr val="000000"/>
              </a:solidFill>
              <a:latin typeface="Arial" panose="020B0604020202020204" pitchFamily="34" charset="0"/>
              <a:cs typeface="Arial" panose="020B0604020202020204" pitchFamily="34" charset="0"/>
            </a:endParaRPr>
          </a:p>
          <a:p>
            <a:pPr marL="0" indent="0" eaLnBrk="1" hangingPunct="1">
              <a:buNone/>
            </a:pPr>
            <a:r>
              <a:rPr lang="en-US" altLang="en-US" sz="1600" dirty="0">
                <a:solidFill>
                  <a:srgbClr val="000000"/>
                </a:solidFill>
                <a:latin typeface="Arial" panose="020B0604020202020204" pitchFamily="34" charset="0"/>
                <a:cs typeface="Arial" panose="020B0604020202020204" pitchFamily="34" charset="0"/>
              </a:rPr>
              <a:t>Corporate VPNs similar, we might have an office LAN instead of a single user at home.</a:t>
            </a:r>
          </a:p>
        </p:txBody>
      </p:sp>
      <p:pic>
        <p:nvPicPr>
          <p:cNvPr id="5" name="Picture 4"/>
          <p:cNvPicPr>
            <a:picLocks noChangeAspect="1"/>
          </p:cNvPicPr>
          <p:nvPr/>
        </p:nvPicPr>
        <p:blipFill>
          <a:blip r:embed="rId2"/>
          <a:stretch>
            <a:fillRect/>
          </a:stretch>
        </p:blipFill>
        <p:spPr>
          <a:xfrm>
            <a:off x="4186990" y="490538"/>
            <a:ext cx="4957010" cy="2541420"/>
          </a:xfrm>
          <a:prstGeom prst="rect">
            <a:avLst/>
          </a:prstGeom>
        </p:spPr>
      </p:pic>
      <p:sp>
        <p:nvSpPr>
          <p:cNvPr id="6" name="Rectangle 5"/>
          <p:cNvSpPr/>
          <p:nvPr/>
        </p:nvSpPr>
        <p:spPr>
          <a:xfrm>
            <a:off x="0" y="4976227"/>
            <a:ext cx="6994357" cy="1421928"/>
          </a:xfrm>
          <a:prstGeom prst="rect">
            <a:avLst/>
          </a:prstGeom>
        </p:spPr>
        <p:txBody>
          <a:bodyPr wrap="square">
            <a:spAutoFit/>
          </a:bodyPr>
          <a:lstStyle/>
          <a:p>
            <a:pPr lvl="0">
              <a:spcBef>
                <a:spcPct val="20000"/>
              </a:spcBef>
              <a:buClr>
                <a:srgbClr val="3333CC"/>
              </a:buClr>
            </a:pPr>
            <a:r>
              <a:rPr lang="en-US" altLang="en-US" sz="1600" b="1" u="sng" kern="0" dirty="0">
                <a:solidFill>
                  <a:srgbClr val="000000"/>
                </a:solidFill>
                <a:latin typeface="Arial" panose="020B0604020202020204" pitchFamily="34" charset="0"/>
                <a:cs typeface="Arial" panose="020B0604020202020204" pitchFamily="34" charset="0"/>
              </a:rPr>
              <a:t>Carrier Ethernet</a:t>
            </a:r>
            <a:r>
              <a:rPr lang="en-US" altLang="en-US" sz="1600" kern="0" dirty="0">
                <a:solidFill>
                  <a:srgbClr val="000000"/>
                </a:solidFill>
                <a:latin typeface="Arial" panose="020B0604020202020204" pitchFamily="34" charset="0"/>
                <a:cs typeface="Arial" panose="020B0604020202020204" pitchFamily="34" charset="0"/>
              </a:rPr>
              <a:t>. Leased point-to-point line that carries Ethernet frames, over any carrier technology. </a:t>
            </a:r>
            <a:r>
              <a:rPr lang="en-US" altLang="en-US" sz="1400" kern="0" dirty="0">
                <a:solidFill>
                  <a:schemeClr val="bg1">
                    <a:lumMod val="65000"/>
                  </a:schemeClr>
                </a:solidFill>
                <a:latin typeface="Arial" panose="020B0604020202020204" pitchFamily="34" charset="0"/>
                <a:cs typeface="Arial" panose="020B0604020202020204" pitchFamily="34" charset="0"/>
              </a:rPr>
              <a:t>(see also DSL).</a:t>
            </a:r>
          </a:p>
          <a:p>
            <a:pPr lvl="0">
              <a:spcBef>
                <a:spcPct val="20000"/>
              </a:spcBef>
              <a:buClr>
                <a:srgbClr val="3333CC"/>
              </a:buClr>
            </a:pPr>
            <a:endParaRPr lang="en-US" altLang="en-US" sz="1600" kern="0" dirty="0">
              <a:solidFill>
                <a:srgbClr val="000000"/>
              </a:solidFill>
              <a:latin typeface="Arial" panose="020B0604020202020204" pitchFamily="34" charset="0"/>
              <a:cs typeface="Arial" panose="020B0604020202020204" pitchFamily="34" charset="0"/>
            </a:endParaRPr>
          </a:p>
          <a:p>
            <a:pPr>
              <a:spcBef>
                <a:spcPct val="20000"/>
              </a:spcBef>
              <a:buClr>
                <a:srgbClr val="3333CC"/>
              </a:buClr>
            </a:pPr>
            <a:r>
              <a:rPr lang="en-US" altLang="en-US" sz="1600" b="1" u="sng" kern="0" dirty="0">
                <a:solidFill>
                  <a:srgbClr val="000000"/>
                </a:solidFill>
                <a:latin typeface="Arial" panose="020B0604020202020204" pitchFamily="34" charset="0"/>
                <a:cs typeface="Arial" panose="020B0604020202020204" pitchFamily="34" charset="0"/>
              </a:rPr>
              <a:t>Token Ring &amp; Token Bus</a:t>
            </a:r>
            <a:r>
              <a:rPr lang="en-US" altLang="en-US" sz="1600" kern="0" dirty="0">
                <a:solidFill>
                  <a:srgbClr val="000000"/>
                </a:solidFill>
                <a:latin typeface="Arial" panose="020B0604020202020204" pitchFamily="34" charset="0"/>
                <a:cs typeface="Arial" panose="020B0604020202020204" pitchFamily="34" charset="0"/>
              </a:rPr>
              <a:t>. A “token” (special packet) is passed in circular way to the hosts to gibe them turn to transmit. Good for optical fiber nets.</a:t>
            </a:r>
          </a:p>
        </p:txBody>
      </p:sp>
      <p:pic>
        <p:nvPicPr>
          <p:cNvPr id="7" name="Picture 6"/>
          <p:cNvPicPr>
            <a:picLocks noChangeAspect="1"/>
          </p:cNvPicPr>
          <p:nvPr/>
        </p:nvPicPr>
        <p:blipFill>
          <a:blip r:embed="rId3"/>
          <a:stretch>
            <a:fillRect/>
          </a:stretch>
        </p:blipFill>
        <p:spPr>
          <a:xfrm>
            <a:off x="7234989" y="4647099"/>
            <a:ext cx="1909011" cy="1558694"/>
          </a:xfrm>
          <a:prstGeom prst="rect">
            <a:avLst/>
          </a:prstGeom>
        </p:spPr>
      </p:pic>
      <p:sp>
        <p:nvSpPr>
          <p:cNvPr id="8" name="Rectangle 7"/>
          <p:cNvSpPr/>
          <p:nvPr/>
        </p:nvSpPr>
        <p:spPr>
          <a:xfrm>
            <a:off x="7202905" y="6180040"/>
            <a:ext cx="1828799" cy="523220"/>
          </a:xfrm>
          <a:prstGeom prst="rect">
            <a:avLst/>
          </a:prstGeom>
        </p:spPr>
        <p:txBody>
          <a:bodyPr wrap="square">
            <a:spAutoFit/>
          </a:bodyPr>
          <a:lstStyle/>
          <a:p>
            <a:r>
              <a:rPr lang="en-US" altLang="en-US" sz="1400" kern="0" dirty="0">
                <a:solidFill>
                  <a:srgbClr val="000000"/>
                </a:solidFill>
                <a:latin typeface="Arial" panose="020B0604020202020204" pitchFamily="34" charset="0"/>
                <a:cs typeface="Arial" panose="020B0604020202020204" pitchFamily="34" charset="0"/>
              </a:rPr>
              <a:t>Token Ring good for optical nets, </a:t>
            </a:r>
            <a:r>
              <a:rPr lang="en-US" altLang="en-US" sz="1400" kern="0" dirty="0" err="1">
                <a:solidFill>
                  <a:srgbClr val="000000"/>
                </a:solidFill>
                <a:latin typeface="Arial" panose="020B0604020202020204" pitchFamily="34" charset="0"/>
                <a:cs typeface="Arial" panose="020B0604020202020204" pitchFamily="34" charset="0"/>
              </a:rPr>
              <a:t>ie</a:t>
            </a:r>
            <a:r>
              <a:rPr lang="en-US" altLang="en-US" sz="1400" kern="0" dirty="0">
                <a:solidFill>
                  <a:srgbClr val="000000"/>
                </a:solidFill>
                <a:latin typeface="Arial" panose="020B0604020202020204" pitchFamily="34" charset="0"/>
                <a:cs typeface="Arial" panose="020B0604020202020204" pitchFamily="34" charset="0"/>
              </a:rPr>
              <a:t> FDDI </a:t>
            </a:r>
            <a:endParaRPr lang="en-US" sz="1400" dirty="0"/>
          </a:p>
        </p:txBody>
      </p:sp>
      <p:sp>
        <p:nvSpPr>
          <p:cNvPr id="10" name="Rectangle 9"/>
          <p:cNvSpPr/>
          <p:nvPr/>
        </p:nvSpPr>
        <p:spPr>
          <a:xfrm>
            <a:off x="-1" y="3264950"/>
            <a:ext cx="9144001" cy="1126462"/>
          </a:xfrm>
          <a:prstGeom prst="rect">
            <a:avLst/>
          </a:prstGeom>
        </p:spPr>
        <p:txBody>
          <a:bodyPr wrap="square">
            <a:spAutoFit/>
          </a:bodyPr>
          <a:lstStyle/>
          <a:p>
            <a:pPr lvl="0">
              <a:spcBef>
                <a:spcPct val="20000"/>
              </a:spcBef>
              <a:buClr>
                <a:srgbClr val="3333CC"/>
              </a:buClr>
            </a:pPr>
            <a:r>
              <a:rPr lang="en-US" altLang="en-US" sz="1600" kern="0" dirty="0">
                <a:solidFill>
                  <a:srgbClr val="000000"/>
                </a:solidFill>
                <a:latin typeface="Arial" panose="020B0604020202020204" pitchFamily="34" charset="0"/>
                <a:cs typeface="Arial" panose="020B0604020202020204" pitchFamily="34" charset="0"/>
              </a:rPr>
              <a:t>Encryption of the encapsulated packets permits the “privacy” and authenticity on the private net.</a:t>
            </a:r>
          </a:p>
          <a:p>
            <a:pPr lvl="0">
              <a:spcBef>
                <a:spcPct val="20000"/>
              </a:spcBef>
              <a:buClr>
                <a:srgbClr val="3333CC"/>
              </a:buClr>
            </a:pPr>
            <a:r>
              <a:rPr lang="en-US" altLang="en-US" sz="1600" kern="0" dirty="0">
                <a:solidFill>
                  <a:schemeClr val="bg1">
                    <a:lumMod val="50000"/>
                  </a:schemeClr>
                </a:solidFill>
                <a:latin typeface="Arial" panose="020B0604020202020204" pitchFamily="34" charset="0"/>
                <a:cs typeface="Arial" panose="020B0604020202020204" pitchFamily="34" charset="0"/>
              </a:rPr>
              <a:t>When you use the VPN to connect to a website, your (original) packets are sent toward an Internet router on private site A. The internet router “NAT”s your (original) packets and forwards them to the website. For any firewall between you and the VPN server, the destination website is invisible.</a:t>
            </a:r>
          </a:p>
        </p:txBody>
      </p:sp>
    </p:spTree>
    <p:extLst>
      <p:ext uri="{BB962C8B-B14F-4D97-AF65-F5344CB8AC3E}">
        <p14:creationId xmlns:p14="http://schemas.microsoft.com/office/powerpoint/2010/main" val="2919702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Virtual Circuit Networks, including ATM</a:t>
            </a:r>
          </a:p>
        </p:txBody>
      </p:sp>
      <p:sp>
        <p:nvSpPr>
          <p:cNvPr id="27651" name="Rectangle 3"/>
          <p:cNvSpPr>
            <a:spLocks noGrp="1" noChangeArrowheads="1"/>
          </p:cNvSpPr>
          <p:nvPr>
            <p:ph type="body" idx="1"/>
          </p:nvPr>
        </p:nvSpPr>
        <p:spPr>
          <a:xfrm>
            <a:off x="0" y="2983831"/>
            <a:ext cx="9144000" cy="3713748"/>
          </a:xfrm>
        </p:spPr>
        <p:txBody>
          <a:bodyPr/>
          <a:lstStyle/>
          <a:p>
            <a:pPr marL="176213" indent="-176213" eaLnBrk="1" hangingPunct="1">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VC (Path) established before communication takes place between endpoints. All packet for a VC follow the same path =&gt; arrive in order, unlike datagram forwarding (</a:t>
            </a:r>
            <a:r>
              <a:rPr lang="en-US" altLang="en-US" sz="1600" dirty="0" err="1">
                <a:latin typeface="Arial" panose="020B0604020202020204" pitchFamily="34" charset="0"/>
                <a:cs typeface="Arial" panose="020B0604020202020204" pitchFamily="34" charset="0"/>
              </a:rPr>
              <a:t>ie</a:t>
            </a:r>
            <a:r>
              <a:rPr lang="en-US" altLang="en-US" sz="1600" dirty="0">
                <a:latin typeface="Arial" panose="020B0604020202020204" pitchFamily="34" charset="0"/>
                <a:cs typeface="Arial" panose="020B0604020202020204" pitchFamily="34" charset="0"/>
              </a:rPr>
              <a:t> Internet).</a:t>
            </a:r>
          </a:p>
          <a:p>
            <a:pPr marL="176213" indent="-176213" eaLnBrk="1" hangingPunct="1">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VC is not physical circuit switching it’s packet switching but circuits are virtual.</a:t>
            </a:r>
          </a:p>
          <a:p>
            <a:pPr marL="176213" indent="-176213" eaLnBrk="1" hangingPunct="1">
              <a:buFont typeface="Arial" panose="020B0604020202020204" pitchFamily="34" charset="0"/>
              <a:buChar char="•"/>
            </a:pPr>
            <a:r>
              <a:rPr lang="en-US" altLang="en-US" sz="1600" dirty="0">
                <a:latin typeface="Arial" panose="020B0604020202020204" pitchFamily="34" charset="0"/>
                <a:cs typeface="Arial" panose="020B0604020202020204" pitchFamily="34" charset="0"/>
              </a:rPr>
              <a:t>Example technologies: ATM, Frame Relay, X.25.</a:t>
            </a:r>
          </a:p>
          <a:p>
            <a:pPr marL="176213" indent="-176213" eaLnBrk="1" hangingPunct="1">
              <a:buFont typeface="Arial" panose="020B0604020202020204" pitchFamily="34" charset="0"/>
              <a:buChar char="•"/>
            </a:pPr>
            <a:endParaRPr lang="en-US" altLang="en-US" sz="1600" dirty="0">
              <a:latin typeface="Arial" panose="020B0604020202020204" pitchFamily="34" charset="0"/>
              <a:cs typeface="Arial" panose="020B0604020202020204" pitchFamily="34" charset="0"/>
            </a:endParaRP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Permits QOS guarantees, switches can reserve capacity when connection negotiated</a:t>
            </a: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Faster switching, based on VC numbers, and routing table not consulted for each packet</a:t>
            </a: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Small Headers allow efficient support of small packets (</a:t>
            </a:r>
            <a:r>
              <a:rPr lang="en-US" altLang="en-US" sz="1600" dirty="0" err="1">
                <a:solidFill>
                  <a:schemeClr val="accent1">
                    <a:lumMod val="50000"/>
                  </a:schemeClr>
                </a:solidFill>
                <a:latin typeface="Arial" panose="020B0604020202020204" pitchFamily="34" charset="0"/>
                <a:cs typeface="Arial" panose="020B0604020202020204" pitchFamily="34" charset="0"/>
              </a:rPr>
              <a:t>ie</a:t>
            </a:r>
            <a:r>
              <a:rPr lang="en-US" altLang="en-US" sz="1600" dirty="0">
                <a:solidFill>
                  <a:schemeClr val="accent1">
                    <a:lumMod val="50000"/>
                  </a:schemeClr>
                </a:solidFill>
                <a:latin typeface="Arial" panose="020B0604020202020204" pitchFamily="34" charset="0"/>
                <a:cs typeface="Arial" panose="020B0604020202020204" pitchFamily="34" charset="0"/>
              </a:rPr>
              <a:t> </a:t>
            </a:r>
            <a:r>
              <a:rPr lang="en-US" altLang="en-US" sz="1600" b="1" dirty="0">
                <a:solidFill>
                  <a:schemeClr val="accent1">
                    <a:lumMod val="50000"/>
                  </a:schemeClr>
                </a:solidFill>
                <a:latin typeface="Arial" panose="020B0604020202020204" pitchFamily="34" charset="0"/>
                <a:cs typeface="Arial" panose="020B0604020202020204" pitchFamily="34" charset="0"/>
              </a:rPr>
              <a:t>ATM cells are 48B</a:t>
            </a:r>
            <a:r>
              <a:rPr lang="en-US" altLang="en-US" sz="1600" dirty="0">
                <a:solidFill>
                  <a:schemeClr val="accent1">
                    <a:lumMod val="50000"/>
                  </a:schemeClr>
                </a:solidFill>
                <a:latin typeface="Arial" panose="020B0604020202020204" pitchFamily="34" charset="0"/>
                <a:cs typeface="Arial" panose="020B0604020202020204" pitchFamily="34" charset="0"/>
              </a:rPr>
              <a:t>), good for voice.</a:t>
            </a:r>
          </a:p>
          <a:p>
            <a:pPr marL="176213" indent="-176213" eaLnBrk="1" hangingPunct="1">
              <a:buFont typeface="Arial" panose="020B0604020202020204" pitchFamily="34" charset="0"/>
              <a:buChar char="•"/>
            </a:pPr>
            <a:r>
              <a:rPr lang="en-US" altLang="en-US" sz="1600" dirty="0">
                <a:solidFill>
                  <a:schemeClr val="accent1">
                    <a:lumMod val="50000"/>
                  </a:schemeClr>
                </a:solidFill>
                <a:latin typeface="Arial" panose="020B0604020202020204" pitchFamily="34" charset="0"/>
                <a:cs typeface="Arial" panose="020B0604020202020204" pitchFamily="34" charset="0"/>
              </a:rPr>
              <a:t>Permits per-connection billing</a:t>
            </a:r>
          </a:p>
          <a:p>
            <a:pPr marL="0" indent="0" eaLnBrk="1" hangingPunct="1">
              <a:buNone/>
            </a:pPr>
            <a:endParaRPr lang="en-US" altLang="en-US" sz="1600" dirty="0">
              <a:solidFill>
                <a:schemeClr val="accent1">
                  <a:lumMod val="50000"/>
                </a:schemeClr>
              </a:solidFill>
              <a:latin typeface="Arial" panose="020B0604020202020204" pitchFamily="34" charset="0"/>
              <a:cs typeface="Arial" panose="020B0604020202020204" pitchFamily="34" charset="0"/>
            </a:endParaRPr>
          </a:p>
          <a:p>
            <a:pPr marL="176213" indent="-176213" eaLnBrk="1" hangingPunct="1">
              <a:buFont typeface="Arial" panose="020B0604020202020204" pitchFamily="34" charset="0"/>
              <a:buChar char="•"/>
            </a:pPr>
            <a:r>
              <a:rPr lang="en-US" altLang="en-US" sz="1600" dirty="0">
                <a:solidFill>
                  <a:srgbClr val="FF0000"/>
                </a:solidFill>
                <a:latin typeface="Arial" panose="020B0604020202020204" pitchFamily="34" charset="0"/>
                <a:cs typeface="Arial" panose="020B0604020202020204" pitchFamily="34" charset="0"/>
              </a:rPr>
              <a:t>Must hold State information, which is bad for scalability and growth (compared to datagrams)</a:t>
            </a:r>
          </a:p>
          <a:p>
            <a:pPr marL="176213" indent="-176213" eaLnBrk="1" hangingPunct="1">
              <a:buFont typeface="Arial" panose="020B0604020202020204" pitchFamily="34" charset="0"/>
              <a:buChar char="•"/>
            </a:pPr>
            <a:r>
              <a:rPr lang="en-US" altLang="en-US" sz="1600" dirty="0">
                <a:solidFill>
                  <a:srgbClr val="FF0000"/>
                </a:solidFill>
                <a:latin typeface="Arial" panose="020B0604020202020204" pitchFamily="34" charset="0"/>
                <a:cs typeface="Arial" panose="020B0604020202020204" pitchFamily="34" charset="0"/>
              </a:rPr>
              <a:t>Router crash </a:t>
            </a:r>
            <a:r>
              <a:rPr lang="en-US" altLang="en-US" sz="1600" dirty="0">
                <a:solidFill>
                  <a:srgbClr val="FF0000"/>
                </a:solidFill>
                <a:latin typeface="Arial" panose="020B0604020202020204" pitchFamily="34" charset="0"/>
                <a:cs typeface="Arial" panose="020B0604020202020204" pitchFamily="34" charset="0"/>
                <a:sym typeface="Wingdings" panose="05000000000000000000" pitchFamily="2" charset="2"/>
              </a:rPr>
              <a:t></a:t>
            </a:r>
            <a:r>
              <a:rPr lang="en-US" altLang="en-US" sz="1600" dirty="0">
                <a:solidFill>
                  <a:srgbClr val="FF0000"/>
                </a:solidFill>
                <a:latin typeface="Arial" panose="020B0604020202020204" pitchFamily="34" charset="0"/>
                <a:cs typeface="Arial" panose="020B0604020202020204" pitchFamily="34" charset="0"/>
              </a:rPr>
              <a:t> connections lost, rerouting not easy. Endpoints must reestablish new connection</a:t>
            </a:r>
            <a:endParaRPr lang="en-US" altLang="en-US" sz="1600" dirty="0">
              <a:latin typeface="Arial" panose="020B0604020202020204" pitchFamily="34" charset="0"/>
              <a:cs typeface="Arial" panose="020B0604020202020204" pitchFamily="34" charset="0"/>
            </a:endParaRPr>
          </a:p>
        </p:txBody>
      </p:sp>
      <p:sp>
        <p:nvSpPr>
          <p:cNvPr id="10" name="Rectangle 9"/>
          <p:cNvSpPr/>
          <p:nvPr/>
        </p:nvSpPr>
        <p:spPr>
          <a:xfrm>
            <a:off x="6072982" y="2088649"/>
            <a:ext cx="2573140" cy="400110"/>
          </a:xfrm>
          <a:prstGeom prst="rect">
            <a:avLst/>
          </a:prstGeom>
        </p:spPr>
        <p:txBody>
          <a:bodyPr wrap="none">
            <a:spAutoFit/>
          </a:bodyPr>
          <a:lstStyle/>
          <a:p>
            <a:r>
              <a:rPr lang="en-US" altLang="en-US" sz="2000" kern="0" dirty="0">
                <a:solidFill>
                  <a:srgbClr val="000000"/>
                </a:solidFill>
                <a:latin typeface="Arial" panose="020B0604020202020204" pitchFamily="34" charset="0"/>
                <a:cs typeface="Arial" panose="020B0604020202020204" pitchFamily="34" charset="0"/>
              </a:rPr>
              <a:t>VC table at switch S</a:t>
            </a:r>
            <a:r>
              <a:rPr lang="en-US" altLang="en-US" sz="2000" kern="0" baseline="-25000" dirty="0">
                <a:solidFill>
                  <a:srgbClr val="000000"/>
                </a:solidFill>
                <a:latin typeface="Arial" panose="020B0604020202020204" pitchFamily="34" charset="0"/>
                <a:cs typeface="Arial" panose="020B0604020202020204" pitchFamily="34" charset="0"/>
              </a:rPr>
              <a:t>2</a:t>
            </a:r>
            <a:endParaRPr lang="en-US" sz="2400" baseline="-25000" dirty="0"/>
          </a:p>
        </p:txBody>
      </p:sp>
      <p:pic>
        <p:nvPicPr>
          <p:cNvPr id="13" name="Picture 12"/>
          <p:cNvPicPr>
            <a:picLocks noChangeAspect="1"/>
          </p:cNvPicPr>
          <p:nvPr/>
        </p:nvPicPr>
        <p:blipFill>
          <a:blip r:embed="rId2"/>
          <a:stretch>
            <a:fillRect/>
          </a:stretch>
        </p:blipFill>
        <p:spPr>
          <a:xfrm>
            <a:off x="139115" y="510590"/>
            <a:ext cx="4791075" cy="2371725"/>
          </a:xfrm>
          <a:prstGeom prst="rect">
            <a:avLst/>
          </a:prstGeom>
        </p:spPr>
      </p:pic>
      <p:pic>
        <p:nvPicPr>
          <p:cNvPr id="2" name="Picture 1">
            <a:extLst>
              <a:ext uri="{FF2B5EF4-FFF2-40B4-BE49-F238E27FC236}">
                <a16:creationId xmlns:a16="http://schemas.microsoft.com/office/drawing/2014/main" id="{F1A475FF-0551-46D9-9D7A-02F30DC593E4}"/>
              </a:ext>
            </a:extLst>
          </p:cNvPr>
          <p:cNvPicPr>
            <a:picLocks noChangeAspect="1"/>
          </p:cNvPicPr>
          <p:nvPr/>
        </p:nvPicPr>
        <p:blipFill>
          <a:blip r:embed="rId3"/>
          <a:stretch>
            <a:fillRect/>
          </a:stretch>
        </p:blipFill>
        <p:spPr>
          <a:xfrm>
            <a:off x="4766260" y="574288"/>
            <a:ext cx="4238625" cy="1266825"/>
          </a:xfrm>
          <a:prstGeom prst="rect">
            <a:avLst/>
          </a:prstGeom>
        </p:spPr>
      </p:pic>
    </p:spTree>
    <p:extLst>
      <p:ext uri="{BB962C8B-B14F-4D97-AF65-F5344CB8AC3E}">
        <p14:creationId xmlns:p14="http://schemas.microsoft.com/office/powerpoint/2010/main" val="1428837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0" y="0"/>
            <a:ext cx="9144000" cy="469232"/>
          </a:xfrm>
        </p:spPr>
        <p:txBody>
          <a:bodyPr/>
          <a:lstStyle/>
          <a:p>
            <a:pPr eaLnBrk="1" hangingPunct="1"/>
            <a:r>
              <a:rPr lang="en-US" altLang="en-US" sz="3200" dirty="0"/>
              <a:t>Recommended Reading</a:t>
            </a:r>
          </a:p>
        </p:txBody>
      </p:sp>
      <p:sp>
        <p:nvSpPr>
          <p:cNvPr id="27651" name="Rectangle 3"/>
          <p:cNvSpPr>
            <a:spLocks noGrp="1" noChangeArrowheads="1"/>
          </p:cNvSpPr>
          <p:nvPr>
            <p:ph type="body" idx="1"/>
          </p:nvPr>
        </p:nvSpPr>
        <p:spPr>
          <a:xfrm>
            <a:off x="0" y="694944"/>
            <a:ext cx="9144000" cy="6002635"/>
          </a:xfrm>
        </p:spPr>
        <p:txBody>
          <a:bodyPr/>
          <a:lstStyle/>
          <a:p>
            <a:pPr marL="0" indent="0" eaLnBrk="1" hangingPunct="1">
              <a:buNone/>
            </a:pPr>
            <a:r>
              <a:rPr lang="en-US" altLang="en-US" sz="2200" dirty="0">
                <a:latin typeface="Arial" panose="020B0604020202020204" pitchFamily="34" charset="0"/>
                <a:cs typeface="Arial" panose="020B0604020202020204" pitchFamily="34" charset="0"/>
              </a:rPr>
              <a:t>Textbook </a:t>
            </a:r>
          </a:p>
          <a:p>
            <a:pPr marL="0" indent="0" eaLnBrk="1" hangingPunct="1">
              <a:buNone/>
            </a:pPr>
            <a:r>
              <a:rPr lang="en-US" altLang="en-US" sz="2200" dirty="0">
                <a:latin typeface="Arial" panose="020B0604020202020204" pitchFamily="34" charset="0"/>
                <a:cs typeface="Arial" panose="020B0604020202020204" pitchFamily="34" charset="0"/>
              </a:rPr>
              <a:t>    2.1    2.1.1    2.1.2    2.1.5    2.1.6    2.1.11    2.1.11.1       </a:t>
            </a:r>
          </a:p>
          <a:p>
            <a:pPr marL="0" indent="0" eaLnBrk="1" hangingPunct="1">
              <a:buNone/>
            </a:pPr>
            <a:r>
              <a:rPr lang="en-US" altLang="en-US" sz="2200" dirty="0">
                <a:latin typeface="Arial" panose="020B0604020202020204" pitchFamily="34" charset="0"/>
                <a:cs typeface="Arial" panose="020B0604020202020204" pitchFamily="34" charset="0"/>
              </a:rPr>
              <a:t>    2.1.11.12     2.2    2.3     2.4     2.4.1    </a:t>
            </a:r>
          </a:p>
          <a:p>
            <a:pPr marL="0" indent="0" eaLnBrk="1" hangingPunct="1">
              <a:buNone/>
            </a:pPr>
            <a:endParaRPr lang="en-US" altLang="en-US" sz="2200" dirty="0">
              <a:latin typeface="Arial" panose="020B0604020202020204" pitchFamily="34" charset="0"/>
              <a:cs typeface="Arial" panose="020B0604020202020204" pitchFamily="34" charset="0"/>
            </a:endParaRPr>
          </a:p>
          <a:p>
            <a:pPr marL="0" indent="0" eaLnBrk="1" hangingPunct="1">
              <a:buNone/>
            </a:pPr>
            <a:r>
              <a:rPr lang="en-US" altLang="en-US" sz="2200" dirty="0">
                <a:latin typeface="Arial" panose="020B0604020202020204" pitchFamily="34" charset="0"/>
                <a:cs typeface="Arial" panose="020B0604020202020204" pitchFamily="34" charset="0"/>
              </a:rPr>
              <a:t>    3.1    3.1.1    3.2    </a:t>
            </a:r>
            <a:r>
              <a:rPr lang="en-US" altLang="en-US" sz="1800" dirty="0">
                <a:solidFill>
                  <a:schemeClr val="bg1">
                    <a:lumMod val="65000"/>
                  </a:schemeClr>
                </a:solidFill>
                <a:latin typeface="Arial" panose="020B0604020202020204" pitchFamily="34" charset="0"/>
                <a:cs typeface="Arial" panose="020B0604020202020204" pitchFamily="34" charset="0"/>
              </a:rPr>
              <a:t>(not 3.2.1)</a:t>
            </a:r>
          </a:p>
          <a:p>
            <a:pPr marL="0" indent="0" eaLnBrk="1" hangingPunct="1">
              <a:buNone/>
            </a:pPr>
            <a:endParaRPr lang="en-US" altLang="en-US" sz="2200" dirty="0">
              <a:latin typeface="Arial" panose="020B0604020202020204" pitchFamily="34" charset="0"/>
              <a:cs typeface="Arial" panose="020B0604020202020204" pitchFamily="34" charset="0"/>
            </a:endParaRPr>
          </a:p>
          <a:p>
            <a:pPr marL="0" indent="0" eaLnBrk="1" hangingPunct="1">
              <a:buNone/>
            </a:pPr>
            <a:r>
              <a:rPr lang="en-US" altLang="en-US" sz="2200" dirty="0">
                <a:latin typeface="Arial" panose="020B0604020202020204" pitchFamily="34" charset="0"/>
                <a:cs typeface="Arial" panose="020B0604020202020204" pitchFamily="34" charset="0"/>
              </a:rPr>
              <a:t>    5.1     5.3     5.4     5.5  </a:t>
            </a:r>
            <a:r>
              <a:rPr lang="en-US" altLang="en-US" sz="1800" dirty="0">
                <a:solidFill>
                  <a:schemeClr val="bg1">
                    <a:lumMod val="65000"/>
                  </a:schemeClr>
                </a:solidFill>
                <a:latin typeface="Arial" panose="020B0604020202020204" pitchFamily="34" charset="0"/>
                <a:cs typeface="Arial" panose="020B0604020202020204" pitchFamily="34" charset="0"/>
              </a:rPr>
              <a:t>(not 5.5.1)</a:t>
            </a:r>
            <a:endParaRPr lang="en-US" altLang="en-US" sz="2200" dirty="0">
              <a:solidFill>
                <a:schemeClr val="bg1">
                  <a:lumMod val="65000"/>
                </a:schemeClr>
              </a:solidFill>
              <a:latin typeface="Arial" panose="020B0604020202020204" pitchFamily="34" charset="0"/>
              <a:cs typeface="Arial" panose="020B0604020202020204" pitchFamily="34" charset="0"/>
            </a:endParaRPr>
          </a:p>
          <a:p>
            <a:pPr marL="0" indent="0" eaLnBrk="1" hangingPunct="1">
              <a:buNone/>
            </a:pPr>
            <a:r>
              <a:rPr lang="en-US" altLang="en-US" sz="2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449367985"/>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6F9FA"/>
          </a:solidFill>
          <a:ln>
            <a:solidFill>
              <a:srgbClr val="F6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743200" cy="384048"/>
          </a:xfrm>
          <a:prstGeom prst="roundRect">
            <a:avLst/>
          </a:prstGeom>
          <a:solidFill>
            <a:srgbClr val="DEF7EB"/>
          </a:solidFill>
          <a:ln>
            <a:solidFill>
              <a:srgbClr val="DEF7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200" b="1">
                <a:solidFill>
                  <a:srgbClr val="085461"/>
                </a:solidFill>
              </a:defRPr>
            </a:pPr>
            <a:r>
              <a:t>JOIN SESSION</a:t>
            </a:r>
          </a:p>
        </p:txBody>
      </p:sp>
      <p:sp>
        <p:nvSpPr>
          <p:cNvPr id="4" name="Rounded Rectangle 3"/>
          <p:cNvSpPr/>
          <p:nvPr/>
        </p:nvSpPr>
        <p:spPr>
          <a:xfrm>
            <a:off x="731520" y="1051560"/>
            <a:ext cx="5394960" cy="219456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800" b="1">
                <a:solidFill>
                  <a:srgbClr val="0F172A"/>
                </a:solidFill>
              </a:defRPr>
            </a:pPr>
            <a:r>
              <a:t>Session code: ________</a:t>
            </a:r>
            <a:br/>
            <a:br/>
            <a:r>
              <a:t>Join link:</a:t>
            </a:r>
            <a:br/>
            <a:r>
              <a:t>________</a:t>
            </a:r>
            <a:br/>
          </a:p>
        </p:txBody>
      </p:sp>
      <p:sp>
        <p:nvSpPr>
          <p:cNvPr id="5" name="Rounded Rectangle 4"/>
          <p:cNvSpPr/>
          <p:nvPr/>
        </p:nvSpPr>
        <p:spPr>
          <a:xfrm>
            <a:off x="6400800" y="1051560"/>
            <a:ext cx="2011680" cy="201168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600" b="1">
                <a:solidFill>
                  <a:srgbClr val="167784"/>
                </a:solidFill>
              </a:defRPr>
            </a:pPr>
            <a:r>
              <a:t>QR code</a:t>
            </a:r>
            <a:br/>
            <a:r>
              <a:t>placeholder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6F9FA"/>
          </a:solidFill>
          <a:ln>
            <a:solidFill>
              <a:srgbClr val="F6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743200" cy="384048"/>
          </a:xfrm>
          <a:prstGeom prst="roundRect">
            <a:avLst/>
          </a:prstGeom>
          <a:solidFill>
            <a:srgbClr val="DEF7EB"/>
          </a:solidFill>
          <a:ln>
            <a:solidFill>
              <a:srgbClr val="DEF7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200" b="1">
                <a:solidFill>
                  <a:srgbClr val="085461"/>
                </a:solidFill>
              </a:defRPr>
            </a:pPr>
            <a:r>
              <a:t>QUESTION 1</a:t>
            </a:r>
          </a:p>
        </p:txBody>
      </p:sp>
      <p:sp>
        <p:nvSpPr>
          <p:cNvPr id="4" name="TextBox 3"/>
          <p:cNvSpPr txBox="1"/>
          <p:nvPr/>
        </p:nvSpPr>
        <p:spPr>
          <a:xfrm>
            <a:off x="5486400" y="411480"/>
            <a:ext cx="2926080" cy="384048"/>
          </a:xfrm>
          <a:prstGeom prst="rect">
            <a:avLst/>
          </a:prstGeom>
          <a:noFill/>
        </p:spPr>
        <p:txBody>
          <a:bodyPr wrap="square" lIns="164592" rIns="164592" tIns="73152" bIns="73152">
            <a:normAutofit/>
          </a:bodyPr>
          <a:lstStyle/>
          <a:p>
            <a:pPr algn="r">
              <a:defRPr sz="1100" b="1">
                <a:solidFill>
                  <a:srgbClr val="475569"/>
                </a:solidFill>
              </a:defRPr>
            </a:pPr>
            <a:r>
              <a:t>Apply | Hard</a:t>
            </a:r>
          </a:p>
        </p:txBody>
      </p:sp>
      <p:sp>
        <p:nvSpPr>
          <p:cNvPr id="5" name="Rounded Rectangle 4"/>
          <p:cNvSpPr/>
          <p:nvPr/>
        </p:nvSpPr>
        <p:spPr>
          <a:xfrm>
            <a:off x="731520" y="1051560"/>
            <a:ext cx="7680960" cy="132588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2400" b="1">
                <a:solidFill>
                  <a:srgbClr val="0F172A"/>
                </a:solidFill>
              </a:defRPr>
            </a:pPr>
            <a:r>
              <a:t>Which statement correctly describes MAC?</a:t>
            </a:r>
          </a:p>
        </p:txBody>
      </p:sp>
      <p:sp>
        <p:nvSpPr>
          <p:cNvPr id="6" name="Rounded Rectangle 5"/>
          <p:cNvSpPr/>
          <p:nvPr/>
        </p:nvSpPr>
        <p:spPr>
          <a:xfrm>
            <a:off x="731520" y="26974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A. Medium Access Control</a:t>
            </a:r>
          </a:p>
        </p:txBody>
      </p:sp>
      <p:sp>
        <p:nvSpPr>
          <p:cNvPr id="7" name="Rounded Rectangle 6"/>
          <p:cNvSpPr/>
          <p:nvPr/>
        </p:nvSpPr>
        <p:spPr>
          <a:xfrm>
            <a:off x="4672584" y="26974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B. MAC depends on storage order</a:t>
            </a:r>
          </a:p>
        </p:txBody>
      </p:sp>
      <p:sp>
        <p:nvSpPr>
          <p:cNvPr id="8" name="Rounded Rectangle 7"/>
          <p:cNvSpPr/>
          <p:nvPr/>
        </p:nvSpPr>
        <p:spPr>
          <a:xfrm>
            <a:off x="731520" y="36118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C. MAC changes when examples are reordered</a:t>
            </a:r>
          </a:p>
        </p:txBody>
      </p:sp>
      <p:sp>
        <p:nvSpPr>
          <p:cNvPr id="9" name="Rounded Rectangle 8"/>
          <p:cNvSpPr/>
          <p:nvPr/>
        </p:nvSpPr>
        <p:spPr>
          <a:xfrm>
            <a:off x="4672584" y="36118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D. MAC is defined by one sample value</a:t>
            </a:r>
          </a:p>
        </p:txBody>
      </p:sp>
      <p:sp>
        <p:nvSpPr>
          <p:cNvPr id="10" name="TextBox 9"/>
          <p:cNvSpPr txBox="1"/>
          <p:nvPr/>
        </p:nvSpPr>
        <p:spPr>
          <a:xfrm>
            <a:off x="731520" y="6263640"/>
            <a:ext cx="7680960" cy="256032"/>
          </a:xfrm>
          <a:prstGeom prst="rect">
            <a:avLst/>
          </a:prstGeom>
          <a:noFill/>
        </p:spPr>
        <p:txBody>
          <a:bodyPr wrap="square" lIns="164592" rIns="164592" tIns="73152" bIns="73152">
            <a:normAutofit/>
          </a:bodyPr>
          <a:lstStyle/>
          <a:p>
            <a:pPr algn="ctr">
              <a:defRPr sz="1100" b="0">
                <a:solidFill>
                  <a:srgbClr val="475569"/>
                </a:solidFill>
              </a:defRPr>
            </a:pPr>
            <a:r>
              <a:t>Discuss, answer, then reveal feedback in the live session.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6F9FA"/>
          </a:solidFill>
          <a:ln>
            <a:solidFill>
              <a:srgbClr val="F6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743200" cy="384048"/>
          </a:xfrm>
          <a:prstGeom prst="roundRect">
            <a:avLst/>
          </a:prstGeom>
          <a:solidFill>
            <a:srgbClr val="DEF7EB"/>
          </a:solidFill>
          <a:ln>
            <a:solidFill>
              <a:srgbClr val="DEF7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200" b="1">
                <a:solidFill>
                  <a:srgbClr val="085461"/>
                </a:solidFill>
              </a:defRPr>
            </a:pPr>
            <a:r>
              <a:t>QUESTION 2</a:t>
            </a:r>
          </a:p>
        </p:txBody>
      </p:sp>
      <p:sp>
        <p:nvSpPr>
          <p:cNvPr id="4" name="TextBox 3"/>
          <p:cNvSpPr txBox="1"/>
          <p:nvPr/>
        </p:nvSpPr>
        <p:spPr>
          <a:xfrm>
            <a:off x="5486400" y="411480"/>
            <a:ext cx="2926080" cy="384048"/>
          </a:xfrm>
          <a:prstGeom prst="rect">
            <a:avLst/>
          </a:prstGeom>
          <a:noFill/>
        </p:spPr>
        <p:txBody>
          <a:bodyPr wrap="square" lIns="164592" rIns="164592" tIns="73152" bIns="73152">
            <a:normAutofit/>
          </a:bodyPr>
          <a:lstStyle/>
          <a:p>
            <a:pPr algn="r">
              <a:defRPr sz="1100" b="1">
                <a:solidFill>
                  <a:srgbClr val="475569"/>
                </a:solidFill>
              </a:defRPr>
            </a:pPr>
            <a:r>
              <a:t>Analyze | Hard</a:t>
            </a:r>
          </a:p>
        </p:txBody>
      </p:sp>
      <p:sp>
        <p:nvSpPr>
          <p:cNvPr id="5" name="Rounded Rectangle 4"/>
          <p:cNvSpPr/>
          <p:nvPr/>
        </p:nvSpPr>
        <p:spPr>
          <a:xfrm>
            <a:off x="731520" y="1051560"/>
            <a:ext cx="7680960" cy="132588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2400" b="1">
                <a:solidFill>
                  <a:srgbClr val="0F172A"/>
                </a:solidFill>
              </a:defRPr>
            </a:pPr>
            <a:r>
              <a:t>Which statement correctly describes Classic Ethernet?</a:t>
            </a:r>
          </a:p>
        </p:txBody>
      </p:sp>
      <p:sp>
        <p:nvSpPr>
          <p:cNvPr id="6" name="Rounded Rectangle 5"/>
          <p:cNvSpPr/>
          <p:nvPr/>
        </p:nvSpPr>
        <p:spPr>
          <a:xfrm>
            <a:off x="731520" y="26974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A. Bus topology with repeaters</a:t>
            </a:r>
          </a:p>
        </p:txBody>
      </p:sp>
      <p:sp>
        <p:nvSpPr>
          <p:cNvPr id="7" name="Rounded Rectangle 6"/>
          <p:cNvSpPr/>
          <p:nvPr/>
        </p:nvSpPr>
        <p:spPr>
          <a:xfrm>
            <a:off x="4672584" y="26974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B. Classic Ethernet depends on storage order</a:t>
            </a:r>
          </a:p>
        </p:txBody>
      </p:sp>
      <p:sp>
        <p:nvSpPr>
          <p:cNvPr id="8" name="Rounded Rectangle 7"/>
          <p:cNvSpPr/>
          <p:nvPr/>
        </p:nvSpPr>
        <p:spPr>
          <a:xfrm>
            <a:off x="731520" y="36118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C. Classic Ethernet changes when examples are reordered</a:t>
            </a:r>
          </a:p>
        </p:txBody>
      </p:sp>
      <p:sp>
        <p:nvSpPr>
          <p:cNvPr id="9" name="Rounded Rectangle 8"/>
          <p:cNvSpPr/>
          <p:nvPr/>
        </p:nvSpPr>
        <p:spPr>
          <a:xfrm>
            <a:off x="4672584" y="36118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D. Classic Ethernet is defined by one sample value</a:t>
            </a:r>
          </a:p>
        </p:txBody>
      </p:sp>
      <p:sp>
        <p:nvSpPr>
          <p:cNvPr id="10" name="TextBox 9"/>
          <p:cNvSpPr txBox="1"/>
          <p:nvPr/>
        </p:nvSpPr>
        <p:spPr>
          <a:xfrm>
            <a:off x="731520" y="6263640"/>
            <a:ext cx="7680960" cy="256032"/>
          </a:xfrm>
          <a:prstGeom prst="rect">
            <a:avLst/>
          </a:prstGeom>
          <a:noFill/>
        </p:spPr>
        <p:txBody>
          <a:bodyPr wrap="square" lIns="164592" rIns="164592" tIns="73152" bIns="73152">
            <a:normAutofit/>
          </a:bodyPr>
          <a:lstStyle/>
          <a:p>
            <a:pPr algn="ctr">
              <a:defRPr sz="1100" b="0">
                <a:solidFill>
                  <a:srgbClr val="475569"/>
                </a:solidFill>
              </a:defRPr>
            </a:pPr>
            <a:r>
              <a:t>Discuss, answer, then reveal feedback in the live session.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6F9FA"/>
          </a:solidFill>
          <a:ln>
            <a:solidFill>
              <a:srgbClr val="F6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743200" cy="384048"/>
          </a:xfrm>
          <a:prstGeom prst="roundRect">
            <a:avLst/>
          </a:prstGeom>
          <a:solidFill>
            <a:srgbClr val="DEF7EB"/>
          </a:solidFill>
          <a:ln>
            <a:solidFill>
              <a:srgbClr val="DEF7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200" b="1">
                <a:solidFill>
                  <a:srgbClr val="085461"/>
                </a:solidFill>
              </a:defRPr>
            </a:pPr>
            <a:r>
              <a:t>QUESTION 3</a:t>
            </a:r>
          </a:p>
        </p:txBody>
      </p:sp>
      <p:sp>
        <p:nvSpPr>
          <p:cNvPr id="4" name="TextBox 3"/>
          <p:cNvSpPr txBox="1"/>
          <p:nvPr/>
        </p:nvSpPr>
        <p:spPr>
          <a:xfrm>
            <a:off x="5486400" y="411480"/>
            <a:ext cx="2926080" cy="384048"/>
          </a:xfrm>
          <a:prstGeom prst="rect">
            <a:avLst/>
          </a:prstGeom>
          <a:noFill/>
        </p:spPr>
        <p:txBody>
          <a:bodyPr wrap="square" lIns="164592" rIns="164592" tIns="73152" bIns="73152">
            <a:normAutofit/>
          </a:bodyPr>
          <a:lstStyle/>
          <a:p>
            <a:pPr algn="r">
              <a:defRPr sz="1100" b="1">
                <a:solidFill>
                  <a:srgbClr val="475569"/>
                </a:solidFill>
              </a:defRPr>
            </a:pPr>
            <a:r>
              <a:t>Evaluate | Hard</a:t>
            </a:r>
          </a:p>
        </p:txBody>
      </p:sp>
      <p:sp>
        <p:nvSpPr>
          <p:cNvPr id="5" name="Rounded Rectangle 4"/>
          <p:cNvSpPr/>
          <p:nvPr/>
        </p:nvSpPr>
        <p:spPr>
          <a:xfrm>
            <a:off x="731520" y="1051560"/>
            <a:ext cx="7680960" cy="132588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2400" b="1">
                <a:solidFill>
                  <a:srgbClr val="0F172A"/>
                </a:solidFill>
              </a:defRPr>
            </a:pPr>
            <a:r>
              <a:t>Which statement correctly describes Global uniqueness is a convenience, not a requirement?</a:t>
            </a:r>
          </a:p>
        </p:txBody>
      </p:sp>
      <p:sp>
        <p:nvSpPr>
          <p:cNvPr id="6" name="Rounded Rectangle 5"/>
          <p:cNvSpPr/>
          <p:nvPr/>
        </p:nvSpPr>
        <p:spPr>
          <a:xfrm>
            <a:off x="731520" y="26974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A. Ethernet Frame MAC Address 48 bits (6 bytes) i</a:t>
            </a:r>
          </a:p>
        </p:txBody>
      </p:sp>
      <p:sp>
        <p:nvSpPr>
          <p:cNvPr id="7" name="Rounded Rectangle 6"/>
          <p:cNvSpPr/>
          <p:nvPr/>
        </p:nvSpPr>
        <p:spPr>
          <a:xfrm>
            <a:off x="4672584" y="26974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B. Global uniqueness is a convenience, not a requirement depends on storage order</a:t>
            </a:r>
          </a:p>
        </p:txBody>
      </p:sp>
      <p:sp>
        <p:nvSpPr>
          <p:cNvPr id="8" name="Rounded Rectangle 7"/>
          <p:cNvSpPr/>
          <p:nvPr/>
        </p:nvSpPr>
        <p:spPr>
          <a:xfrm>
            <a:off x="731520" y="36118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C. Global uniqueness is a convenience, not a requirement changes when examples are reordered</a:t>
            </a:r>
          </a:p>
        </p:txBody>
      </p:sp>
      <p:sp>
        <p:nvSpPr>
          <p:cNvPr id="9" name="Rounded Rectangle 8"/>
          <p:cNvSpPr/>
          <p:nvPr/>
        </p:nvSpPr>
        <p:spPr>
          <a:xfrm>
            <a:off x="4672584" y="3611880"/>
            <a:ext cx="3739896" cy="713232"/>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1600" b="1">
                <a:solidFill>
                  <a:srgbClr val="1E293B"/>
                </a:solidFill>
              </a:defRPr>
            </a:pPr>
            <a:r>
              <a:t>D. Global uniqueness is a convenience, not a requirement is defined by one sample value</a:t>
            </a:r>
          </a:p>
        </p:txBody>
      </p:sp>
      <p:sp>
        <p:nvSpPr>
          <p:cNvPr id="10" name="TextBox 9"/>
          <p:cNvSpPr txBox="1"/>
          <p:nvPr/>
        </p:nvSpPr>
        <p:spPr>
          <a:xfrm>
            <a:off x="731520" y="6263640"/>
            <a:ext cx="7680960" cy="256032"/>
          </a:xfrm>
          <a:prstGeom prst="rect">
            <a:avLst/>
          </a:prstGeom>
          <a:noFill/>
        </p:spPr>
        <p:txBody>
          <a:bodyPr wrap="square" lIns="164592" rIns="164592" tIns="73152" bIns="73152">
            <a:normAutofit/>
          </a:bodyPr>
          <a:lstStyle/>
          <a:p>
            <a:pPr algn="ctr">
              <a:defRPr sz="1100" b="0">
                <a:solidFill>
                  <a:srgbClr val="475569"/>
                </a:solidFill>
              </a:defRPr>
            </a:pPr>
            <a:r>
              <a:t>Discuss, answer, then reveal feedback in the live session.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6F9FA"/>
          </a:solidFill>
          <a:ln>
            <a:solidFill>
              <a:srgbClr val="F6F9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743200" cy="384048"/>
          </a:xfrm>
          <a:prstGeom prst="roundRect">
            <a:avLst/>
          </a:prstGeom>
          <a:solidFill>
            <a:srgbClr val="DEF7EB"/>
          </a:solidFill>
          <a:ln>
            <a:solidFill>
              <a:srgbClr val="DEF7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200" b="1">
                <a:solidFill>
                  <a:srgbClr val="085461"/>
                </a:solidFill>
              </a:defRPr>
            </a:pPr>
            <a:r>
              <a:t>QUESTION 4</a:t>
            </a:r>
          </a:p>
        </p:txBody>
      </p:sp>
      <p:sp>
        <p:nvSpPr>
          <p:cNvPr id="4" name="TextBox 3"/>
          <p:cNvSpPr txBox="1"/>
          <p:nvPr/>
        </p:nvSpPr>
        <p:spPr>
          <a:xfrm>
            <a:off x="5486400" y="411480"/>
            <a:ext cx="2926080" cy="384048"/>
          </a:xfrm>
          <a:prstGeom prst="rect">
            <a:avLst/>
          </a:prstGeom>
          <a:noFill/>
        </p:spPr>
        <p:txBody>
          <a:bodyPr wrap="square" lIns="164592" rIns="164592" tIns="73152" bIns="73152">
            <a:normAutofit/>
          </a:bodyPr>
          <a:lstStyle/>
          <a:p>
            <a:pPr algn="r">
              <a:defRPr sz="1100" b="1">
                <a:solidFill>
                  <a:srgbClr val="475569"/>
                </a:solidFill>
              </a:defRPr>
            </a:pPr>
            <a:r>
              <a:t>Understand | Hard</a:t>
            </a:r>
          </a:p>
        </p:txBody>
      </p:sp>
      <p:sp>
        <p:nvSpPr>
          <p:cNvPr id="5" name="Rounded Rectangle 4"/>
          <p:cNvSpPr/>
          <p:nvPr/>
        </p:nvSpPr>
        <p:spPr>
          <a:xfrm>
            <a:off x="731520" y="1051560"/>
            <a:ext cx="7680960" cy="132588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l">
              <a:defRPr sz="2400" b="1">
                <a:solidFill>
                  <a:srgbClr val="0F172A"/>
                </a:solidFill>
              </a:defRPr>
            </a:pPr>
            <a:r>
              <a:t>In a few words or one short sentence, Explain why Collision Detection – CSMA/CD matters in this lesson.</a:t>
            </a:r>
          </a:p>
        </p:txBody>
      </p:sp>
      <p:sp>
        <p:nvSpPr>
          <p:cNvPr id="6" name="Rounded Rectangle 5"/>
          <p:cNvSpPr/>
          <p:nvPr/>
        </p:nvSpPr>
        <p:spPr>
          <a:xfrm>
            <a:off x="731520" y="2788920"/>
            <a:ext cx="7680960" cy="960120"/>
          </a:xfrm>
          <a:prstGeom prst="roundRect">
            <a:avLst/>
          </a:prstGeom>
          <a:solidFill>
            <a:srgbClr val="FFFFFF"/>
          </a:solidFill>
          <a:ln>
            <a:solidFill>
              <a:srgbClr val="D4E2E5"/>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normAutofit/>
          </a:bodyPr>
          <a:lstStyle/>
          <a:p>
            <a:pPr algn="ctr">
              <a:defRPr sz="1800" b="1">
                <a:solidFill>
                  <a:srgbClr val="167784"/>
                </a:solidFill>
              </a:defRPr>
            </a:pPr>
            <a:r>
              <a:t>Write your short answer</a:t>
            </a:r>
          </a:p>
        </p:txBody>
      </p:sp>
      <p:sp>
        <p:nvSpPr>
          <p:cNvPr id="7" name="TextBox 6"/>
          <p:cNvSpPr txBox="1"/>
          <p:nvPr/>
        </p:nvSpPr>
        <p:spPr>
          <a:xfrm>
            <a:off x="731520" y="6263640"/>
            <a:ext cx="7680960" cy="256032"/>
          </a:xfrm>
          <a:prstGeom prst="rect">
            <a:avLst/>
          </a:prstGeom>
          <a:noFill/>
        </p:spPr>
        <p:txBody>
          <a:bodyPr wrap="square" lIns="164592" rIns="164592" tIns="73152" bIns="73152">
            <a:normAutofit/>
          </a:bodyPr>
          <a:lstStyle/>
          <a:p>
            <a:pPr algn="ctr">
              <a:defRPr sz="1100" b="0">
                <a:solidFill>
                  <a:srgbClr val="475569"/>
                </a:solidFill>
              </a:defRPr>
            </a:pPr>
            <a:r>
              <a:t>Discuss, answer, then reveal feedback in the live session.</a:t>
            </a:r>
          </a:p>
        </p:txBody>
      </p:sp>
    </p:spTree>
  </p:cSld>
  <p:clrMapOvr>
    <a:masterClrMapping/>
  </p:clrMapOvr>
</p:sld>
</file>

<file path=ppt/theme/theme1.xml><?xml version="1.0" encoding="utf-8"?>
<a:theme xmlns:a="http://schemas.openxmlformats.org/drawingml/2006/main" name="Tannenbaum">
  <a:themeElements>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Tannenbaum">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Tannenbaum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annenbaum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annenbaum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annenbaum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annenbaum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annenbaum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annenbaum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7C47E07CC777449EAA765308A46E62" ma:contentTypeVersion="4" ma:contentTypeDescription="Create a new document." ma:contentTypeScope="" ma:versionID="d781ea61ccbabdcf216de4eabcffdd4b">
  <xsd:schema xmlns:xsd="http://www.w3.org/2001/XMLSchema" xmlns:xs="http://www.w3.org/2001/XMLSchema" xmlns:p="http://schemas.microsoft.com/office/2006/metadata/properties" xmlns:ns2="008ae693-87df-4f0d-8e16-6bfea82c7d62" targetNamespace="http://schemas.microsoft.com/office/2006/metadata/properties" ma:root="true" ma:fieldsID="09c2958fda62066dae8c620a2355802d" ns2:_="">
    <xsd:import namespace="008ae693-87df-4f0d-8e16-6bfea82c7d6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8ae693-87df-4f0d-8e16-6bfea82c7d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BDD9A8-B436-4078-9DA7-CF668C0B6AF2}"/>
</file>

<file path=customXml/itemProps2.xml><?xml version="1.0" encoding="utf-8"?>
<ds:datastoreItem xmlns:ds="http://schemas.openxmlformats.org/officeDocument/2006/customXml" ds:itemID="{1577B776-54F1-41FA-81DF-701449DC00C7}"/>
</file>

<file path=customXml/itemProps3.xml><?xml version="1.0" encoding="utf-8"?>
<ds:datastoreItem xmlns:ds="http://schemas.openxmlformats.org/officeDocument/2006/customXml" ds:itemID="{55DF9D23-6719-4B65-BBE6-C1A27662D212}"/>
</file>

<file path=docProps/app.xml><?xml version="1.0" encoding="utf-8"?>
<Properties xmlns="http://schemas.openxmlformats.org/officeDocument/2006/extended-properties" xmlns:vt="http://schemas.openxmlformats.org/officeDocument/2006/docPropsVTypes">
  <Template>Tannenbaum</Template>
  <TotalTime>17216</TotalTime>
  <Words>2936</Words>
  <Application>Microsoft Office PowerPoint</Application>
  <PresentationFormat>On-screen Show (4:3)</PresentationFormat>
  <Paragraphs>215</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Roboto</vt:lpstr>
      <vt:lpstr>Times New Roman</vt:lpstr>
      <vt:lpstr>Tannenbaum</vt:lpstr>
      <vt:lpstr>MAC Medium Access Control</vt:lpstr>
      <vt:lpstr>Classic Ethernet</vt:lpstr>
      <vt:lpstr>Ethernet Frame</vt:lpstr>
      <vt:lpstr>Collision Detection – CSMA/CD</vt:lpstr>
      <vt:lpstr>The Binary-Exponential Backoff Algorithm</vt:lpstr>
      <vt:lpstr>Slot Time and Minimum Frame Size</vt:lpstr>
      <vt:lpstr>Performance analysis preliminary: ALOHA model</vt:lpstr>
      <vt:lpstr>performance analysis based on ALOHA model</vt:lpstr>
      <vt:lpstr>Fast Ethernet (100Mbps) and Switched Ethernet </vt:lpstr>
      <vt:lpstr>Gigabit Ethernet</vt:lpstr>
      <vt:lpstr>Ethernet – versions, namings…</vt:lpstr>
      <vt:lpstr>Fast Ethernet</vt:lpstr>
      <vt:lpstr>Encoding schemes in Ethernet</vt:lpstr>
      <vt:lpstr>Switches and Bridges </vt:lpstr>
      <vt:lpstr>Spanning Tree Algorithm (sections 3.1, 3.1.1)</vt:lpstr>
      <vt:lpstr>VLAN</vt:lpstr>
      <vt:lpstr>Other LAN technologies</vt:lpstr>
      <vt:lpstr>Virtual Circuit Networks, including ATM</vt:lpstr>
      <vt:lpstr>Recommended Reading</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Medium Access Sublayer</dc:title>
  <dc:creator>Steve Armstrong</dc:creator>
  <cp:lastModifiedBy>Amjad H</cp:lastModifiedBy>
  <cp:revision>493</cp:revision>
  <dcterms:created xsi:type="dcterms:W3CDTF">2002-07-09T13:17:57Z</dcterms:created>
  <dcterms:modified xsi:type="dcterms:W3CDTF">2021-10-27T07:30:39Z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0x010100BA7C47E07CC777449EAA765308A46E62</vt:lpwstr>
  </property>
</Properties>
</file>