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19"/>
    <p:sldId id="257" r:id="rId3"/>
    <p:sldId id="267" r:id="rId20"/>
    <p:sldId id="258" r:id="rId4"/>
    <p:sldId id="268" r:id="rId21"/>
    <p:sldId id="259" r:id="rId5"/>
    <p:sldId id="269" r:id="rId22"/>
    <p:sldId id="260" r:id="rId6"/>
    <p:sldId id="270" r:id="rId23"/>
    <p:sldId id="262" r:id="rId7"/>
    <p:sldId id="261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customXml" Target="../customXml/item1.xml"/><Relationship Id="rId17" Type="http://schemas.openxmlformats.org/officeDocument/2006/relationships/customXml" Target="../customXml/item2.xml"/><Relationship Id="rId18" Type="http://schemas.openxmlformats.org/officeDocument/2006/relationships/customXml" Target="../customXml/item3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Functional 	Programming and lambda expressions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LAB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44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7339" y="81190"/>
            <a:ext cx="9905998" cy="1002892"/>
          </a:xfrm>
        </p:spPr>
        <p:txBody>
          <a:bodyPr/>
          <a:lstStyle/>
          <a:p>
            <a:r>
              <a:rPr lang="en-US" dirty="0"/>
              <a:t>What is functional programming?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1216" y="942680"/>
            <a:ext cx="940795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is a declarative style of programming rather than imperative, which means it focuses on </a:t>
            </a:r>
            <a:r>
              <a:rPr lang="en-US" b="1" u="sng" dirty="0"/>
              <a:t>what the program has to achieve </a:t>
            </a:r>
            <a:r>
              <a:rPr lang="en-US" b="1" dirty="0"/>
              <a:t>rather than how it should achieve it.</a:t>
            </a:r>
            <a:r>
              <a:rPr lang="en-US" dirty="0"/>
              <a:t> Functional programming in Java can help us write </a:t>
            </a:r>
            <a:r>
              <a:rPr lang="en-US" b="1" dirty="0"/>
              <a:t>code that is more concise, less complex, more predictable</a:t>
            </a:r>
            <a:r>
              <a:rPr lang="en-US" dirty="0"/>
              <a:t>, and </a:t>
            </a:r>
            <a:r>
              <a:rPr lang="en-US" b="1" dirty="0"/>
              <a:t>easier to </a:t>
            </a:r>
            <a:r>
              <a:rPr lang="en-US" b="1" dirty="0" smtClean="0"/>
              <a:t>test</a:t>
            </a:r>
            <a:r>
              <a:rPr lang="en-US" dirty="0" smtClean="0"/>
              <a:t>. </a:t>
            </a:r>
          </a:p>
          <a:p>
            <a:r>
              <a:rPr lang="en-US" dirty="0" smtClean="0"/>
              <a:t>It </a:t>
            </a:r>
            <a:r>
              <a:rPr lang="en-US" dirty="0"/>
              <a:t>can also help us avoid some common problems, such as null pointer exceptions, concurrency issues, and mutable state.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Java is not a pure functional programming language, but it supports some functional programming features since Java 8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Java </a:t>
            </a:r>
            <a:r>
              <a:rPr lang="en-US" dirty="0"/>
              <a:t>introduced </a:t>
            </a:r>
            <a: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lambda </a:t>
            </a:r>
            <a:r>
              <a:rPr lang="en-US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expressions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Another </a:t>
            </a:r>
            <a:r>
              <a:rPr lang="en-US" dirty="0"/>
              <a:t>feature </a:t>
            </a:r>
            <a:r>
              <a:rPr lang="en-US" dirty="0" smtClean="0"/>
              <a:t>of Java that supports </a:t>
            </a:r>
            <a:r>
              <a:rPr lang="en-US" dirty="0"/>
              <a:t>functional programming is the </a:t>
            </a:r>
            <a: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Stream API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, </a:t>
            </a:r>
            <a:r>
              <a:rPr lang="en-US" dirty="0"/>
              <a:t>which provides a way to process collections of data in a declarative and functional way. </a:t>
            </a:r>
            <a:endParaRPr lang="en-US" dirty="0" smtClean="0"/>
          </a:p>
          <a:p>
            <a:r>
              <a:rPr lang="en-US" dirty="0" smtClean="0"/>
              <a:t>Streams </a:t>
            </a:r>
            <a:r>
              <a:rPr lang="en-US" dirty="0"/>
              <a:t>are sequences of elements that can be transformed by applying intermediate operations, such as filter, map, or reduce, and then terminated by a terminal operation, such as collect, count, or </a:t>
            </a:r>
            <a:r>
              <a:rPr lang="en-US" dirty="0" err="1"/>
              <a:t>forEach</a:t>
            </a:r>
            <a:r>
              <a:rPr lang="en-US" dirty="0"/>
              <a:t>. Streams can also be processed in parallel, which can improve the performance of the </a:t>
            </a:r>
            <a:r>
              <a:rPr lang="en-US" dirty="0" smtClean="0"/>
              <a:t>program.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691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840" y="90617"/>
            <a:ext cx="9905998" cy="66352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Lambdas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48413" y="728983"/>
            <a:ext cx="111236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Lambdas </a:t>
            </a:r>
            <a:r>
              <a:rPr lang="en-US" dirty="0"/>
              <a:t>are 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anonymous functions </a:t>
            </a:r>
            <a:r>
              <a:rPr lang="en-US" dirty="0"/>
              <a:t>that can be passed as arguments, returned from methods, or stored in variables. </a:t>
            </a:r>
          </a:p>
          <a:p>
            <a:r>
              <a:rPr lang="en-US" u="sng" dirty="0" smtClean="0"/>
              <a:t>Lambda </a:t>
            </a:r>
            <a:r>
              <a:rPr lang="en-US" u="sng" dirty="0"/>
              <a:t>expressions work with functional </a:t>
            </a:r>
            <a:r>
              <a:rPr lang="en-US" u="sng" dirty="0" smtClean="0"/>
              <a:t>interfaces.</a:t>
            </a:r>
          </a:p>
          <a:p>
            <a:r>
              <a:rPr lang="en-US" u="sng" dirty="0" smtClean="0"/>
              <a:t>A functional interface has </a:t>
            </a:r>
            <a:r>
              <a:rPr lang="en-US" u="sng" dirty="0"/>
              <a:t>only one abstract method. </a:t>
            </a:r>
            <a:endParaRPr lang="en-US" u="sng" dirty="0" smtClean="0"/>
          </a:p>
          <a:p>
            <a:r>
              <a:rPr lang="en-US" dirty="0" smtClean="0"/>
              <a:t>Java uses </a:t>
            </a:r>
            <a:r>
              <a:rPr lang="en-US" dirty="0"/>
              <a:t>some built-in functional interfaces, such as Predicate, Function, Consumer, and Supplier, in the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java.util.function</a:t>
            </a:r>
            <a:r>
              <a:rPr lang="en-US" dirty="0"/>
              <a:t> </a:t>
            </a:r>
            <a:r>
              <a:rPr lang="en-US" dirty="0" smtClean="0"/>
              <a:t>package.</a:t>
            </a:r>
          </a:p>
          <a:p>
            <a:endParaRPr lang="en-US" dirty="0"/>
          </a:p>
          <a:p>
            <a:r>
              <a:rPr lang="en-US" b="1" u="sng" dirty="0"/>
              <a:t>A Lambda </a:t>
            </a:r>
            <a:r>
              <a:rPr lang="en-US" b="1" u="sng" dirty="0" smtClean="0"/>
              <a:t>expression </a:t>
            </a:r>
            <a:r>
              <a:rPr lang="en-US" b="1" u="sng" dirty="0"/>
              <a:t>has only a parameter list and a body</a:t>
            </a:r>
            <a:r>
              <a:rPr lang="en-US" dirty="0"/>
              <a:t>. The return type is always inferred based on the context. Also, make a note, Lambda expressions work in parallel with the functional interface. </a:t>
            </a:r>
            <a:endParaRPr lang="en-US" dirty="0" smtClean="0"/>
          </a:p>
          <a:p>
            <a:r>
              <a:rPr lang="en-US" dirty="0" smtClean="0"/>
              <a:t>Lambda Expression is a </a:t>
            </a:r>
            <a:r>
              <a:rPr lang="en-US" dirty="0"/>
              <a:t>short block of code that accepts input as parameters and returns a resultant value.</a:t>
            </a:r>
          </a:p>
          <a:p>
            <a:r>
              <a:rPr lang="en-US" b="1" dirty="0">
                <a:solidFill>
                  <a:schemeClr val="tx2"/>
                </a:solidFill>
              </a:rPr>
              <a:t>Creating and using lambda expressions is actually much simpler than writing a method. </a:t>
            </a:r>
            <a:r>
              <a:rPr lang="en-US" dirty="0"/>
              <a:t>One just needs to list the input parameters, if any, and the code that does what has to be done.</a:t>
            </a:r>
          </a:p>
          <a:p>
            <a:r>
              <a:rPr lang="en-US" b="1" dirty="0" smtClean="0">
                <a:solidFill>
                  <a:schemeClr val="tx2"/>
                </a:solidFill>
              </a:rPr>
              <a:t>The </a:t>
            </a:r>
            <a:r>
              <a:rPr lang="en-US" b="1" dirty="0">
                <a:solidFill>
                  <a:schemeClr val="tx2"/>
                </a:solidFill>
              </a:rPr>
              <a:t>syntax of a lambda expression is: </a:t>
            </a:r>
          </a:p>
          <a:p>
            <a:r>
              <a:rPr lang="en-US" b="1" dirty="0">
                <a:solidFill>
                  <a:schemeClr val="tx2"/>
                </a:solidFill>
              </a:rPr>
              <a:t> 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(parameter) -&gt; body</a:t>
            </a:r>
          </a:p>
        </p:txBody>
      </p:sp>
    </p:spTree>
    <p:extLst>
      <p:ext uri="{BB962C8B-B14F-4D97-AF65-F5344CB8AC3E}">
        <p14:creationId xmlns:p14="http://schemas.microsoft.com/office/powerpoint/2010/main" val="3083421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596" y="-286456"/>
            <a:ext cx="11208470" cy="1478570"/>
          </a:xfrm>
        </p:spPr>
        <p:txBody>
          <a:bodyPr/>
          <a:lstStyle/>
          <a:p>
            <a:pPr algn="ctr"/>
            <a:r>
              <a:rPr lang="en-US" dirty="0"/>
              <a:t>implement a user defined functional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82803" y="1236895"/>
            <a:ext cx="7522590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// </a:t>
            </a:r>
            <a:r>
              <a:rPr lang="en-US" dirty="0" smtClean="0"/>
              <a:t>An </a:t>
            </a:r>
            <a:r>
              <a:rPr lang="en-US" dirty="0"/>
              <a:t>interface </a:t>
            </a:r>
            <a:r>
              <a:rPr lang="en-US" dirty="0" smtClean="0"/>
              <a:t>with single </a:t>
            </a:r>
            <a:r>
              <a:rPr lang="en-US" dirty="0"/>
              <a:t>abstract method</a:t>
            </a: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</a:t>
            </a:r>
            <a:r>
              <a:rPr lang="en-US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FuncInterface</a:t>
            </a:r>
            <a:endParaRPr lang="en-US" sz="1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6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abstractFun</a:t>
            </a:r>
            <a:r>
              <a:rPr lang="en-US" sz="16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x);</a:t>
            </a:r>
          </a:p>
          <a:p>
            <a:r>
              <a:rPr lang="en-US" sz="1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 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normalFun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// A non-abstract (or default) function</a:t>
            </a:r>
          </a:p>
          <a:p>
            <a:r>
              <a:rPr lang="en-US" dirty="0"/>
              <a:t>	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("Hello");</a:t>
            </a: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271967" y="912345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Test</a:t>
            </a:r>
          </a:p>
          <a:p>
            <a:r>
              <a:rPr lang="en-US" dirty="0">
                <a:solidFill>
                  <a:schemeClr val="tx2"/>
                </a:solidFill>
              </a:rPr>
              <a:t>{</a:t>
            </a:r>
          </a:p>
          <a:p>
            <a:r>
              <a:rPr lang="en-US" dirty="0">
                <a:solidFill>
                  <a:schemeClr val="tx2"/>
                </a:solidFill>
              </a:rPr>
              <a:t>	public static void main(String </a:t>
            </a:r>
            <a:r>
              <a:rPr lang="en-US" dirty="0" err="1">
                <a:solidFill>
                  <a:schemeClr val="tx2"/>
                </a:solidFill>
              </a:rPr>
              <a:t>args</a:t>
            </a:r>
            <a:r>
              <a:rPr lang="en-US" dirty="0">
                <a:solidFill>
                  <a:schemeClr val="tx2"/>
                </a:solidFill>
              </a:rPr>
              <a:t>[])</a:t>
            </a:r>
          </a:p>
          <a:p>
            <a:r>
              <a:rPr lang="en-US" dirty="0">
                <a:solidFill>
                  <a:schemeClr val="tx2"/>
                </a:solidFill>
              </a:rPr>
              <a:t>	{</a:t>
            </a:r>
          </a:p>
          <a:p>
            <a:r>
              <a:rPr lang="en-US" dirty="0"/>
              <a:t>		// lambda expression to implement above</a:t>
            </a:r>
          </a:p>
          <a:p>
            <a:r>
              <a:rPr lang="en-US" dirty="0"/>
              <a:t>		// functional interface. This interface</a:t>
            </a:r>
          </a:p>
          <a:p>
            <a:r>
              <a:rPr lang="en-US" dirty="0"/>
              <a:t>		// by default implements </a:t>
            </a:r>
            <a:r>
              <a:rPr lang="en-US" dirty="0" err="1"/>
              <a:t>abstractFun</a:t>
            </a:r>
            <a:r>
              <a:rPr lang="en-US" dirty="0"/>
              <a:t>()</a:t>
            </a:r>
          </a:p>
          <a:p>
            <a:r>
              <a:rPr lang="en-US" dirty="0"/>
              <a:t>		</a:t>
            </a:r>
            <a:r>
              <a:rPr lang="en-US" dirty="0" err="1">
                <a:solidFill>
                  <a:schemeClr val="tx2"/>
                </a:solidFill>
              </a:rPr>
              <a:t>FuncInterface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fobj</a:t>
            </a:r>
            <a:r>
              <a:rPr lang="en-US" dirty="0">
                <a:solidFill>
                  <a:schemeClr val="tx2"/>
                </a:solidFill>
              </a:rPr>
              <a:t> = (int x)-&gt;</a:t>
            </a:r>
            <a:r>
              <a:rPr lang="en-US" dirty="0" err="1">
                <a:solidFill>
                  <a:schemeClr val="tx2"/>
                </a:solidFill>
              </a:rPr>
              <a:t>System.out.println</a:t>
            </a:r>
            <a:r>
              <a:rPr lang="en-US" dirty="0">
                <a:solidFill>
                  <a:schemeClr val="tx2"/>
                </a:solidFill>
              </a:rPr>
              <a:t>(2*x);</a:t>
            </a:r>
          </a:p>
          <a:p>
            <a:endParaRPr lang="en-US" dirty="0"/>
          </a:p>
          <a:p>
            <a:r>
              <a:rPr lang="en-US" dirty="0"/>
              <a:t>		// This calls above lambda expression and prints 10.</a:t>
            </a:r>
          </a:p>
          <a:p>
            <a:r>
              <a:rPr lang="en-US" dirty="0"/>
              <a:t>		</a:t>
            </a:r>
            <a:r>
              <a:rPr lang="en-US" dirty="0" err="1">
                <a:solidFill>
                  <a:schemeClr val="tx2"/>
                </a:solidFill>
              </a:rPr>
              <a:t>fobj.abstractFun</a:t>
            </a:r>
            <a:r>
              <a:rPr lang="en-US" dirty="0">
                <a:solidFill>
                  <a:schemeClr val="tx2"/>
                </a:solidFill>
              </a:rPr>
              <a:t>(5);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7909" y="4845377"/>
            <a:ext cx="854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2"/>
                </a:solidFill>
              </a:rPr>
              <a:t>Java lambda functions can be only used with functional interfaces.</a:t>
            </a:r>
          </a:p>
        </p:txBody>
      </p:sp>
    </p:spTree>
    <p:extLst>
      <p:ext uri="{BB962C8B-B14F-4D97-AF65-F5344CB8AC3E}">
        <p14:creationId xmlns:p14="http://schemas.microsoft.com/office/powerpoint/2010/main" val="1886506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986" y="-173334"/>
            <a:ext cx="9905998" cy="1050027"/>
          </a:xfrm>
        </p:spPr>
        <p:txBody>
          <a:bodyPr/>
          <a:lstStyle/>
          <a:p>
            <a:pPr algn="ctr"/>
            <a:r>
              <a:rPr lang="en-US" dirty="0"/>
              <a:t>Lambda Expression 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23826" y="1012365"/>
            <a:ext cx="1021865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1. Lambda Expression with Zero parameter 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-&gt; </a:t>
            </a:r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("Zero parameter lambda");</a:t>
            </a:r>
          </a:p>
          <a:p>
            <a:endParaRPr lang="en-US" dirty="0"/>
          </a:p>
          <a:p>
            <a:r>
              <a:rPr lang="en-US" dirty="0"/>
              <a:t>2. Lambda Expression with Single parameter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 -&gt; </a:t>
            </a:r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("One parameter: " + p</a:t>
            </a:r>
            <a:r>
              <a:rPr lang="en-US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Tw Cen MT" panose="020B0602020104020603" pitchFamily="34" charset="0"/>
                <a:cs typeface="Courier New" panose="02070309020205020404" pitchFamily="49" charset="0"/>
              </a:rPr>
              <a:t>3. Lambda Expression with Multiple parameters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(p1, p2) -&gt; </a:t>
            </a:r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("Multiple parameters: " + </a:t>
            </a:r>
            <a:r>
              <a:rPr lang="en-US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 + 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" + p2</a:t>
            </a:r>
            <a:r>
              <a:rPr lang="en-US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smtClean="0">
                <a:cs typeface="Courier New" panose="02070309020205020404" pitchFamily="49" charset="0"/>
              </a:rPr>
              <a:t>Regardless of how complex is the expression , lambda must immediately output a value.</a:t>
            </a:r>
            <a:endParaRPr lang="en-US" b="1" dirty="0"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080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559" y="175458"/>
            <a:ext cx="9905998" cy="682381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Lambda examples</a:t>
            </a:r>
            <a:endParaRPr 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1122559" y="989814"/>
            <a:ext cx="1040642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(List list) -&gt; </a:t>
            </a:r>
            <a:r>
              <a:rPr lang="en-US" sz="1400" b="1" dirty="0" err="1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list.isEmpty</a:t>
            </a:r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 </a:t>
            </a:r>
            <a:r>
              <a:rPr lang="en-US" sz="1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US" sz="1600" dirty="0" smtClean="0">
                <a:cs typeface="Courier New" panose="02070309020205020404" pitchFamily="49" charset="0"/>
              </a:rPr>
              <a:t>boolean expression</a:t>
            </a:r>
          </a:p>
          <a:p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-&gt; new Apple(10);  </a:t>
            </a:r>
            <a:r>
              <a:rPr lang="en-US" sz="1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US" sz="1600" dirty="0" smtClean="0">
                <a:cs typeface="Courier New" panose="02070309020205020404" pitchFamily="49" charset="0"/>
              </a:rPr>
              <a:t>creating object   </a:t>
            </a:r>
          </a:p>
          <a:p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Apple a) -&gt; {</a:t>
            </a:r>
            <a:r>
              <a:rPr lang="en-US" sz="1400" b="1" dirty="0" err="1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a.getWeight</a:t>
            </a:r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 </a:t>
            </a:r>
            <a:r>
              <a:rPr lang="en-US" sz="1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– </a:t>
            </a:r>
            <a:r>
              <a:rPr lang="en-US" sz="1600" dirty="0" smtClean="0">
                <a:cs typeface="Courier New" panose="02070309020205020404" pitchFamily="49" charset="0"/>
              </a:rPr>
              <a:t>consuming from an </a:t>
            </a:r>
            <a:r>
              <a:rPr lang="en-US" sz="1600" dirty="0">
                <a:cs typeface="Courier New" panose="02070309020205020404" pitchFamily="49" charset="0"/>
              </a:rPr>
              <a:t>object</a:t>
            </a:r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(Apple a1, Apple a2) -&gt; </a:t>
            </a: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a1.getWeight().</a:t>
            </a:r>
            <a:r>
              <a:rPr lang="en-US" sz="1400" b="1" dirty="0" err="1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compareTo</a:t>
            </a:r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(a2.getWeight()); </a:t>
            </a:r>
            <a:r>
              <a:rPr lang="en-US" sz="1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– </a:t>
            </a:r>
            <a:r>
              <a:rPr lang="en-US" sz="1600" dirty="0" smtClean="0">
                <a:cs typeface="Courier New" panose="02070309020205020404" pitchFamily="49" charset="0"/>
              </a:rPr>
              <a:t>compare two objects    </a:t>
            </a:r>
          </a:p>
          <a:p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(n) -&gt; (n%2) == 0; </a:t>
            </a:r>
            <a:r>
              <a:rPr lang="en-US" sz="1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  </a:t>
            </a:r>
            <a:r>
              <a:rPr lang="en-US" sz="1600" dirty="0" smtClean="0">
                <a:cs typeface="Courier New" panose="02070309020205020404" pitchFamily="49" charset="0"/>
              </a:rPr>
              <a:t>returns true if n is even</a:t>
            </a:r>
            <a:endParaRPr lang="en-US" sz="16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30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047999" y="1720840"/>
            <a:ext cx="723664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Addable {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add(int a, int b);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b="1" dirty="0" err="1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LambdExample</a:t>
            </a:r>
            <a:r>
              <a:rPr lang="en-US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Addable ad1 = (a, b) -&gt; (a + b);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(ad1.add(10, 20));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Addable ad2 = (int a, int b) -&gt; (a + b);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(ad2.add(100, 200));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0186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681" y="0"/>
            <a:ext cx="9905998" cy="57868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Block lambda to find out factorial of a number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518485" y="578686"/>
            <a:ext cx="990599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java.util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.*;</a:t>
            </a:r>
          </a:p>
          <a:p>
            <a:r>
              <a:rPr lang="en-US" b="1" dirty="0">
                <a:solidFill>
                  <a:srgbClr val="7F0055"/>
                </a:solidFill>
                <a:latin typeface="Courier New" panose="02070309020205020404" pitchFamily="49" charset="0"/>
              </a:rPr>
              <a:t>interface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Factor {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urier New" panose="02070309020205020404" pitchFamily="49" charset="0"/>
              </a:rPr>
              <a:t>abstract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fact(</a:t>
            </a:r>
            <a:r>
              <a:rPr lang="en-US" b="1" dirty="0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6A3E3E"/>
                </a:solidFill>
                <a:latin typeface="Courier New" panose="02070309020205020404" pitchFamily="49" charset="0"/>
              </a:rPr>
              <a:t>n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endParaRPr lang="en-US" dirty="0" smtClean="0"/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class </a:t>
            </a:r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TestFactor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 {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public static void main(String [] </a:t>
            </a:r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args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) {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Factor f = (n) -&gt; 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{ 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  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int result = 1;</a:t>
            </a:r>
          </a:p>
          <a:p>
            <a:r>
              <a:rPr lang="nn-NO" dirty="0">
                <a:solidFill>
                  <a:schemeClr val="tx2"/>
                </a:solidFill>
                <a:latin typeface="Courier New" panose="02070309020205020404" pitchFamily="49" charset="0"/>
              </a:rPr>
              <a:t>  </a:t>
            </a:r>
            <a:r>
              <a:rPr lang="nn-NO" b="1" dirty="0">
                <a:solidFill>
                  <a:schemeClr val="tx2"/>
                </a:solidFill>
                <a:latin typeface="Courier New" panose="02070309020205020404" pitchFamily="49" charset="0"/>
              </a:rPr>
              <a:t>for(int i = 1; i&lt;=n ; i++)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    result =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* result;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  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return result;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};</a:t>
            </a:r>
          </a:p>
          <a:p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</a:rPr>
              <a:t>System.</a:t>
            </a:r>
            <a:r>
              <a:rPr lang="en-US" b="1" i="1" dirty="0" err="1">
                <a:solidFill>
                  <a:schemeClr val="tx2"/>
                </a:solidFill>
                <a:latin typeface="Courier New" panose="02070309020205020404" pitchFamily="49" charset="0"/>
              </a:rPr>
              <a:t>out.println</a:t>
            </a:r>
            <a:r>
              <a:rPr lang="en-US" b="1" i="1" dirty="0">
                <a:solidFill>
                  <a:schemeClr val="tx2"/>
                </a:solidFill>
                <a:latin typeface="Courier New" panose="02070309020205020404" pitchFamily="49" charset="0"/>
              </a:rPr>
              <a:t>("Factorial of 3 is " +</a:t>
            </a:r>
            <a:r>
              <a:rPr lang="en-US" b="1" i="1" dirty="0" err="1">
                <a:solidFill>
                  <a:schemeClr val="tx2"/>
                </a:solidFill>
                <a:latin typeface="Courier New" panose="02070309020205020404" pitchFamily="49" charset="0"/>
              </a:rPr>
              <a:t>f.fact</a:t>
            </a:r>
            <a:r>
              <a:rPr lang="en-US" b="1" i="1" dirty="0">
                <a:solidFill>
                  <a:schemeClr val="tx2"/>
                </a:solidFill>
                <a:latin typeface="Courier New" panose="02070309020205020404" pitchFamily="49" charset="0"/>
              </a:rPr>
              <a:t>(3));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500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643" y="-145053"/>
            <a:ext cx="9905998" cy="1478570"/>
          </a:xfrm>
        </p:spPr>
        <p:txBody>
          <a:bodyPr/>
          <a:lstStyle/>
          <a:p>
            <a:r>
              <a:rPr lang="en-US" dirty="0" smtClean="0"/>
              <a:t>Lambda and Threads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190918" y="1212512"/>
            <a:ext cx="900888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To create a thread using Lambda Expressions in Java, we can follow the below steps:</a:t>
            </a:r>
          </a:p>
          <a:p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Create the Runnable interface reference and write the Lambda expression for the run () method.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Create a Thread class object passing the above-created reference of the Runnable interface since the start () method is defined in the Thread class its object needs to be created.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Invoke the start () method to run the thread.</a:t>
            </a:r>
          </a:p>
        </p:txBody>
      </p:sp>
    </p:spTree>
    <p:extLst>
      <p:ext uri="{BB962C8B-B14F-4D97-AF65-F5344CB8AC3E}">
        <p14:creationId xmlns:p14="http://schemas.microsoft.com/office/powerpoint/2010/main" val="3334335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9693" y="100044"/>
            <a:ext cx="9905998" cy="51269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Lambda expressions with runnable interface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238054" y="75059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 smtClean="0"/>
          </a:p>
          <a:p>
            <a:r>
              <a:rPr lang="en-US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Runnable r = () -&gt; {</a:t>
            </a:r>
          </a:p>
          <a:p>
            <a:r>
              <a:rPr lang="en-US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your code here</a:t>
            </a:r>
          </a:p>
          <a:p>
            <a:r>
              <a:rPr lang="en-US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 t = new Thread(r);</a:t>
            </a:r>
          </a:p>
          <a:p>
            <a:r>
              <a:rPr lang="en-US" b="1" dirty="0" err="1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t.start</a:t>
            </a:r>
            <a:r>
              <a:rPr lang="en-US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8054" y="353584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t = new Thread(() -&gt;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// your code here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t.start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054" y="2724346"/>
            <a:ext cx="6473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 smtClean="0"/>
              <a:t>Lambda expression with Thread interface</a:t>
            </a:r>
            <a:endParaRPr lang="en-US" sz="2000" u="sng" dirty="0"/>
          </a:p>
        </p:txBody>
      </p:sp>
      <p:sp>
        <p:nvSpPr>
          <p:cNvPr id="6" name="Rectangle 5"/>
          <p:cNvSpPr/>
          <p:nvPr/>
        </p:nvSpPr>
        <p:spPr>
          <a:xfrm>
            <a:off x="6545344" y="920132"/>
            <a:ext cx="6096000" cy="20928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// Defining an anonymous method</a:t>
            </a:r>
          </a:p>
          <a:p>
            <a:r>
              <a:rPr lang="en-US" sz="16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Runnable r = new Runnable() {</a:t>
            </a:r>
          </a:p>
          <a:p>
            <a:r>
              <a:rPr lang="en-US" sz="16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public void run()</a:t>
            </a:r>
          </a:p>
          <a:p>
            <a:r>
              <a:rPr lang="en-US" sz="16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</a:p>
          <a:p>
            <a:r>
              <a:rPr lang="en-US" sz="1600" b="1" dirty="0" err="1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6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6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Running in Runnable thread");</a:t>
            </a:r>
          </a:p>
          <a:p>
            <a:r>
              <a:rPr lang="en-US" sz="16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r>
              <a:rPr lang="en-US" sz="16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};</a:t>
            </a:r>
          </a:p>
        </p:txBody>
      </p:sp>
      <p:sp>
        <p:nvSpPr>
          <p:cNvPr id="7" name="Rectangle 6"/>
          <p:cNvSpPr/>
          <p:nvPr/>
        </p:nvSpPr>
        <p:spPr>
          <a:xfrm>
            <a:off x="6042581" y="3639847"/>
            <a:ext cx="60520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Runnable </a:t>
            </a:r>
            <a:r>
              <a:rPr lang="en-US" dirty="0" smtClean="0"/>
              <a:t>r </a:t>
            </a:r>
            <a:r>
              <a:rPr lang="en-US" dirty="0"/>
              <a:t>= </a:t>
            </a:r>
            <a:r>
              <a:rPr lang="en-US" dirty="0" smtClean="0"/>
              <a:t>() -&gt; </a:t>
            </a:r>
            <a:r>
              <a:rPr lang="en-US" dirty="0" err="1"/>
              <a:t>System.out.println</a:t>
            </a:r>
            <a:r>
              <a:rPr lang="en-US" dirty="0" smtClean="0"/>
              <a:t>( </a:t>
            </a:r>
            <a:r>
              <a:rPr lang="en-US" dirty="0"/>
              <a:t>"Running in Runnable </a:t>
            </a:r>
            <a:r>
              <a:rPr lang="en-US" dirty="0" smtClean="0"/>
              <a:t>    thread</a:t>
            </a:r>
            <a:r>
              <a:rPr lang="en-US" dirty="0"/>
              <a:t>");</a:t>
            </a:r>
          </a:p>
          <a:p>
            <a:r>
              <a:rPr lang="en-US" dirty="0"/>
              <a:t> </a:t>
            </a:r>
          </a:p>
        </p:txBody>
      </p:sp>
      <p:sp>
        <p:nvSpPr>
          <p:cNvPr id="8" name="Down Arrow 7"/>
          <p:cNvSpPr/>
          <p:nvPr/>
        </p:nvSpPr>
        <p:spPr>
          <a:xfrm>
            <a:off x="8427563" y="3228456"/>
            <a:ext cx="650449" cy="4113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92857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JOIN SESSION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8442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Session code: ________</a:t>
            </a:r>
            <a:br/>
            <a:br/>
            <a:r>
              <a:t>Join link:</a:t>
            </a:r>
            <a:br/>
            <a:r>
              <a:t>________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9448800" y="105156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600" b="1">
                <a:solidFill>
                  <a:srgbClr val="167784"/>
                </a:solidFill>
              </a:defRPr>
            </a:pPr>
            <a:r>
              <a:t>QR code</a:t>
            </a:r>
            <a:br/>
            <a:r>
              <a:t>placeholder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Remember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72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option best explains the impact of this slide's idea: It is a declarative style of programming rather than imperative, which means it focuses on.?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It is a declarative style of programming rather than imperative, which means it focuses on what the program has to achieve rather than how it should achieve it. Functional.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584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Lambdas are anonymous functions that can be passed as arguments, returned from methods, or stored in variables. Lambda.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// An interface with single abstract method interface FuncInterface void abstractFun(int x); default void normalFun().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584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1. Lambda Expression with Zero parameter () -&gt; System.out.println("Zero parameter lambda"); 2. Lambda Expression with.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728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Understand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72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What is functional programming?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Lambdas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584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Functional Interfaces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Predicate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584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728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Analyze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72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option best explains the impact of this slide's idea: // An interface with single abstract method interface FuncInterface void abstractFun(int x).?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It is a declarative style of programming rather than imperative, which means it focuses on what the program has to achieve rather than how it should achieve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584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Lambdas are anonymous functions that can be passed as arguments, returned from methods, or stored in variables. Lambda expressions work with functional interfaces.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A functional interface has only one abstract method.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584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// An interface with single abstract method interface FuncInterface void abstractFun(int x); default void normalFun() // A non-abstract (or default) function.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728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Evaluate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72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How could the idea that 1. Lambda Expression with Zero parameter () -&gt; System.out.println("Zero parameter lambda"); 2. influence a learner's or customer's next action?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728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800" b="1">
                <a:solidFill>
                  <a:srgbClr val="167784"/>
                </a:solidFill>
              </a:defRPr>
            </a:pPr>
            <a:r>
              <a:t>Write your short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FF412DD958E9469EE1990C3E364827" ma:contentTypeVersion="7" ma:contentTypeDescription="Create a new document." ma:contentTypeScope="" ma:versionID="bf395776e210367bb5f288536ed6ea71">
  <xsd:schema xmlns:xsd="http://www.w3.org/2001/XMLSchema" xmlns:xs="http://www.w3.org/2001/XMLSchema" xmlns:p="http://schemas.microsoft.com/office/2006/metadata/properties" xmlns:ns2="f73690d4-9b7a-4c2e-8976-fd68f6f8291d" targetNamespace="http://schemas.microsoft.com/office/2006/metadata/properties" ma:root="true" ma:fieldsID="f97aba483c180e307a498f8a40537bee" ns2:_="">
    <xsd:import namespace="f73690d4-9b7a-4c2e-8976-fd68f6f829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3690d4-9b7a-4c2e-8976-fd68f6f829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9A012C-CCAA-474C-AF9A-2D6E1BCE20E0}"/>
</file>

<file path=customXml/itemProps2.xml><?xml version="1.0" encoding="utf-8"?>
<ds:datastoreItem xmlns:ds="http://schemas.openxmlformats.org/officeDocument/2006/customXml" ds:itemID="{5487FCB1-2928-4866-ACCD-57DB49462D96}"/>
</file>

<file path=customXml/itemProps3.xml><?xml version="1.0" encoding="utf-8"?>
<ds:datastoreItem xmlns:ds="http://schemas.openxmlformats.org/officeDocument/2006/customXml" ds:itemID="{5667F9B7-AF92-4A66-A2A2-E5B9A67B9E57}"/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237</TotalTime>
  <Words>883</Words>
  <Application>Microsoft Office PowerPoint</Application>
  <PresentationFormat>Widescreen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Courier New</vt:lpstr>
      <vt:lpstr>Trebuchet MS</vt:lpstr>
      <vt:lpstr>Tw Cen MT</vt:lpstr>
      <vt:lpstr>Circuit</vt:lpstr>
      <vt:lpstr>Functional  Programming and lambda expressions</vt:lpstr>
      <vt:lpstr>What is functional programming? </vt:lpstr>
      <vt:lpstr> Lambdas </vt:lpstr>
      <vt:lpstr>implement a user defined functional interface</vt:lpstr>
      <vt:lpstr>Lambda Expression Parameters</vt:lpstr>
      <vt:lpstr>Lambda examples</vt:lpstr>
      <vt:lpstr>Example</vt:lpstr>
      <vt:lpstr>Block lambda to find out factorial of a number</vt:lpstr>
      <vt:lpstr>Lambda and Threads</vt:lpstr>
      <vt:lpstr>Lambda expressions with runnable interface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 Programming and lambda expressions</dc:title>
  <dc:creator>yoli beremska</dc:creator>
  <cp:lastModifiedBy>yoli beremska</cp:lastModifiedBy>
  <cp:revision>19</cp:revision>
  <dcterms:created xsi:type="dcterms:W3CDTF">2023-12-16T07:05:01Z</dcterms:created>
  <dcterms:modified xsi:type="dcterms:W3CDTF">2023-12-20T10:17:29Z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0x010100BFFF412DD958E9469EE1990C3E364827</vt:lpwstr>
  </property>
</Properties>
</file>