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sldIdLst>
    <p:sldId id="256" r:id="rId2"/>
    <p:sldId id="310" r:id="rId28"/>
    <p:sldId id="289" r:id="rId3"/>
    <p:sldId id="290" r:id="rId4"/>
    <p:sldId id="311" r:id="rId29"/>
    <p:sldId id="291" r:id="rId5"/>
    <p:sldId id="292" r:id="rId6"/>
    <p:sldId id="312" r:id="rId30"/>
    <p:sldId id="294" r:id="rId7"/>
    <p:sldId id="295" r:id="rId8"/>
    <p:sldId id="313" r:id="rId31"/>
    <p:sldId id="296" r:id="rId9"/>
    <p:sldId id="298" r:id="rId10"/>
    <p:sldId id="314" r:id="rId32"/>
    <p:sldId id="297" r:id="rId11"/>
    <p:sldId id="300" r:id="rId12"/>
    <p:sldId id="306" r:id="rId13"/>
    <p:sldId id="299" r:id="rId14"/>
    <p:sldId id="302" r:id="rId15"/>
    <p:sldId id="303" r:id="rId16"/>
    <p:sldId id="304" r:id="rId17"/>
    <p:sldId id="307" r:id="rId18"/>
    <p:sldId id="308" r:id="rId19"/>
    <p:sldId id="293" r:id="rId20"/>
    <p:sldId id="309" r:id="rId21"/>
    <p:sldId id="305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9" autoAdjust="0"/>
    <p:restoredTop sz="94129" autoAdjust="0"/>
  </p:normalViewPr>
  <p:slideViewPr>
    <p:cSldViewPr snapToGrid="0">
      <p:cViewPr varScale="1">
        <p:scale>
          <a:sx n="77" d="100"/>
          <a:sy n="77" d="100"/>
        </p:scale>
        <p:origin x="828" y="-7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720C2-41A8-45E2-943F-0AC6C0E100BC}" type="datetimeFigureOut">
              <a:rPr lang="en-US" smtClean="0"/>
              <a:t>3/19/2023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3E0FB-FAE6-4D5F-8D41-832AD372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8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16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4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44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710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6F052-5D03-45E5-8BE8-61E7430135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02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64218-7EE4-46FF-BCD7-54CB773C4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7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E630F-1BC8-448E-9EFB-8829601D1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3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06DC3-ED2A-4816-8C0E-FECB467BA0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4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C6228-209D-43EF-ABA7-CFD79B704E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2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9BA5D-A29F-46E7-B5FD-A5CAFF9B47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0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E8C73-57F6-424D-912F-DA7BDC799A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3AD92-7C3F-437A-96DF-4322B2670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7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A7712-7E42-41FD-A97C-6FE6D7491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2463D-4522-4912-844A-5D40D4B3E6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1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92B3F-3498-4669-9FBE-E3C2259126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924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36B60FF2-1946-45AF-9DAF-B4D9C0304C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609600" indent="-609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AutoNum type="alphaLcParenR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image" Target="../media/image7.emf"/><Relationship Id="rId4" Type="http://schemas.openxmlformats.org/officeDocument/2006/relationships/image" Target="../media/image8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emf"/><Relationship Id="rId4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79437"/>
            <a:ext cx="9143999" cy="44257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002060"/>
                </a:solidFill>
              </a:rPr>
              <a:t>Chapter 12</a:t>
            </a:r>
          </a:p>
          <a:p>
            <a:pPr eaLnBrk="1" hangingPunct="1"/>
            <a:endParaRPr lang="en-US" altLang="en-US" sz="4000" dirty="0">
              <a:solidFill>
                <a:srgbClr val="FF3300"/>
              </a:solidFill>
            </a:endParaRPr>
          </a:p>
          <a:p>
            <a:pPr eaLnBrk="1" hangingPunct="1"/>
            <a:endParaRPr lang="en-US" altLang="en-US" sz="1800" dirty="0"/>
          </a:p>
          <a:p>
            <a:pPr lvl="0" eaLnBrk="1" hangingPunct="1">
              <a:buClr>
                <a:srgbClr val="3333CC"/>
              </a:buClr>
            </a:pPr>
            <a:r>
              <a:rPr lang="en-US" altLang="en-US" sz="5400" b="1" dirty="0">
                <a:solidFill>
                  <a:srgbClr val="FF3300"/>
                </a:solidFill>
              </a:rPr>
              <a:t>Transport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8689" y="3778604"/>
            <a:ext cx="7772400" cy="1470025"/>
          </a:xfrm>
        </p:spPr>
        <p:txBody>
          <a:bodyPr/>
          <a:lstStyle/>
          <a:p>
            <a:r>
              <a:rPr lang="en-US" dirty="0"/>
              <a:t>TCP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Transport: the first end-to-end layer</a:t>
            </a:r>
          </a:p>
        </p:txBody>
      </p:sp>
      <p:pic>
        <p:nvPicPr>
          <p:cNvPr id="4099" name="Picture 5" descr="6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566863"/>
            <a:ext cx="7221538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099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Transport Protocol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6788" y="4419600"/>
            <a:ext cx="8177212" cy="1755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(a)</a:t>
            </a:r>
            <a:r>
              <a:rPr lang="en-US" altLang="en-US"/>
              <a:t> Environment of the data link layer.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(b)</a:t>
            </a:r>
            <a:r>
              <a:rPr lang="en-US" altLang="en-US"/>
              <a:t> Environment of the transport layer.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Some similarity, but much different environments!</a:t>
            </a:r>
          </a:p>
        </p:txBody>
      </p:sp>
      <p:pic>
        <p:nvPicPr>
          <p:cNvPr id="5124" name="Picture 5" descr="6-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809750"/>
            <a:ext cx="8412163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553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TPDU: The Segment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/>
              <a:t>The nesting of segments, packets, and frames.</a:t>
            </a:r>
          </a:p>
        </p:txBody>
      </p:sp>
      <p:pic>
        <p:nvPicPr>
          <p:cNvPr id="6148" name="Picture 5" descr="6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2171700"/>
            <a:ext cx="84232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68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The Transport Layer</a:t>
            </a:r>
            <a:br>
              <a:rPr lang="en-US" altLang="en-US" sz="4000"/>
            </a:br>
            <a:endParaRPr lang="en-US" altLang="en-US" sz="400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7645"/>
            <a:ext cx="9144000" cy="5785556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sz="2800" dirty="0"/>
              <a:t>Services provided to upper layers (applications)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Interface between software apps and the network infrastructure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Addressing applications and services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API for application programmers (i.e. Sockets API)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Simplifying network complexity</a:t>
            </a:r>
          </a:p>
          <a:p>
            <a:pPr lvl="1" eaLnBrk="1" hangingPunct="1">
              <a:buFontTx/>
              <a:buChar char="•"/>
            </a:pPr>
            <a:endParaRPr lang="en-US" altLang="en-US" dirty="0"/>
          </a:p>
          <a:p>
            <a:pPr eaLnBrk="1" hangingPunct="1">
              <a:buFontTx/>
              <a:buChar char="•"/>
            </a:pPr>
            <a:r>
              <a:rPr lang="en-US" altLang="en-US" sz="2800" dirty="0"/>
              <a:t>Error Control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/>
              <a:t>Flow control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/>
              <a:t>Connection management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/>
              <a:t>Congestion Avoidance </a:t>
            </a:r>
            <a:r>
              <a:rPr lang="en-US" altLang="en-US" sz="2000" dirty="0">
                <a:solidFill>
                  <a:schemeClr val="bg1">
                    <a:lumMod val="65000"/>
                  </a:schemeClr>
                </a:solidFill>
              </a:rPr>
              <a:t>(&amp; Bandwidth management)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TCP and UDP</a:t>
            </a:r>
          </a:p>
        </p:txBody>
      </p:sp>
    </p:spTree>
    <p:extLst>
      <p:ext uri="{BB962C8B-B14F-4D97-AF65-F5344CB8AC3E}">
        <p14:creationId xmlns:p14="http://schemas.microsoft.com/office/powerpoint/2010/main" val="31551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144000" cy="60682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UDP – the datagram-oriented transport service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576945"/>
            <a:ext cx="9144000" cy="4281055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pic>
        <p:nvPicPr>
          <p:cNvPr id="21508" name="Picture 5" descr="6-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" y="777874"/>
            <a:ext cx="820737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24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assigned ports</a:t>
            </a:r>
          </a:p>
        </p:txBody>
      </p:sp>
      <p:grpSp>
        <p:nvGrpSpPr>
          <p:cNvPr id="13315" name="Group 39"/>
          <p:cNvGrpSpPr>
            <a:grpSpLocks/>
          </p:cNvGrpSpPr>
          <p:nvPr/>
        </p:nvGrpSpPr>
        <p:grpSpPr bwMode="auto">
          <a:xfrm>
            <a:off x="1968500" y="2097088"/>
            <a:ext cx="6334125" cy="2641600"/>
            <a:chOff x="1192" y="1321"/>
            <a:chExt cx="3338" cy="1664"/>
          </a:xfrm>
        </p:grpSpPr>
        <p:sp>
          <p:nvSpPr>
            <p:cNvPr id="13343" name="Rectangle 7"/>
            <p:cNvSpPr>
              <a:spLocks noChangeArrowheads="1"/>
            </p:cNvSpPr>
            <p:nvPr/>
          </p:nvSpPr>
          <p:spPr bwMode="auto">
            <a:xfrm>
              <a:off x="1192" y="1321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4" name="Rectangle 8"/>
            <p:cNvSpPr>
              <a:spLocks noChangeArrowheads="1"/>
            </p:cNvSpPr>
            <p:nvPr/>
          </p:nvSpPr>
          <p:spPr bwMode="auto">
            <a:xfrm>
              <a:off x="1707" y="1321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5" name="Rectangle 9"/>
            <p:cNvSpPr>
              <a:spLocks noChangeArrowheads="1"/>
            </p:cNvSpPr>
            <p:nvPr/>
          </p:nvSpPr>
          <p:spPr bwMode="auto">
            <a:xfrm>
              <a:off x="2592" y="1321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6" name="Rectangle 10"/>
            <p:cNvSpPr>
              <a:spLocks noChangeArrowheads="1"/>
            </p:cNvSpPr>
            <p:nvPr/>
          </p:nvSpPr>
          <p:spPr bwMode="auto">
            <a:xfrm>
              <a:off x="1192" y="1506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7" name="Rectangle 11"/>
            <p:cNvSpPr>
              <a:spLocks noChangeArrowheads="1"/>
            </p:cNvSpPr>
            <p:nvPr/>
          </p:nvSpPr>
          <p:spPr bwMode="auto">
            <a:xfrm>
              <a:off x="1707" y="1506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8" name="Rectangle 12"/>
            <p:cNvSpPr>
              <a:spLocks noChangeArrowheads="1"/>
            </p:cNvSpPr>
            <p:nvPr/>
          </p:nvSpPr>
          <p:spPr bwMode="auto">
            <a:xfrm>
              <a:off x="2592" y="1506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3349" name="Group 24"/>
            <p:cNvGrpSpPr>
              <a:grpSpLocks/>
            </p:cNvGrpSpPr>
            <p:nvPr/>
          </p:nvGrpSpPr>
          <p:grpSpPr bwMode="auto">
            <a:xfrm>
              <a:off x="1192" y="1691"/>
              <a:ext cx="3338" cy="185"/>
              <a:chOff x="1288" y="1865"/>
              <a:chExt cx="3338" cy="185"/>
            </a:xfrm>
          </p:grpSpPr>
          <p:sp>
            <p:nvSpPr>
              <p:cNvPr id="13372" name="Rectangle 13"/>
              <p:cNvSpPr>
                <a:spLocks noChangeArrowheads="1"/>
              </p:cNvSpPr>
              <p:nvPr/>
            </p:nvSpPr>
            <p:spPr bwMode="auto">
              <a:xfrm>
                <a:off x="1288" y="1865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3" name="Rectangle 14"/>
              <p:cNvSpPr>
                <a:spLocks noChangeArrowheads="1"/>
              </p:cNvSpPr>
              <p:nvPr/>
            </p:nvSpPr>
            <p:spPr bwMode="auto">
              <a:xfrm>
                <a:off x="1803" y="1865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4" name="Rectangle 15"/>
              <p:cNvSpPr>
                <a:spLocks noChangeArrowheads="1"/>
              </p:cNvSpPr>
              <p:nvPr/>
            </p:nvSpPr>
            <p:spPr bwMode="auto">
              <a:xfrm>
                <a:off x="2688" y="1865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50" name="Group 23"/>
            <p:cNvGrpSpPr>
              <a:grpSpLocks/>
            </p:cNvGrpSpPr>
            <p:nvPr/>
          </p:nvGrpSpPr>
          <p:grpSpPr bwMode="auto">
            <a:xfrm>
              <a:off x="1192" y="1876"/>
              <a:ext cx="3338" cy="185"/>
              <a:chOff x="1384" y="1513"/>
              <a:chExt cx="3338" cy="185"/>
            </a:xfrm>
          </p:grpSpPr>
          <p:sp>
            <p:nvSpPr>
              <p:cNvPr id="13369" name="Rectangle 16"/>
              <p:cNvSpPr>
                <a:spLocks noChangeArrowheads="1"/>
              </p:cNvSpPr>
              <p:nvPr/>
            </p:nvSpPr>
            <p:spPr bwMode="auto">
              <a:xfrm>
                <a:off x="1384" y="1513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0" name="Rectangle 17"/>
              <p:cNvSpPr>
                <a:spLocks noChangeArrowheads="1"/>
              </p:cNvSpPr>
              <p:nvPr/>
            </p:nvSpPr>
            <p:spPr bwMode="auto">
              <a:xfrm>
                <a:off x="1899" y="1513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1" name="Rectangle 18"/>
              <p:cNvSpPr>
                <a:spLocks noChangeArrowheads="1"/>
              </p:cNvSpPr>
              <p:nvPr/>
            </p:nvSpPr>
            <p:spPr bwMode="auto">
              <a:xfrm>
                <a:off x="2784" y="1513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51" name="Group 22"/>
            <p:cNvGrpSpPr>
              <a:grpSpLocks/>
            </p:cNvGrpSpPr>
            <p:nvPr/>
          </p:nvGrpSpPr>
          <p:grpSpPr bwMode="auto">
            <a:xfrm>
              <a:off x="1192" y="2061"/>
              <a:ext cx="3338" cy="185"/>
              <a:chOff x="1480" y="1609"/>
              <a:chExt cx="3338" cy="185"/>
            </a:xfrm>
          </p:grpSpPr>
          <p:sp>
            <p:nvSpPr>
              <p:cNvPr id="13366" name="Rectangle 19"/>
              <p:cNvSpPr>
                <a:spLocks noChangeArrowheads="1"/>
              </p:cNvSpPr>
              <p:nvPr/>
            </p:nvSpPr>
            <p:spPr bwMode="auto">
              <a:xfrm>
                <a:off x="1480" y="1609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7" name="Rectangle 20"/>
              <p:cNvSpPr>
                <a:spLocks noChangeArrowheads="1"/>
              </p:cNvSpPr>
              <p:nvPr/>
            </p:nvSpPr>
            <p:spPr bwMode="auto">
              <a:xfrm>
                <a:off x="1995" y="1609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8" name="Rectangle 21"/>
              <p:cNvSpPr>
                <a:spLocks noChangeArrowheads="1"/>
              </p:cNvSpPr>
              <p:nvPr/>
            </p:nvSpPr>
            <p:spPr bwMode="auto">
              <a:xfrm>
                <a:off x="2880" y="1609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52" name="Rectangle 25"/>
            <p:cNvSpPr>
              <a:spLocks noChangeArrowheads="1"/>
            </p:cNvSpPr>
            <p:nvPr/>
          </p:nvSpPr>
          <p:spPr bwMode="auto">
            <a:xfrm>
              <a:off x="1192" y="2245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3" name="Rectangle 26"/>
            <p:cNvSpPr>
              <a:spLocks noChangeArrowheads="1"/>
            </p:cNvSpPr>
            <p:nvPr/>
          </p:nvSpPr>
          <p:spPr bwMode="auto">
            <a:xfrm>
              <a:off x="1707" y="2245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4" name="Rectangle 27"/>
            <p:cNvSpPr>
              <a:spLocks noChangeArrowheads="1"/>
            </p:cNvSpPr>
            <p:nvPr/>
          </p:nvSpPr>
          <p:spPr bwMode="auto">
            <a:xfrm>
              <a:off x="2592" y="2245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5" name="Rectangle 28"/>
            <p:cNvSpPr>
              <a:spLocks noChangeArrowheads="1"/>
            </p:cNvSpPr>
            <p:nvPr/>
          </p:nvSpPr>
          <p:spPr bwMode="auto">
            <a:xfrm>
              <a:off x="1192" y="2430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6" name="Rectangle 29"/>
            <p:cNvSpPr>
              <a:spLocks noChangeArrowheads="1"/>
            </p:cNvSpPr>
            <p:nvPr/>
          </p:nvSpPr>
          <p:spPr bwMode="auto">
            <a:xfrm>
              <a:off x="1707" y="2430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7" name="Rectangle 30"/>
            <p:cNvSpPr>
              <a:spLocks noChangeArrowheads="1"/>
            </p:cNvSpPr>
            <p:nvPr/>
          </p:nvSpPr>
          <p:spPr bwMode="auto">
            <a:xfrm>
              <a:off x="2592" y="2430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3358" name="Group 31"/>
            <p:cNvGrpSpPr>
              <a:grpSpLocks/>
            </p:cNvGrpSpPr>
            <p:nvPr/>
          </p:nvGrpSpPr>
          <p:grpSpPr bwMode="auto">
            <a:xfrm>
              <a:off x="1192" y="2615"/>
              <a:ext cx="3338" cy="185"/>
              <a:chOff x="1288" y="1865"/>
              <a:chExt cx="3338" cy="185"/>
            </a:xfrm>
          </p:grpSpPr>
          <p:sp>
            <p:nvSpPr>
              <p:cNvPr id="13363" name="Rectangle 32"/>
              <p:cNvSpPr>
                <a:spLocks noChangeArrowheads="1"/>
              </p:cNvSpPr>
              <p:nvPr/>
            </p:nvSpPr>
            <p:spPr bwMode="auto">
              <a:xfrm>
                <a:off x="1288" y="1865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4" name="Rectangle 33"/>
              <p:cNvSpPr>
                <a:spLocks noChangeArrowheads="1"/>
              </p:cNvSpPr>
              <p:nvPr/>
            </p:nvSpPr>
            <p:spPr bwMode="auto">
              <a:xfrm>
                <a:off x="1803" y="1865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5" name="Rectangle 34"/>
              <p:cNvSpPr>
                <a:spLocks noChangeArrowheads="1"/>
              </p:cNvSpPr>
              <p:nvPr/>
            </p:nvSpPr>
            <p:spPr bwMode="auto">
              <a:xfrm>
                <a:off x="2688" y="1865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59" name="Group 35"/>
            <p:cNvGrpSpPr>
              <a:grpSpLocks/>
            </p:cNvGrpSpPr>
            <p:nvPr/>
          </p:nvGrpSpPr>
          <p:grpSpPr bwMode="auto">
            <a:xfrm>
              <a:off x="1192" y="2800"/>
              <a:ext cx="3338" cy="185"/>
              <a:chOff x="1384" y="1513"/>
              <a:chExt cx="3338" cy="185"/>
            </a:xfrm>
          </p:grpSpPr>
          <p:sp>
            <p:nvSpPr>
              <p:cNvPr id="13360" name="Rectangle 36"/>
              <p:cNvSpPr>
                <a:spLocks noChangeArrowheads="1"/>
              </p:cNvSpPr>
              <p:nvPr/>
            </p:nvSpPr>
            <p:spPr bwMode="auto">
              <a:xfrm>
                <a:off x="1384" y="1513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1" name="Rectangle 37"/>
              <p:cNvSpPr>
                <a:spLocks noChangeArrowheads="1"/>
              </p:cNvSpPr>
              <p:nvPr/>
            </p:nvSpPr>
            <p:spPr bwMode="auto">
              <a:xfrm>
                <a:off x="1899" y="1513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2" name="Rectangle 38"/>
              <p:cNvSpPr>
                <a:spLocks noChangeArrowheads="1"/>
              </p:cNvSpPr>
              <p:nvPr/>
            </p:nvSpPr>
            <p:spPr bwMode="auto">
              <a:xfrm>
                <a:off x="2784" y="1513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316" name="Text Box 40"/>
          <p:cNvSpPr txBox="1">
            <a:spLocks noChangeArrowheads="1"/>
          </p:cNvSpPr>
          <p:nvPr/>
        </p:nvSpPr>
        <p:spPr bwMode="auto">
          <a:xfrm>
            <a:off x="1995488" y="2044700"/>
            <a:ext cx="606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Port</a:t>
            </a:r>
          </a:p>
        </p:txBody>
      </p:sp>
      <p:sp>
        <p:nvSpPr>
          <p:cNvPr id="13317" name="Text Box 42"/>
          <p:cNvSpPr txBox="1">
            <a:spLocks noChangeArrowheads="1"/>
          </p:cNvSpPr>
          <p:nvPr/>
        </p:nvSpPr>
        <p:spPr bwMode="auto">
          <a:xfrm>
            <a:off x="3067050" y="2044700"/>
            <a:ext cx="1042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Protocol</a:t>
            </a:r>
          </a:p>
        </p:txBody>
      </p:sp>
      <p:sp>
        <p:nvSpPr>
          <p:cNvPr id="13318" name="Text Box 43"/>
          <p:cNvSpPr txBox="1">
            <a:spLocks noChangeArrowheads="1"/>
          </p:cNvSpPr>
          <p:nvPr/>
        </p:nvSpPr>
        <p:spPr bwMode="auto">
          <a:xfrm>
            <a:off x="4829175" y="2073275"/>
            <a:ext cx="579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Use</a:t>
            </a:r>
          </a:p>
        </p:txBody>
      </p:sp>
      <p:sp>
        <p:nvSpPr>
          <p:cNvPr id="13319" name="Text Box 46"/>
          <p:cNvSpPr txBox="1">
            <a:spLocks noChangeArrowheads="1"/>
          </p:cNvSpPr>
          <p:nvPr/>
        </p:nvSpPr>
        <p:spPr bwMode="auto">
          <a:xfrm>
            <a:off x="2058988" y="230663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21</a:t>
            </a:r>
          </a:p>
        </p:txBody>
      </p:sp>
      <p:sp>
        <p:nvSpPr>
          <p:cNvPr id="13320" name="Text Box 47"/>
          <p:cNvSpPr txBox="1">
            <a:spLocks noChangeArrowheads="1"/>
          </p:cNvSpPr>
          <p:nvPr/>
        </p:nvSpPr>
        <p:spPr bwMode="auto">
          <a:xfrm>
            <a:off x="3095625" y="2349500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FTP</a:t>
            </a:r>
          </a:p>
        </p:txBody>
      </p:sp>
      <p:sp>
        <p:nvSpPr>
          <p:cNvPr id="13321" name="Text Box 48"/>
          <p:cNvSpPr txBox="1">
            <a:spLocks noChangeArrowheads="1"/>
          </p:cNvSpPr>
          <p:nvPr/>
        </p:nvSpPr>
        <p:spPr bwMode="auto">
          <a:xfrm>
            <a:off x="4829175" y="2352675"/>
            <a:ext cx="1414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File transfer</a:t>
            </a:r>
          </a:p>
        </p:txBody>
      </p:sp>
      <p:sp>
        <p:nvSpPr>
          <p:cNvPr id="13322" name="Text Box 50"/>
          <p:cNvSpPr txBox="1">
            <a:spLocks noChangeArrowheads="1"/>
          </p:cNvSpPr>
          <p:nvPr/>
        </p:nvSpPr>
        <p:spPr bwMode="auto">
          <a:xfrm>
            <a:off x="2058988" y="26225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23</a:t>
            </a:r>
          </a:p>
        </p:txBody>
      </p:sp>
      <p:sp>
        <p:nvSpPr>
          <p:cNvPr id="13323" name="Text Box 51"/>
          <p:cNvSpPr txBox="1">
            <a:spLocks noChangeArrowheads="1"/>
          </p:cNvSpPr>
          <p:nvPr/>
        </p:nvSpPr>
        <p:spPr bwMode="auto">
          <a:xfrm>
            <a:off x="3103563" y="2662238"/>
            <a:ext cx="831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Telnet</a:t>
            </a:r>
          </a:p>
        </p:txBody>
      </p:sp>
      <p:sp>
        <p:nvSpPr>
          <p:cNvPr id="13324" name="Text Box 52"/>
          <p:cNvSpPr txBox="1">
            <a:spLocks noChangeArrowheads="1"/>
          </p:cNvSpPr>
          <p:nvPr/>
        </p:nvSpPr>
        <p:spPr bwMode="auto">
          <a:xfrm>
            <a:off x="4829175" y="2627313"/>
            <a:ext cx="1557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Remote login</a:t>
            </a:r>
          </a:p>
        </p:txBody>
      </p:sp>
      <p:sp>
        <p:nvSpPr>
          <p:cNvPr id="13325" name="Text Box 53"/>
          <p:cNvSpPr txBox="1">
            <a:spLocks noChangeArrowheads="1"/>
          </p:cNvSpPr>
          <p:nvPr/>
        </p:nvSpPr>
        <p:spPr bwMode="auto">
          <a:xfrm>
            <a:off x="2058988" y="29368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25</a:t>
            </a:r>
          </a:p>
        </p:txBody>
      </p:sp>
      <p:sp>
        <p:nvSpPr>
          <p:cNvPr id="13326" name="Text Box 54"/>
          <p:cNvSpPr txBox="1">
            <a:spLocks noChangeArrowheads="1"/>
          </p:cNvSpPr>
          <p:nvPr/>
        </p:nvSpPr>
        <p:spPr bwMode="auto">
          <a:xfrm>
            <a:off x="3095625" y="2943225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SMTP</a:t>
            </a:r>
          </a:p>
        </p:txBody>
      </p:sp>
      <p:sp>
        <p:nvSpPr>
          <p:cNvPr id="13327" name="Text Box 55"/>
          <p:cNvSpPr txBox="1">
            <a:spLocks noChangeArrowheads="1"/>
          </p:cNvSpPr>
          <p:nvPr/>
        </p:nvSpPr>
        <p:spPr bwMode="auto">
          <a:xfrm>
            <a:off x="4829175" y="2921000"/>
            <a:ext cx="873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E-mail</a:t>
            </a:r>
          </a:p>
        </p:txBody>
      </p:sp>
      <p:sp>
        <p:nvSpPr>
          <p:cNvPr id="13328" name="Text Box 56"/>
          <p:cNvSpPr txBox="1">
            <a:spLocks noChangeArrowheads="1"/>
          </p:cNvSpPr>
          <p:nvPr/>
        </p:nvSpPr>
        <p:spPr bwMode="auto">
          <a:xfrm>
            <a:off x="2058988" y="32162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69</a:t>
            </a:r>
          </a:p>
        </p:txBody>
      </p:sp>
      <p:sp>
        <p:nvSpPr>
          <p:cNvPr id="13329" name="Text Box 57"/>
          <p:cNvSpPr txBox="1">
            <a:spLocks noChangeArrowheads="1"/>
          </p:cNvSpPr>
          <p:nvPr/>
        </p:nvSpPr>
        <p:spPr bwMode="auto">
          <a:xfrm>
            <a:off x="3095625" y="3235325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TFTP</a:t>
            </a:r>
          </a:p>
        </p:txBody>
      </p:sp>
      <p:sp>
        <p:nvSpPr>
          <p:cNvPr id="13330" name="Text Box 58"/>
          <p:cNvSpPr txBox="1">
            <a:spLocks noChangeArrowheads="1"/>
          </p:cNvSpPr>
          <p:nvPr/>
        </p:nvSpPr>
        <p:spPr bwMode="auto">
          <a:xfrm>
            <a:off x="4829175" y="3222625"/>
            <a:ext cx="317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Trivial File Transfer Protocol</a:t>
            </a:r>
          </a:p>
        </p:txBody>
      </p:sp>
      <p:sp>
        <p:nvSpPr>
          <p:cNvPr id="13331" name="Text Box 63"/>
          <p:cNvSpPr txBox="1">
            <a:spLocks noChangeArrowheads="1"/>
          </p:cNvSpPr>
          <p:nvPr/>
        </p:nvSpPr>
        <p:spPr bwMode="auto">
          <a:xfrm>
            <a:off x="2058988" y="35671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79</a:t>
            </a:r>
          </a:p>
        </p:txBody>
      </p:sp>
      <p:sp>
        <p:nvSpPr>
          <p:cNvPr id="13332" name="Text Box 64"/>
          <p:cNvSpPr txBox="1">
            <a:spLocks noChangeArrowheads="1"/>
          </p:cNvSpPr>
          <p:nvPr/>
        </p:nvSpPr>
        <p:spPr bwMode="auto">
          <a:xfrm>
            <a:off x="3103563" y="3529013"/>
            <a:ext cx="846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Finger</a:t>
            </a:r>
          </a:p>
        </p:txBody>
      </p:sp>
      <p:sp>
        <p:nvSpPr>
          <p:cNvPr id="13333" name="Text Box 65"/>
          <p:cNvSpPr txBox="1">
            <a:spLocks noChangeArrowheads="1"/>
          </p:cNvSpPr>
          <p:nvPr/>
        </p:nvSpPr>
        <p:spPr bwMode="auto">
          <a:xfrm>
            <a:off x="4829175" y="3529013"/>
            <a:ext cx="2735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Lookup info about a user</a:t>
            </a:r>
          </a:p>
        </p:txBody>
      </p:sp>
      <p:sp>
        <p:nvSpPr>
          <p:cNvPr id="13334" name="Text Box 66"/>
          <p:cNvSpPr txBox="1">
            <a:spLocks noChangeArrowheads="1"/>
          </p:cNvSpPr>
          <p:nvPr/>
        </p:nvSpPr>
        <p:spPr bwMode="auto">
          <a:xfrm>
            <a:off x="2058988" y="38163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80</a:t>
            </a:r>
          </a:p>
        </p:txBody>
      </p:sp>
      <p:sp>
        <p:nvSpPr>
          <p:cNvPr id="13335" name="Text Box 67"/>
          <p:cNvSpPr txBox="1">
            <a:spLocks noChangeArrowheads="1"/>
          </p:cNvSpPr>
          <p:nvPr/>
        </p:nvSpPr>
        <p:spPr bwMode="auto">
          <a:xfrm>
            <a:off x="3089275" y="3860800"/>
            <a:ext cx="820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HTTP</a:t>
            </a:r>
          </a:p>
        </p:txBody>
      </p:sp>
      <p:sp>
        <p:nvSpPr>
          <p:cNvPr id="13336" name="Text Box 68"/>
          <p:cNvSpPr txBox="1">
            <a:spLocks noChangeArrowheads="1"/>
          </p:cNvSpPr>
          <p:nvPr/>
        </p:nvSpPr>
        <p:spPr bwMode="auto">
          <a:xfrm>
            <a:off x="4829175" y="3841750"/>
            <a:ext cx="1987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World Wide Web</a:t>
            </a:r>
          </a:p>
        </p:txBody>
      </p:sp>
      <p:sp>
        <p:nvSpPr>
          <p:cNvPr id="13337" name="Text Box 69"/>
          <p:cNvSpPr txBox="1">
            <a:spLocks noChangeArrowheads="1"/>
          </p:cNvSpPr>
          <p:nvPr/>
        </p:nvSpPr>
        <p:spPr bwMode="auto">
          <a:xfrm>
            <a:off x="1925638" y="4122738"/>
            <a:ext cx="56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110</a:t>
            </a:r>
          </a:p>
        </p:txBody>
      </p:sp>
      <p:sp>
        <p:nvSpPr>
          <p:cNvPr id="13338" name="Text Box 70"/>
          <p:cNvSpPr txBox="1">
            <a:spLocks noChangeArrowheads="1"/>
          </p:cNvSpPr>
          <p:nvPr/>
        </p:nvSpPr>
        <p:spPr bwMode="auto">
          <a:xfrm>
            <a:off x="3116263" y="4111625"/>
            <a:ext cx="862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POP-3</a:t>
            </a:r>
          </a:p>
        </p:txBody>
      </p:sp>
      <p:sp>
        <p:nvSpPr>
          <p:cNvPr id="13339" name="Text Box 71"/>
          <p:cNvSpPr txBox="1">
            <a:spLocks noChangeArrowheads="1"/>
          </p:cNvSpPr>
          <p:nvPr/>
        </p:nvSpPr>
        <p:spPr bwMode="auto">
          <a:xfrm>
            <a:off x="4829175" y="4127500"/>
            <a:ext cx="2393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Remote e-mail access</a:t>
            </a:r>
          </a:p>
        </p:txBody>
      </p:sp>
      <p:sp>
        <p:nvSpPr>
          <p:cNvPr id="13340" name="Text Box 72"/>
          <p:cNvSpPr txBox="1">
            <a:spLocks noChangeArrowheads="1"/>
          </p:cNvSpPr>
          <p:nvPr/>
        </p:nvSpPr>
        <p:spPr bwMode="auto">
          <a:xfrm>
            <a:off x="1925638" y="4421188"/>
            <a:ext cx="56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119</a:t>
            </a:r>
          </a:p>
        </p:txBody>
      </p:sp>
      <p:sp>
        <p:nvSpPr>
          <p:cNvPr id="13341" name="Text Box 73"/>
          <p:cNvSpPr txBox="1">
            <a:spLocks noChangeArrowheads="1"/>
          </p:cNvSpPr>
          <p:nvPr/>
        </p:nvSpPr>
        <p:spPr bwMode="auto">
          <a:xfrm>
            <a:off x="3089275" y="4424363"/>
            <a:ext cx="849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NNTP</a:t>
            </a:r>
          </a:p>
        </p:txBody>
      </p:sp>
      <p:sp>
        <p:nvSpPr>
          <p:cNvPr id="13342" name="Text Box 74"/>
          <p:cNvSpPr txBox="1">
            <a:spLocks noChangeArrowheads="1"/>
          </p:cNvSpPr>
          <p:nvPr/>
        </p:nvSpPr>
        <p:spPr bwMode="auto">
          <a:xfrm>
            <a:off x="4829175" y="4411663"/>
            <a:ext cx="174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USENET news</a:t>
            </a:r>
          </a:p>
        </p:txBody>
      </p:sp>
    </p:spTree>
    <p:extLst>
      <p:ext uri="{BB962C8B-B14F-4D97-AF65-F5344CB8AC3E}">
        <p14:creationId xmlns:p14="http://schemas.microsoft.com/office/powerpoint/2010/main" val="403728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4428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</a:t>
            </a:r>
            <a:r>
              <a:rPr lang="en-US" altLang="en-US" sz="3600" dirty="0"/>
              <a:t>: </a:t>
            </a:r>
            <a:r>
              <a:rPr lang="en-US" altLang="en-US" sz="2800" dirty="0"/>
              <a:t>The connected, reliable </a:t>
            </a:r>
            <a:r>
              <a:rPr lang="en-US" altLang="en-US" sz="3200" b="1" dirty="0"/>
              <a:t>T</a:t>
            </a:r>
            <a:r>
              <a:rPr lang="en-US" altLang="en-US" sz="3200" dirty="0"/>
              <a:t>ransport </a:t>
            </a:r>
            <a:r>
              <a:rPr lang="en-US" altLang="en-US" sz="3200" b="1" dirty="0"/>
              <a:t>C</a:t>
            </a:r>
            <a:r>
              <a:rPr lang="en-US" altLang="en-US" sz="3200" dirty="0"/>
              <a:t>ontrol </a:t>
            </a:r>
            <a:r>
              <a:rPr lang="en-US" altLang="en-US" sz="3200" b="1" dirty="0"/>
              <a:t>P</a:t>
            </a:r>
            <a:r>
              <a:rPr lang="en-US" altLang="en-US" sz="3200" dirty="0"/>
              <a:t>rotocol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644313"/>
            <a:ext cx="8033657" cy="507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7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311" y="0"/>
            <a:ext cx="9144000" cy="54186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TCP Connection management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2533" y="3208867"/>
            <a:ext cx="2664178" cy="838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sz="1800" dirty="0"/>
              <a:t>Connection establishment</a:t>
            </a:r>
          </a:p>
          <a:p>
            <a:pPr algn="ctr" eaLnBrk="1" hangingPunct="1">
              <a:buFontTx/>
              <a:buNone/>
            </a:pPr>
            <a:r>
              <a:rPr lang="en-US" altLang="en-US" sz="1800" dirty="0"/>
              <a:t>3-way handshake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42" y="876319"/>
            <a:ext cx="2081838" cy="22394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719" y="868871"/>
            <a:ext cx="2112409" cy="2359751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469466" y="3462868"/>
            <a:ext cx="3222978" cy="113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kern="0" dirty="0"/>
              <a:t>Connection Release</a:t>
            </a:r>
          </a:p>
          <a:p>
            <a:pPr marL="57150" indent="-57150" algn="ctr" eaLnBrk="1" hangingPunct="1">
              <a:buFontTx/>
              <a:buNone/>
            </a:pPr>
            <a:r>
              <a:rPr lang="en-US" altLang="en-US" sz="1800" kern="0" dirty="0"/>
              <a:t>Each direction is released separately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541" y="4153478"/>
            <a:ext cx="4249271" cy="245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7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State diagram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8" y="598311"/>
            <a:ext cx="8940802" cy="61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4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The old duplicate problem and ISN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549"/>
            <a:ext cx="9144000" cy="4255229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4854221"/>
            <a:ext cx="9144000" cy="200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>
                <a:solidFill>
                  <a:srgbClr val="002060"/>
                </a:solidFill>
              </a:rPr>
              <a:t>TIME_WAIT = 2*MSL = 60s to  avoid creating the same connection before old duplicates are surely gone.</a:t>
            </a:r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>
                <a:solidFill>
                  <a:srgbClr val="002060"/>
                </a:solidFill>
              </a:rPr>
              <a:t>ISN generated from a real-time 4</a:t>
            </a:r>
            <a:r>
              <a:rPr lang="el-GR" altLang="en-US" sz="1600" kern="0" dirty="0">
                <a:solidFill>
                  <a:srgbClr val="002060"/>
                </a:solidFill>
              </a:rPr>
              <a:t>μ</a:t>
            </a:r>
            <a:r>
              <a:rPr lang="en-US" altLang="en-US" sz="1600" kern="0" dirty="0">
                <a:solidFill>
                  <a:srgbClr val="002060"/>
                </a:solidFill>
              </a:rPr>
              <a:t>s clock. The new connection will have ISN &gt; </a:t>
            </a:r>
            <a:r>
              <a:rPr lang="en-US" altLang="en-US" sz="1600" kern="0" dirty="0" err="1">
                <a:solidFill>
                  <a:srgbClr val="002060"/>
                </a:solidFill>
              </a:rPr>
              <a:t>seq</a:t>
            </a:r>
            <a:r>
              <a:rPr lang="en-US" altLang="en-US" sz="1600" kern="0" dirty="0">
                <a:solidFill>
                  <a:srgbClr val="002060"/>
                </a:solidFill>
              </a:rPr>
              <a:t> of the old connection, unless its rate exceeds 250KB/s. In this case TIME_WAIT must be used.</a:t>
            </a:r>
          </a:p>
          <a:p>
            <a:pPr marL="0" indent="0" eaLnBrk="1" hangingPunct="1">
              <a:buNone/>
            </a:pPr>
            <a:endParaRPr lang="en-US" altLang="en-US" sz="800" kern="0" dirty="0">
              <a:solidFill>
                <a:srgbClr val="002060"/>
              </a:solidFill>
            </a:endParaRPr>
          </a:p>
          <a:p>
            <a:pPr marL="0" indent="0" eaLnBrk="1" hangingPunct="1">
              <a:buNone/>
            </a:pPr>
            <a:r>
              <a:rPr lang="en-US" altLang="en-US" sz="1600" kern="0" dirty="0">
                <a:solidFill>
                  <a:srgbClr val="002060"/>
                </a:solidFill>
              </a:rPr>
              <a:t>Some randomness is added to ISN to avoid spoofing attacks.</a:t>
            </a:r>
          </a:p>
          <a:p>
            <a:pPr marL="0" indent="0" eaLnBrk="1" hangingPunct="1">
              <a:buNone/>
            </a:pPr>
            <a:r>
              <a:rPr lang="en-US" altLang="en-US" sz="1600" b="1" kern="0" dirty="0">
                <a:solidFill>
                  <a:srgbClr val="002060"/>
                </a:solidFill>
              </a:rPr>
              <a:t>		ISN(t) = Clock(t)  + hash(ip1, port1, ip2, port2, some_fixed_number)</a:t>
            </a:r>
          </a:p>
          <a:p>
            <a:pPr marL="0" indent="0" eaLnBrk="1" hangingPunct="1">
              <a:buNone/>
            </a:pPr>
            <a:r>
              <a:rPr lang="en-US" altLang="en-US" sz="1600" kern="0" dirty="0">
                <a:solidFill>
                  <a:srgbClr val="002060"/>
                </a:solidFill>
              </a:rPr>
              <a:t>ISN(t) is not the same for all calling sockets. But still, for a given ( ip2, port2), it </a:t>
            </a:r>
            <a:r>
              <a:rPr lang="en-US" altLang="en-US" sz="1600" kern="0">
                <a:solidFill>
                  <a:srgbClr val="002060"/>
                </a:solidFill>
              </a:rPr>
              <a:t>increases each 4</a:t>
            </a:r>
            <a:r>
              <a:rPr lang="el-GR" altLang="en-US" sz="1600" kern="0" dirty="0">
                <a:solidFill>
                  <a:srgbClr val="002060"/>
                </a:solidFill>
              </a:rPr>
              <a:t>μ</a:t>
            </a:r>
            <a:r>
              <a:rPr lang="en-US" altLang="en-US" sz="1600" kern="0" dirty="0">
                <a:solidFill>
                  <a:srgbClr val="002060"/>
                </a:solidFill>
              </a:rPr>
              <a:t>s.</a:t>
            </a:r>
            <a:endParaRPr lang="en-US" altLang="en-US" sz="16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32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5155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Other topics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81378"/>
            <a:ext cx="9144000" cy="6096000"/>
          </a:xfrm>
        </p:spPr>
        <p:txBody>
          <a:bodyPr/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Path MTU Discovery </a:t>
            </a:r>
            <a:r>
              <a:rPr lang="en-US" altLang="en-US" sz="1800" dirty="0"/>
              <a:t>and </a:t>
            </a:r>
            <a:r>
              <a:rPr lang="en-US" altLang="en-US" sz="1800" b="1" dirty="0"/>
              <a:t>MSS</a:t>
            </a:r>
            <a:r>
              <a:rPr lang="en-US" altLang="en-US" sz="1800" dirty="0"/>
              <a:t> option (set in SYN packets)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TCP </a:t>
            </a:r>
            <a:r>
              <a:rPr lang="en-US" altLang="en-US" sz="1800" b="1" dirty="0" err="1"/>
              <a:t>WindowScale</a:t>
            </a:r>
            <a:r>
              <a:rPr lang="en-US" altLang="en-US" sz="1800" b="1" dirty="0"/>
              <a:t> </a:t>
            </a:r>
            <a:r>
              <a:rPr lang="en-US" altLang="en-US" sz="1800" dirty="0"/>
              <a:t>option to increase multiplicatively the scale of window updates (to accommodate large buffers and high BW*RTT situations)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Nagle’s algorithm</a:t>
            </a:r>
            <a:r>
              <a:rPr lang="en-US" altLang="en-US" sz="1800" dirty="0"/>
              <a:t> accommodates character apps such as telnet. Sender is encouraged to wait and accumulate more data in order to minimize the number of sent packets.</a:t>
            </a:r>
          </a:p>
          <a:p>
            <a:pPr marL="0" indent="0" eaLnBrk="1" hangingPunct="1">
              <a:buNone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Silly window syndrome.</a:t>
            </a:r>
            <a:r>
              <a:rPr lang="en-US" altLang="en-US" sz="1800" dirty="0"/>
              <a:t> The solution is that receiver should avoid making small window updates after window has reached zero. Rather wait until receiver app has read at least the size of a packet.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TCP Timeout and Retransmission</a:t>
            </a:r>
            <a:r>
              <a:rPr lang="en-US" altLang="en-US" sz="1800" dirty="0"/>
              <a:t>. Estimate RTT and its deviation using smoothed average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 err="1"/>
              <a:t>KeepAlive</a:t>
            </a:r>
            <a:endParaRPr lang="en-US" altLang="en-US" sz="1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TCP Timers</a:t>
            </a:r>
            <a:endParaRPr lang="en-US" altLang="en-US" sz="1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Congestion Control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696044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Window management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5381625"/>
            <a:ext cx="91440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The </a:t>
            </a:r>
            <a:r>
              <a:rPr lang="en-US" altLang="en-US" sz="1600" b="1" kern="0" dirty="0">
                <a:solidFill>
                  <a:srgbClr val="0070C0"/>
                </a:solidFill>
              </a:rPr>
              <a:t>silly window syndrome</a:t>
            </a:r>
            <a:r>
              <a:rPr lang="en-US" altLang="en-US" sz="1600" kern="0" dirty="0"/>
              <a:t> occurs when a receiving application reads data in small units (1 – 10 bytes)</a:t>
            </a:r>
          </a:p>
          <a:p>
            <a:pPr marL="0" indent="0" eaLnBrk="1" hangingPunct="1">
              <a:buNone/>
            </a:pPr>
            <a:r>
              <a:rPr lang="en-US" altLang="en-US" sz="1600" kern="0" dirty="0"/>
              <a:t>     Nagel solution: when win=0, don’t send updates until enough data has been read by app (~ a packet size)</a:t>
            </a:r>
          </a:p>
          <a:p>
            <a:pPr marL="0" indent="0" eaLnBrk="1" hangingPunct="1">
              <a:buNone/>
            </a:pPr>
            <a:endParaRPr lang="en-US" altLang="en-US" sz="700" kern="0" dirty="0"/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Similar problem when app sends small units of data (i.e. interactive apps, </a:t>
            </a:r>
            <a:r>
              <a:rPr lang="en-US" altLang="en-US" sz="1600" kern="0" dirty="0" err="1"/>
              <a:t>rsh</a:t>
            </a:r>
            <a:r>
              <a:rPr lang="en-US" altLang="en-US" sz="1600" kern="0" dirty="0"/>
              <a:t>) </a:t>
            </a:r>
          </a:p>
          <a:p>
            <a:pPr marL="0" indent="0" eaLnBrk="1" hangingPunct="1">
              <a:buNone/>
            </a:pPr>
            <a:r>
              <a:rPr lang="en-US" altLang="en-US" sz="1600" kern="0" dirty="0"/>
              <a:t>     Clark solution: buffering, wait and accumulate until either Ack comes back, or app sends enough data.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758647"/>
            <a:ext cx="3505200" cy="38957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0" y="660047"/>
            <a:ext cx="5162550" cy="44767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68881" y="4711890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kern="0" dirty="0">
                <a:solidFill>
                  <a:srgbClr val="0070C0"/>
                </a:solidFill>
              </a:rPr>
              <a:t>silly window syndrome</a:t>
            </a:r>
            <a:r>
              <a:rPr lang="en-US" altLang="en-US" kern="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3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Timeout and Retransmission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0222" y="808743"/>
            <a:ext cx="3123307" cy="165223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1800" dirty="0"/>
              <a:t>TCP Timeout is based on estimation of average and deviation of RTT, using the </a:t>
            </a:r>
            <a:r>
              <a:rPr lang="en-US" altLang="en-US" sz="1800" i="1" dirty="0"/>
              <a:t>exponential moving average</a:t>
            </a:r>
            <a:r>
              <a:rPr lang="en-US" altLang="en-US" sz="1800" dirty="0"/>
              <a:t> forecasting approach.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3502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RTO (Retransmission </a:t>
            </a:r>
            <a:r>
              <a:rPr lang="en-US" sz="1600" dirty="0" err="1">
                <a:solidFill>
                  <a:srgbClr val="002060"/>
                </a:solidFill>
                <a:latin typeface="+mj-lt"/>
              </a:rPr>
              <a:t>TimeOut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) timer used for ARQ. Based on estimation of the average and absolute deviation of RTT.. After each sample R of the round-trip time, it changes its estimation according to the EWMA (Exponential Weighted Moving Average) formula:</a:t>
            </a:r>
          </a:p>
          <a:p>
            <a:endParaRPr lang="en-US" sz="800" dirty="0">
              <a:solidFill>
                <a:srgbClr val="002060"/>
              </a:solidFill>
              <a:latin typeface="+mj-lt"/>
            </a:endParaRPr>
          </a:p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	SRTT =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α .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SRTT + (1 –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α) .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R			(average Smoothed RTT estimation)</a:t>
            </a:r>
          </a:p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	RTTVAR =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β .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RTTVAR + (1 –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β)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*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l-GR" sz="2000" b="1" dirty="0">
                <a:solidFill>
                  <a:srgbClr val="002060"/>
                </a:solidFill>
                <a:latin typeface="+mj-lt"/>
              </a:rPr>
              <a:t>|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SRTT – R  </a:t>
            </a:r>
            <a:r>
              <a:rPr lang="en-US" sz="2000" b="1" dirty="0">
                <a:solidFill>
                  <a:srgbClr val="002060"/>
                </a:solidFill>
                <a:latin typeface="+mj-lt"/>
              </a:rPr>
              <a:t>|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  	(mean absolute deviation estimation)</a:t>
            </a:r>
          </a:p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	</a:t>
            </a:r>
            <a:r>
              <a:rPr lang="en-US" sz="1600" b="1" dirty="0">
                <a:solidFill>
                  <a:srgbClr val="002060"/>
                </a:solidFill>
                <a:latin typeface="+mj-lt"/>
              </a:rPr>
              <a:t>RTO = SRTT + 4.RTTVAR</a:t>
            </a:r>
          </a:p>
          <a:p>
            <a:endParaRPr lang="en-US" sz="800" dirty="0">
              <a:solidFill>
                <a:srgbClr val="00206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+mj-lt"/>
              </a:rPr>
              <a:t>Typically 	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α = 7/8		 β = 3/4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2060"/>
                </a:solidFill>
                <a:latin typeface="+mj-lt"/>
              </a:rPr>
              <a:t>Acks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for retransmitted segments are not taken into account in this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+mj-lt"/>
              </a:rPr>
              <a:t>RTO is doubled for retransmitted segments (</a:t>
            </a:r>
            <a:r>
              <a:rPr lang="en-US" sz="1600" dirty="0" err="1">
                <a:solidFill>
                  <a:srgbClr val="002060"/>
                </a:solidFill>
                <a:latin typeface="+mj-lt"/>
              </a:rPr>
              <a:t>Karn’s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algorithm). This doubled value is set as SRTT for further estimations.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877"/>
            <a:ext cx="5283200" cy="251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26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5155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Timers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81378"/>
            <a:ext cx="9144000" cy="6096000"/>
          </a:xfrm>
        </p:spPr>
        <p:txBody>
          <a:bodyPr/>
          <a:lstStyle/>
          <a:p>
            <a:pPr marL="179388" indent="-179388" eaLnBrk="1" hangingPunct="1">
              <a:buFontTx/>
              <a:buChar char="•"/>
            </a:pPr>
            <a:r>
              <a:rPr lang="en-US" altLang="en-US" sz="1800" b="1" dirty="0"/>
              <a:t>RTO</a:t>
            </a:r>
            <a:r>
              <a:rPr lang="en-US" altLang="en-US" sz="1800" dirty="0"/>
              <a:t> (Retransmission </a:t>
            </a:r>
            <a:r>
              <a:rPr lang="en-US" altLang="en-US" sz="1800" dirty="0" err="1"/>
              <a:t>TimeOut</a:t>
            </a:r>
            <a:r>
              <a:rPr lang="en-US" altLang="en-US" sz="1800" dirty="0"/>
              <a:t>)</a:t>
            </a:r>
          </a:p>
          <a:p>
            <a:pPr marL="179388" indent="-179388" eaLnBrk="1" hangingPunct="1">
              <a:buFontTx/>
              <a:buChar char="•"/>
            </a:pPr>
            <a:endParaRPr lang="en-US" altLang="en-US" sz="9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Persistence Timer </a:t>
            </a:r>
            <a:r>
              <a:rPr lang="en-US" altLang="en-US" sz="1800" dirty="0"/>
              <a:t>is used to avoid deadlock when a window update segment is lost and the sender thinks the receiver’s window is still at zero. A sender with a zero-window will send a “window probe” when this timer expires.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9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 err="1"/>
              <a:t>Keepalive</a:t>
            </a:r>
            <a:r>
              <a:rPr lang="en-US" altLang="en-US" sz="1800" b="1" dirty="0"/>
              <a:t> Timer </a:t>
            </a:r>
            <a:r>
              <a:rPr lang="en-US" altLang="en-US" sz="1800" dirty="0"/>
              <a:t>used to signal a connection that has been idle for long time.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TIMEWAIT Timer </a:t>
            </a:r>
            <a:r>
              <a:rPr lang="en-US" altLang="en-US" sz="1800" dirty="0"/>
              <a:t>used to wait when connection is closed, before any other connection can be opened between the same two sockets. Value is </a:t>
            </a:r>
            <a:r>
              <a:rPr lang="en-US" altLang="en-US" sz="1800" b="1" dirty="0"/>
              <a:t>2*MSL</a:t>
            </a:r>
            <a:r>
              <a:rPr lang="en-US" altLang="en-US" sz="1800" dirty="0"/>
              <a:t>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827667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96711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Congestion Control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35190"/>
            <a:ext cx="9144000" cy="3451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1700" dirty="0"/>
              <a:t>Implementation techniques are used to regulate the sending rate over the network and to avoid congestion.</a:t>
            </a:r>
          </a:p>
          <a:p>
            <a:pPr marL="0" indent="0" eaLnBrk="1" hangingPunct="1">
              <a:buFontTx/>
              <a:buChar char="•"/>
            </a:pPr>
            <a:r>
              <a:rPr lang="en-US" altLang="en-US" sz="1700" dirty="0"/>
              <a:t> How is congestion detected by the transport layer?</a:t>
            </a:r>
          </a:p>
          <a:p>
            <a:pPr marL="7239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1700" dirty="0"/>
              <a:t>Explicit: Notification from the network layer (i.e. Choke packets). Routers explicitly signal sources to lower their transmission rates</a:t>
            </a:r>
          </a:p>
          <a:p>
            <a:pPr marL="7239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1700" dirty="0"/>
              <a:t>Implicit: The transport layer senses the round-trip times and packet losses and concludes about an existing congestion.</a:t>
            </a:r>
          </a:p>
          <a:p>
            <a:pPr marL="723900" lvl="1" indent="-342900" eaLnBrk="1" hangingPunct="1">
              <a:buFontTx/>
              <a:buNone/>
            </a:pPr>
            <a:endParaRPr lang="en-US" altLang="en-US" sz="1700" dirty="0"/>
          </a:p>
          <a:p>
            <a:pPr marL="0" indent="0" eaLnBrk="1" hangingPunct="1">
              <a:buClr>
                <a:srgbClr val="3333CC"/>
              </a:buClr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</a:rPr>
              <a:t> How is the rate of transmission adjusted?</a:t>
            </a:r>
          </a:p>
          <a:p>
            <a:pPr marL="723900" lvl="1" indent="-342900" eaLnBrk="1" hangingPunct="1"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rgbClr val="000000"/>
                </a:solidFill>
              </a:rPr>
              <a:t>Precise: i.e. when the network layer signal notifies the desired rate </a:t>
            </a:r>
          </a:p>
          <a:p>
            <a:pPr marL="7239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1700" dirty="0"/>
              <a:t>AIMD (Additive Increase Multiplicative Decrease) law.  This law is used by default in TCP</a:t>
            </a:r>
          </a:p>
          <a:p>
            <a:pPr marL="0" indent="0" eaLnBrk="1" hangingPunct="1">
              <a:buFontTx/>
              <a:buNone/>
            </a:pPr>
            <a:endParaRPr lang="en-US" alt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9677D-17FE-4130-B0FC-EABCA3F4E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658" y="4425469"/>
            <a:ext cx="6524131" cy="19057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131D48-6369-40A6-8820-9F9F241BABD3}"/>
              </a:ext>
            </a:extLst>
          </p:cNvPr>
          <p:cNvSpPr txBox="1"/>
          <p:nvPr/>
        </p:nvSpPr>
        <p:spPr>
          <a:xfrm>
            <a:off x="0" y="4471443"/>
            <a:ext cx="25396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/>
              <a:t>IP header  has flags ECN for </a:t>
            </a:r>
            <a:r>
              <a:rPr lang="en-US" sz="1400" b="1" dirty="0">
                <a:solidFill>
                  <a:srgbClr val="0070C0"/>
                </a:solidFill>
              </a:rPr>
              <a:t>ECN</a:t>
            </a:r>
            <a:r>
              <a:rPr lang="en-US" sz="1400" dirty="0"/>
              <a:t>: </a:t>
            </a:r>
            <a:r>
              <a:rPr lang="en-US" sz="1400" b="1" dirty="0">
                <a:solidFill>
                  <a:srgbClr val="0070C0"/>
                </a:solidFill>
              </a:rPr>
              <a:t>Explicit Congestion Notification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70C0"/>
              </a:solidFill>
            </a:endParaRP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/>
              <a:t>TCP treats ECN and Ack-Timeout in the same way,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 indication of congestion on the path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C8E3E9-DBA4-46D3-B79E-06518C2FF9EB}"/>
              </a:ext>
            </a:extLst>
          </p:cNvPr>
          <p:cNvSpPr/>
          <p:nvPr/>
        </p:nvSpPr>
        <p:spPr bwMode="auto">
          <a:xfrm>
            <a:off x="5301916" y="4366039"/>
            <a:ext cx="625642" cy="671182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12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45155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Congestion Control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575734"/>
            <a:ext cx="9144000" cy="628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Objective: avoid congestion by adjusting the sender rate to what the network path can afford.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The path’s capacity is the capacity of the bottleneck link.</a:t>
            </a:r>
          </a:p>
          <a:p>
            <a:pPr marL="463550" lvl="1" indent="-1952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We wish to use all the available capacity (determined by the bottleneck link)</a:t>
            </a:r>
          </a:p>
          <a:p>
            <a:pPr marL="463550" lvl="1" indent="-1952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But we don’t want to exceed it because the queue will build (at the router of the bottleneck link) therefore packets will b dropped.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Given an anticipation window size </a:t>
            </a:r>
            <a:r>
              <a:rPr lang="en-US" altLang="en-US" sz="1600" i="1" kern="0" dirty="0" err="1"/>
              <a:t>winsize</a:t>
            </a:r>
            <a:r>
              <a:rPr lang="en-US" altLang="en-US" sz="1600" kern="0" dirty="0"/>
              <a:t> and a RTT, the used bandwidth is </a:t>
            </a:r>
            <a:r>
              <a:rPr lang="en-US" altLang="en-US" sz="1600" kern="0" dirty="0" err="1"/>
              <a:t>wsize</a:t>
            </a:r>
            <a:r>
              <a:rPr lang="en-US" altLang="en-US" sz="1600" kern="0" dirty="0"/>
              <a:t>/RTT, (assuming the sender continuously has data to transmit, such as in file download).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kern="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The path’s capacity is not known to TCP. How to guess the optimal </a:t>
            </a:r>
            <a:r>
              <a:rPr lang="en-US" altLang="en-US" sz="1600" kern="0" dirty="0" err="1"/>
              <a:t>wsize</a:t>
            </a:r>
            <a:r>
              <a:rPr lang="en-US" altLang="en-US" sz="1600" kern="0" dirty="0"/>
              <a:t> (hence optimal sending rate)?</a:t>
            </a:r>
          </a:p>
          <a:p>
            <a:pPr marL="519113" lvl="1" indent="-22860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TCP maintains a congestion window cwnd. </a:t>
            </a:r>
            <a:r>
              <a:rPr lang="en-US" altLang="en-US" sz="1600" b="1" kern="0" dirty="0" err="1">
                <a:solidFill>
                  <a:schemeClr val="accent5">
                    <a:lumMod val="50000"/>
                  </a:schemeClr>
                </a:solidFill>
              </a:rPr>
              <a:t>winsize</a:t>
            </a:r>
            <a:r>
              <a:rPr lang="en-US" altLang="en-US" sz="1600" b="1" kern="0" dirty="0">
                <a:solidFill>
                  <a:schemeClr val="accent5">
                    <a:lumMod val="50000"/>
                  </a:schemeClr>
                </a:solidFill>
              </a:rPr>
              <a:t> = min(cwnd, </a:t>
            </a:r>
            <a:r>
              <a:rPr lang="en-US" altLang="en-US" sz="1600" b="1" kern="0" dirty="0" err="1">
                <a:solidFill>
                  <a:schemeClr val="accent5">
                    <a:lumMod val="50000"/>
                  </a:schemeClr>
                </a:solidFill>
              </a:rPr>
              <a:t>advertisedWindow</a:t>
            </a:r>
            <a:r>
              <a:rPr lang="en-US" altLang="en-US" sz="1600" b="1" kern="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pPr marL="519113" lvl="1" indent="-22860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Each timeout is indication of packet drop due to congestion (not always true). =&gt; TCP reduces cwnd.</a:t>
            </a:r>
          </a:p>
          <a:p>
            <a:pPr marL="519113" lvl="1" indent="-22860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Each successful packet (Ack received) is indication of no congestion =&gt; TCP tries to increase cwnd.</a:t>
            </a:r>
          </a:p>
          <a:p>
            <a:pPr marL="666750" lvl="1" indent="-285750" eaLnBrk="1" hangingPunct="1">
              <a:buFont typeface="Arial" panose="020B0604020202020204" pitchFamily="34" charset="0"/>
              <a:buChar char="•"/>
            </a:pPr>
            <a:endParaRPr lang="en-US" altLang="en-US" sz="800" kern="0" dirty="0"/>
          </a:p>
          <a:p>
            <a:pPr marL="0" indent="0" eaLnBrk="1" hangingPunct="1">
              <a:buFontTx/>
              <a:buNone/>
            </a:pPr>
            <a:r>
              <a:rPr lang="en-US" altLang="en-US" sz="1600" kern="0" dirty="0"/>
              <a:t>Approach of TCP Reno: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Start cwnd = a reasonably small initial guess (i.e. cwnd = 1 or 2)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slowly increase cwnd if no losses occur. Assumption: maximum possible throughput is not reached yet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rapidly decrease cwnd when loss occurs. Assumption: packet was dropped due to congestion.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endParaRPr lang="en-US" altLang="en-US" sz="1600" kern="0" dirty="0"/>
          </a:p>
          <a:p>
            <a:pPr marL="0" indent="0" eaLnBrk="1" hangingPunct="1">
              <a:buFontTx/>
              <a:buNone/>
            </a:pPr>
            <a:r>
              <a:rPr lang="en-US" altLang="en-US" sz="1600" b="1" u="sng" kern="0" dirty="0"/>
              <a:t>AIMD</a:t>
            </a:r>
            <a:r>
              <a:rPr lang="en-US" altLang="en-US" sz="1600" kern="0" dirty="0"/>
              <a:t>. Additive Increase, Multiplicative Decrease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Additive increase: After each successful packet (Ack received), cwnd += 1;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Multiplicative Decrease: After each loss (timeout, no Ack) or ECN, cwnd /=2.</a:t>
            </a:r>
          </a:p>
        </p:txBody>
      </p:sp>
    </p:spTree>
    <p:extLst>
      <p:ext uri="{BB962C8B-B14F-4D97-AF65-F5344CB8AC3E}">
        <p14:creationId xmlns:p14="http://schemas.microsoft.com/office/powerpoint/2010/main" val="3111674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383821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Slow Start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51557"/>
            <a:ext cx="7032978" cy="3025422"/>
          </a:xfrm>
        </p:spPr>
        <p:txBody>
          <a:bodyPr/>
          <a:lstStyle/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dirty="0"/>
              <a:t>We start with a small initial guess cwnd =1 or 2.</a:t>
            </a:r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accent5">
                    <a:lumMod val="50000"/>
                  </a:schemeClr>
                </a:solidFill>
              </a:rPr>
              <a:t>cwnd++</a:t>
            </a:r>
            <a:r>
              <a:rPr lang="en-US" altLang="en-US" sz="1600" b="1" dirty="0"/>
              <a:t> </a:t>
            </a:r>
            <a:r>
              <a:rPr lang="en-US" altLang="en-US" sz="1600" dirty="0"/>
              <a:t>after each Ack received. This is multiplicative, not slow! Because cwnd doubles after each </a:t>
            </a:r>
            <a:r>
              <a:rPr lang="en-US" altLang="en-US" sz="1600" dirty="0" err="1"/>
              <a:t>windowful</a:t>
            </a:r>
            <a:r>
              <a:rPr lang="en-US" altLang="en-US" sz="1600" dirty="0"/>
              <a:t> (~after each RTT).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dirty="0"/>
              <a:t>Eventually the bottleneck queue gets full, and drops a packet. Let us suppose this is after N RTTs, so cwnd=2</a:t>
            </a:r>
            <a:r>
              <a:rPr lang="en-US" altLang="en-US" sz="1600" baseline="30000" dirty="0"/>
              <a:t>N</a:t>
            </a:r>
            <a:r>
              <a:rPr lang="en-US" altLang="en-US" sz="1600" dirty="0"/>
              <a:t>. Then during the previous RTT, cwnd=2</a:t>
            </a:r>
            <a:r>
              <a:rPr lang="en-US" altLang="en-US" sz="1600" baseline="30000" dirty="0"/>
              <a:t>N-1</a:t>
            </a:r>
            <a:r>
              <a:rPr lang="en-US" altLang="en-US" sz="1600" dirty="0"/>
              <a:t> worked successfully, so we go back to that previous value by setting cwnd = cwnd/2</a:t>
            </a:r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0" indent="0" eaLnBrk="1" hangingPunct="1">
              <a:buNone/>
            </a:pPr>
            <a:r>
              <a:rPr lang="en-US" altLang="en-US" sz="1600" dirty="0"/>
              <a:t>A really slower method is called </a:t>
            </a:r>
            <a:r>
              <a:rPr lang="en-US" altLang="en-US" sz="1600" b="1" dirty="0"/>
              <a:t>congestion avoidance mode:</a:t>
            </a:r>
            <a:r>
              <a:rPr lang="en-US" altLang="en-US" sz="1600" dirty="0"/>
              <a:t> we increase cwnd by 1 for each successful </a:t>
            </a:r>
            <a:r>
              <a:rPr lang="en-US" altLang="en-US" sz="1600" dirty="0" err="1"/>
              <a:t>windowful</a:t>
            </a:r>
            <a:r>
              <a:rPr lang="en-US" altLang="en-US" sz="1600" dirty="0"/>
              <a:t>. This is equivalent to a per-Ack increase of:</a:t>
            </a:r>
          </a:p>
          <a:p>
            <a:pPr marL="0" indent="0" eaLnBrk="1" hangingPunct="1">
              <a:buNone/>
            </a:pPr>
            <a:endParaRPr lang="en-US" altLang="en-US" sz="500" dirty="0"/>
          </a:p>
          <a:p>
            <a:pPr marL="0" indent="0" eaLnBrk="1" hangingPunct="1">
              <a:buNone/>
            </a:pPr>
            <a:r>
              <a:rPr lang="en-US" altLang="en-US" sz="1600" dirty="0"/>
              <a:t>	</a:t>
            </a:r>
            <a:r>
              <a:rPr lang="en-US" altLang="en-US" sz="1600" b="1" dirty="0">
                <a:solidFill>
                  <a:schemeClr val="accent5">
                    <a:lumMod val="50000"/>
                  </a:schemeClr>
                </a:solidFill>
              </a:rPr>
              <a:t>cwnd = cwnd + 1/cwnd  </a:t>
            </a:r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</a:rPr>
              <a:t>after each successful Ack</a:t>
            </a:r>
            <a:endParaRPr lang="en-US" altLang="en-US" sz="1600" dirty="0"/>
          </a:p>
          <a:p>
            <a:pPr marL="0" indent="0" eaLnBrk="1" hangingPunct="1">
              <a:buNone/>
            </a:pPr>
            <a:endParaRPr lang="en-US" alt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378" y="186773"/>
            <a:ext cx="2099733" cy="32337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823" y="3667126"/>
            <a:ext cx="5181600" cy="29481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3740338"/>
            <a:ext cx="410915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sz="2000" b="1" u="sng" kern="0" dirty="0">
                <a:solidFill>
                  <a:srgbClr val="FF0000"/>
                </a:solidFill>
                <a:latin typeface="Times New Roman"/>
                <a:cs typeface="+mn-cs"/>
              </a:rPr>
              <a:t>Threshold-Slow-Start method </a:t>
            </a: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combines the two methods:</a:t>
            </a:r>
            <a:endParaRPr lang="en-US" b="1" u="sng" kern="0" dirty="0">
              <a:solidFill>
                <a:srgbClr val="000000"/>
              </a:solidFill>
              <a:latin typeface="Times New Roman"/>
              <a:cs typeface="+mn-cs"/>
            </a:endParaRP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alt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Slow start (multiplicative) until a “slow-start threshold” </a:t>
            </a:r>
            <a:r>
              <a:rPr lang="en-US" sz="1600" b="1" kern="0" dirty="0" err="1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ssthresh</a:t>
            </a:r>
            <a:r>
              <a:rPr lang="en-US" altLang="en-US" sz="1600" kern="0" dirty="0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 </a:t>
            </a:r>
            <a:r>
              <a:rPr lang="en-US" alt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is reached, then switch to congestion avoidance mode.</a:t>
            </a: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endParaRPr lang="en-US" altLang="en-US" sz="1600" kern="0" dirty="0">
              <a:solidFill>
                <a:srgbClr val="000000"/>
              </a:solidFill>
              <a:latin typeface="Times New Roman"/>
              <a:cs typeface="+mn-cs"/>
            </a:endParaRP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sz="1600" b="1" kern="0" dirty="0" err="1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ssthresh</a:t>
            </a:r>
            <a:r>
              <a:rPr lang="en-US" sz="1600" b="1" kern="0" dirty="0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 = cwnd/2 </a:t>
            </a:r>
            <a:r>
              <a:rPr 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when a timeout occurs.</a:t>
            </a:r>
            <a:endParaRPr lang="en-US" altLang="en-US" sz="1600" kern="0" dirty="0">
              <a:solidFill>
                <a:srgbClr val="000000"/>
              </a:solidFill>
              <a:latin typeface="Times New Roman"/>
              <a:cs typeface="+mn-cs"/>
            </a:endParaRP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endParaRPr lang="en-US" altLang="en-US" sz="1600" kern="0" dirty="0">
              <a:solidFill>
                <a:srgbClr val="000000"/>
              </a:solidFill>
              <a:latin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850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Sockets API</a:t>
            </a:r>
          </a:p>
        </p:txBody>
      </p:sp>
      <p:pic>
        <p:nvPicPr>
          <p:cNvPr id="8195" name="Picture 5" descr="6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73" y="1558212"/>
            <a:ext cx="7964847" cy="3296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Box 1"/>
          <p:cNvSpPr txBox="1">
            <a:spLocks noChangeArrowheads="1"/>
          </p:cNvSpPr>
          <p:nvPr/>
        </p:nvSpPr>
        <p:spPr bwMode="auto">
          <a:xfrm>
            <a:off x="565150" y="5245100"/>
            <a:ext cx="83740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  <a:p>
            <a:r>
              <a:rPr lang="en-US" altLang="en-US" dirty="0"/>
              <a:t>The  Berkeley Unix Sockets library also available in all </a:t>
            </a:r>
            <a:r>
              <a:rPr lang="en-US" altLang="en-US" dirty="0" err="1"/>
              <a:t>OS’es</a:t>
            </a:r>
            <a:r>
              <a:rPr lang="en-US" altLang="en-US" dirty="0"/>
              <a:t>… In Windows the name is “WinSock”. It is the most widely used API for network programming.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1790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F888-2F57-4F62-80A8-C7262F4D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BE7E-9C41-44A7-AF18-CF3023DC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43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462844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Reading list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4090"/>
            <a:ext cx="9144000" cy="5802136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dirty="0" err="1"/>
              <a:t>Dordal’s</a:t>
            </a:r>
            <a:r>
              <a:rPr lang="en-US" altLang="en-US" dirty="0"/>
              <a:t> book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b="1" dirty="0">
              <a:effectLst/>
              <a:latin typeface="NimbusSanL-Bold"/>
              <a:ea typeface="Calibri" panose="020F0502020204030204" pitchFamily="34" charset="0"/>
              <a:cs typeface="NimbusSanL-Bold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17.1    17.2    17.3    17.4    17.7    17.7.1   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18.1    18.2    18.3.1    18.5.1    18.6    18.7    18.9    18.10    18.11    18.12    18.13    18.14 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19?... </a:t>
            </a:r>
            <a:r>
              <a:rPr lang="en-US" sz="2000" b="1" dirty="0" err="1">
                <a:solidFill>
                  <a:srgbClr val="BFBFBF"/>
                </a:solidFill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todo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4040057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JOIN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394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Session code: ________</a:t>
            </a:r>
            <a:br/>
            <a:br/>
            <a:r>
              <a:t>Join link:</a:t>
            </a:r>
            <a:br/>
            <a:r>
              <a:t>________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600" b="1">
                <a:solidFill>
                  <a:srgbClr val="167784"/>
                </a:solidFill>
              </a:defRPr>
            </a:pPr>
            <a:r>
              <a:t>QR code</a:t>
            </a:r>
            <a:br/>
            <a:r>
              <a:t>placeholder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Apply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the concept of a relation schema?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(a) Environment of the data link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Transport Protocol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Transport Protocol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Transport Protocol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What is the main purpose of the lecture content as a student?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To memorize facts and concepts taught by lecturer or professor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To understand topics thoroughly and retain information better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To apply knowledge to real-life situations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To gain practical skills for future careers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Evaluate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The Transport Layer?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Better understand concepts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Increase understanding and retention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Examine different perspectives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Gain practical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In a few words or one short sentence, Explain why TCP Connection management matters in this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7680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Tannenbaum</Template>
  <TotalTime>17435</TotalTime>
  <Words>1454</Words>
  <Application>Microsoft Office PowerPoint</Application>
  <PresentationFormat>On-screen Show (4:3)</PresentationFormat>
  <Paragraphs>170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NimbusSanL-Bold</vt:lpstr>
      <vt:lpstr>Times New Roman</vt:lpstr>
      <vt:lpstr>Tannenbaum</vt:lpstr>
      <vt:lpstr>TCP</vt:lpstr>
      <vt:lpstr>Transport: the first end-to-end layer</vt:lpstr>
      <vt:lpstr>Transport Protocol</vt:lpstr>
      <vt:lpstr>TPDU: The Segment</vt:lpstr>
      <vt:lpstr>The Transport Layer </vt:lpstr>
      <vt:lpstr>UDP – the datagram-oriented transport service</vt:lpstr>
      <vt:lpstr>Some assigned ports</vt:lpstr>
      <vt:lpstr>TCP: The connected, reliable Transport Control Protocol</vt:lpstr>
      <vt:lpstr>TCP Connection management</vt:lpstr>
      <vt:lpstr>TCP State diagram</vt:lpstr>
      <vt:lpstr>The old duplicate problem and ISN</vt:lpstr>
      <vt:lpstr>Other topics</vt:lpstr>
      <vt:lpstr>TCP Window management</vt:lpstr>
      <vt:lpstr>TCP Timeout and Retransmission</vt:lpstr>
      <vt:lpstr>TCP Timers</vt:lpstr>
      <vt:lpstr>Congestion Control</vt:lpstr>
      <vt:lpstr>TCP Congestion Control</vt:lpstr>
      <vt:lpstr>Slow Start</vt:lpstr>
      <vt:lpstr>The Sockets API</vt:lpstr>
      <vt:lpstr>PowerPoint Presentation</vt:lpstr>
      <vt:lpstr>Reading list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Medium Access Sublayer</dc:title>
  <dc:creator>Steve Armstrong</dc:creator>
  <cp:lastModifiedBy>Amjad H</cp:lastModifiedBy>
  <cp:revision>632</cp:revision>
  <dcterms:created xsi:type="dcterms:W3CDTF">2002-07-09T13:17:57Z</dcterms:created>
  <dcterms:modified xsi:type="dcterms:W3CDTF">2023-03-19T16:20:05Z</dcterms:modified>
</cp:coreProperties>
</file>