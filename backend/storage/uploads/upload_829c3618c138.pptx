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64" r:id="rId5"/>
    <p:sldId id="257" r:id="rId6"/>
    <p:sldId id="258" r:id="rId7"/>
    <p:sldId id="259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23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Threads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LAB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55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3289" y="935490"/>
            <a:ext cx="1097997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A program may consist of </a:t>
            </a:r>
            <a:r>
              <a:rPr lang="en-GB" b="1" dirty="0"/>
              <a:t>many tasks </a:t>
            </a:r>
            <a:r>
              <a:rPr lang="en-GB" dirty="0"/>
              <a:t>that can run concurrently</a:t>
            </a:r>
            <a:r>
              <a:rPr lang="en-GB" dirty="0" smtClean="0"/>
              <a:t>.</a:t>
            </a:r>
          </a:p>
          <a:p>
            <a:r>
              <a:rPr lang="en-GB" dirty="0" smtClean="0"/>
              <a:t>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thread is the flow of execution, from beginning to </a:t>
            </a:r>
            <a:r>
              <a:rPr lang="en-GB" dirty="0" smtClean="0"/>
              <a:t>end </a:t>
            </a:r>
            <a:r>
              <a:rPr lang="en-GB" dirty="0"/>
              <a:t>of a task. A thread provides the mechanism for running </a:t>
            </a:r>
            <a:r>
              <a:rPr lang="en-GB" dirty="0" smtClean="0"/>
              <a:t>a task.</a:t>
            </a:r>
          </a:p>
          <a:p>
            <a:endParaRPr lang="en-GB" dirty="0"/>
          </a:p>
          <a:p>
            <a:r>
              <a:rPr lang="en-GB" dirty="0"/>
              <a:t>A thread is an entity that executes by relying on the code and resources, holding by the associated process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Several threads</a:t>
            </a:r>
            <a:r>
              <a:rPr lang="en-GB" dirty="0"/>
              <a:t> could be associated with </a:t>
            </a:r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 single process</a:t>
            </a:r>
            <a:r>
              <a:rPr lang="en-GB" dirty="0"/>
              <a:t>. Those threads share the code and resources of the process.</a:t>
            </a:r>
          </a:p>
          <a:p>
            <a:endParaRPr lang="en-US" dirty="0" smtClean="0"/>
          </a:p>
          <a:p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Multithreading</a:t>
            </a:r>
            <a:r>
              <a:rPr lang="en-GB" dirty="0"/>
              <a:t> allows an application to have multiple threads of execution running concurrently. 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958353" y="311972"/>
            <a:ext cx="4840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Thread Concepts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32532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8504" y="365760"/>
            <a:ext cx="4733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Concurrency and Parallelism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6771" y="842722"/>
            <a:ext cx="1050663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Concurrent multithreading systems</a:t>
            </a:r>
            <a:r>
              <a:rPr lang="en-GB" dirty="0"/>
              <a:t> give the appearance of several tasks executing at once, but these tasks are actually split up into chunks that share the processor with chunks from other tasks. </a:t>
            </a:r>
          </a:p>
          <a:p>
            <a:r>
              <a:rPr lang="en-GB" dirty="0"/>
              <a:t>In </a:t>
            </a:r>
            <a:r>
              <a:rPr lang="en-GB" dirty="0">
                <a:solidFill>
                  <a:schemeClr val="accent1"/>
                </a:solidFill>
              </a:rPr>
              <a:t>parallel systems</a:t>
            </a:r>
            <a:r>
              <a:rPr lang="en-GB" dirty="0"/>
              <a:t>, two tasks are actually performed simultaneously. Parallelism requires a </a:t>
            </a:r>
            <a:r>
              <a:rPr lang="en-GB" dirty="0" smtClean="0"/>
              <a:t>multi-core CPU </a:t>
            </a:r>
            <a:r>
              <a:rPr lang="en-GB" dirty="0"/>
              <a:t>system.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74" y="2652532"/>
            <a:ext cx="1676545" cy="28653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973" y="2695207"/>
            <a:ext cx="2048434" cy="27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88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5054" y="846729"/>
            <a:ext cx="9642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A thread can be in one of five states: </a:t>
            </a:r>
            <a:r>
              <a:rPr lang="en-US" altLang="en-US" b="1" dirty="0">
                <a:cs typeface="Times New Roman" panose="02020603050405020304" pitchFamily="18" charset="0"/>
              </a:rPr>
              <a:t>New, Ready, Running, Blocked</a:t>
            </a:r>
            <a:r>
              <a:rPr lang="en-US" altLang="en-US" dirty="0">
                <a:cs typeface="Times New Roman" panose="02020603050405020304" pitchFamily="18" charset="0"/>
              </a:rPr>
              <a:t>, or </a:t>
            </a:r>
            <a:r>
              <a:rPr lang="en-US" altLang="en-US" b="1" dirty="0">
                <a:cs typeface="Times New Roman" panose="02020603050405020304" pitchFamily="18" charset="0"/>
              </a:rPr>
              <a:t>Finished</a:t>
            </a:r>
            <a:r>
              <a:rPr lang="en-US" altLang="en-US" dirty="0">
                <a:cs typeface="Times New Roman" panose="02020603050405020304" pitchFamily="18" charset="0"/>
              </a:rPr>
              <a:t>.</a:t>
            </a:r>
            <a:endParaRPr lang="en-US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593054" y="344245"/>
            <a:ext cx="384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Thread States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738" y="1779270"/>
            <a:ext cx="8764524" cy="329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01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19438" y="361285"/>
            <a:ext cx="4458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Daemon Versus Non-Daemon Threads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1623" y="121383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There are two types of threads in Java:</a:t>
            </a:r>
          </a:p>
          <a:p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■ Daemon threads</a:t>
            </a:r>
          </a:p>
          <a:p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■ Non-daemon (user) threads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11623" y="2524275"/>
            <a:ext cx="1039905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Daemon threads are low priority threads which always run in </a:t>
            </a:r>
            <a:r>
              <a:rPr lang="en-US" dirty="0" smtClean="0"/>
              <a:t>background. </a:t>
            </a:r>
          </a:p>
          <a:p>
            <a:r>
              <a:rPr lang="en-US" dirty="0" smtClean="0"/>
              <a:t>User </a:t>
            </a:r>
            <a:r>
              <a:rPr lang="en-US" dirty="0"/>
              <a:t>threads are high priority threads which always run in foreground. </a:t>
            </a:r>
            <a:endParaRPr lang="en-GB" dirty="0"/>
          </a:p>
          <a:p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non-daemon </a:t>
            </a:r>
            <a:r>
              <a:rPr lang="en-GB" dirty="0" smtClean="0"/>
              <a:t>thread </a:t>
            </a:r>
            <a:r>
              <a:rPr lang="en-GB" dirty="0"/>
              <a:t>continues to live even when the parent </a:t>
            </a:r>
            <a:r>
              <a:rPr lang="en-GB" dirty="0" smtClean="0"/>
              <a:t>thread dies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US" dirty="0"/>
              <a:t>JVM will force daemon thread to terminate if all user threads have finished their </a:t>
            </a:r>
            <a:r>
              <a:rPr lang="en-US" dirty="0" smtClean="0"/>
              <a:t>execution.</a:t>
            </a:r>
            <a:endParaRPr lang="en-GB" dirty="0" smtClean="0"/>
          </a:p>
          <a:p>
            <a:endParaRPr lang="en-GB" dirty="0"/>
          </a:p>
          <a:p>
            <a:r>
              <a:rPr lang="en-GB" dirty="0"/>
              <a:t>Every Java application has </a:t>
            </a:r>
            <a:r>
              <a:rPr lang="en-GB" b="1" dirty="0"/>
              <a:t>at least one non-daemon thread, which is the main thread</a:t>
            </a:r>
            <a:r>
              <a:rPr lang="en-GB" dirty="0" smtClean="0"/>
              <a:t>.</a:t>
            </a:r>
          </a:p>
          <a:p>
            <a:r>
              <a:rPr lang="en-US" dirty="0"/>
              <a:t>Examples of daemon threads in Java include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garbage collection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</a:t>
            </a:r>
            <a:r>
              <a:rPr lang="en-US" dirty="0"/>
              <a:t>)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finalizer.</a:t>
            </a:r>
            <a:r>
              <a:rPr lang="en-US" dirty="0"/>
              <a:t> These threads work silently in the background, performing tasks that support the main execution without interfering with the user’s operations.</a:t>
            </a:r>
          </a:p>
          <a:p>
            <a:endParaRPr lang="en-US" dirty="0"/>
          </a:p>
          <a:p>
            <a:r>
              <a:rPr lang="en-US" dirty="0"/>
              <a:t>A daemon thread can be set via 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setDaemon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(boolean on) </a:t>
            </a:r>
            <a:r>
              <a:rPr lang="en-US" dirty="0"/>
              <a:t>method.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68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0032"/>
            <a:ext cx="1047794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Creating Threads </a:t>
            </a:r>
            <a:endParaRPr lang="en-GB" sz="2400" b="1" dirty="0" smtClean="0"/>
          </a:p>
          <a:p>
            <a:r>
              <a:rPr lang="en-GB" u="sng" dirty="0" smtClean="0"/>
              <a:t>Java </a:t>
            </a:r>
            <a:r>
              <a:rPr lang="en-GB" u="sng" dirty="0"/>
              <a:t>implements thread functionality by using the following classes/interfaces</a:t>
            </a:r>
            <a:r>
              <a:rPr lang="en-GB" u="sng" dirty="0" smtClean="0"/>
              <a:t>:</a:t>
            </a:r>
          </a:p>
          <a:p>
            <a:endParaRPr lang="en-GB" dirty="0"/>
          </a:p>
          <a:p>
            <a:r>
              <a:rPr lang="en-GB" dirty="0" smtClean="0"/>
              <a:t> </a:t>
            </a:r>
            <a:r>
              <a:rPr lang="en-GB" dirty="0"/>
              <a:t>■ The interface </a:t>
            </a:r>
            <a:r>
              <a:rPr lang="en-GB" dirty="0" smtClean="0"/>
              <a:t>Runnable</a:t>
            </a:r>
          </a:p>
          <a:p>
            <a:r>
              <a:rPr lang="en-GB" dirty="0" smtClean="0"/>
              <a:t> </a:t>
            </a:r>
            <a:r>
              <a:rPr lang="en-GB" dirty="0"/>
              <a:t>■ The class </a:t>
            </a:r>
            <a:r>
              <a:rPr lang="en-GB" dirty="0" smtClean="0"/>
              <a:t>Thread</a:t>
            </a:r>
          </a:p>
          <a:p>
            <a:r>
              <a:rPr lang="en-GB" dirty="0" smtClean="0"/>
              <a:t> </a:t>
            </a:r>
            <a:r>
              <a:rPr lang="en-GB" dirty="0"/>
              <a:t>■ The class ThreadGroup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65760" y="2413338"/>
            <a:ext cx="108544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To create threads in your Java program, you need to implement the </a:t>
            </a:r>
            <a:r>
              <a:rPr lang="en-GB" dirty="0">
                <a:solidFill>
                  <a:schemeClr val="accent1"/>
                </a:solidFill>
              </a:rPr>
              <a:t>Runnable interface </a:t>
            </a:r>
            <a:r>
              <a:rPr lang="en-GB" dirty="0"/>
              <a:t>in your</a:t>
            </a:r>
          </a:p>
          <a:p>
            <a:r>
              <a:rPr lang="en-GB" dirty="0"/>
              <a:t>Java class. As a part of the interface implementation, you provide the implementation of the </a:t>
            </a:r>
            <a:r>
              <a:rPr lang="en-GB" dirty="0" smtClean="0"/>
              <a:t>run method</a:t>
            </a:r>
            <a:r>
              <a:rPr lang="en-GB" dirty="0"/>
              <a:t>. </a:t>
            </a:r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 the run method, you program the desired functionality for your thread</a:t>
            </a:r>
            <a:r>
              <a:rPr lang="en-GB" dirty="0"/>
              <a:t>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0415" y="353614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Task1</a:t>
            </a:r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 </a:t>
            </a:r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implements Runnable { </a:t>
            </a:r>
            <a:endParaRPr lang="en-GB" dirty="0" smtClean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run() </a:t>
            </a:r>
            <a:endParaRPr lang="en-GB" dirty="0" smtClean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} </a:t>
            </a:r>
            <a:endParaRPr lang="en-GB" dirty="0" smtClean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4736470"/>
            <a:ext cx="99938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/>
              <a:t>After creating this thread class, you need to create its instance of the Thread class and pass an object of the preceding class as a parameter to the Thread class constructor.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20415" y="5869128"/>
            <a:ext cx="5974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 t = new </a:t>
            </a:r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Thread(new </a:t>
            </a:r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Task1</a:t>
            </a:r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2" y="2209151"/>
            <a:ext cx="390178" cy="3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98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79" y="433931"/>
            <a:ext cx="1026279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 smtClean="0"/>
          </a:p>
          <a:p>
            <a:r>
              <a:rPr lang="en-GB" dirty="0" smtClean="0"/>
              <a:t>Alternatively</a:t>
            </a:r>
            <a:r>
              <a:rPr lang="en-GB" dirty="0"/>
              <a:t>, you can create a thread by </a:t>
            </a:r>
            <a:r>
              <a:rPr lang="en-GB" dirty="0">
                <a:solidFill>
                  <a:schemeClr val="accent1"/>
                </a:solidFill>
              </a:rPr>
              <a:t>subclassing the Thread class</a:t>
            </a:r>
            <a:r>
              <a:rPr lang="en-GB" dirty="0"/>
              <a:t>:</a:t>
            </a:r>
          </a:p>
          <a:p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GB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WorkerThread extends Thread {</a:t>
            </a:r>
          </a:p>
          <a:p>
            <a:r>
              <a:rPr lang="en-GB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public void run() {</a:t>
            </a:r>
          </a:p>
          <a:p>
            <a:r>
              <a:rPr lang="en-GB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...</a:t>
            </a:r>
          </a:p>
          <a:p>
            <a:r>
              <a:rPr lang="en-GB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GB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}</a:t>
            </a:r>
          </a:p>
          <a:p>
            <a:r>
              <a:rPr lang="en-GB" dirty="0"/>
              <a:t>In this case, you are overriding the run method to implement your own desired functionality. </a:t>
            </a:r>
            <a:r>
              <a:rPr lang="en-GB" u="sng" dirty="0"/>
              <a:t>Once your thread class is created, some other thread will need to instantiate it and invoke its start method</a:t>
            </a:r>
            <a:r>
              <a:rPr lang="en-GB" dirty="0"/>
              <a:t>.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48284" y="3545548"/>
            <a:ext cx="44582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 t = new WorkerThread(); </a:t>
            </a:r>
            <a:endParaRPr lang="en-GB" dirty="0" smtClean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endParaRPr lang="en-GB" dirty="0" smtClean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2879" y="4191879"/>
            <a:ext cx="101552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When you start the thread, this does not mean it gets the CPU immediately. Rather, it is put in the </a:t>
            </a:r>
            <a:r>
              <a:rPr lang="en-GB" b="1" dirty="0"/>
              <a:t>Ready to Run </a:t>
            </a:r>
            <a:r>
              <a:rPr lang="en-GB" b="1" dirty="0" smtClean="0"/>
              <a:t>queue</a:t>
            </a:r>
            <a:r>
              <a:rPr lang="en-GB" b="1" dirty="0"/>
              <a:t> </a:t>
            </a:r>
            <a:r>
              <a:rPr lang="en-GB" b="1" dirty="0" smtClean="0"/>
              <a:t> </a:t>
            </a:r>
            <a:r>
              <a:rPr lang="en-GB" dirty="0"/>
              <a:t>where eventually it will receive a CPU time slice for execution.</a:t>
            </a:r>
            <a:endParaRPr lang="en-US" dirty="0"/>
          </a:p>
        </p:txBody>
      </p:sp>
      <p:sp>
        <p:nvSpPr>
          <p:cNvPr id="5" name="4-Point Star 4"/>
          <p:cNvSpPr/>
          <p:nvPr/>
        </p:nvSpPr>
        <p:spPr>
          <a:xfrm>
            <a:off x="86061" y="168615"/>
            <a:ext cx="344244" cy="311972"/>
          </a:xfrm>
          <a:prstGeom prst="star4">
            <a:avLst>
              <a:gd name="adj" fmla="val 297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3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3812" y="279699"/>
            <a:ext cx="3614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Synchronization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07229" y="826606"/>
            <a:ext cx="966753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Background</a:t>
            </a:r>
          </a:p>
          <a:p>
            <a:r>
              <a:rPr lang="en-GB" dirty="0"/>
              <a:t>Concurrent access to shared data may result in </a:t>
            </a:r>
            <a:r>
              <a:rPr lang="en-GB" dirty="0">
                <a:solidFill>
                  <a:schemeClr val="accent1"/>
                </a:solidFill>
              </a:rPr>
              <a:t>data inconsistency</a:t>
            </a:r>
            <a:r>
              <a:rPr lang="en-GB" dirty="0"/>
              <a:t>. </a:t>
            </a:r>
          </a:p>
          <a:p>
            <a:r>
              <a:rPr lang="en-GB" dirty="0"/>
              <a:t>Maintaining data consistency requires mechanisms </a:t>
            </a:r>
            <a:r>
              <a:rPr lang="en-GB" dirty="0" smtClean="0"/>
              <a:t>for</a:t>
            </a:r>
            <a:r>
              <a:rPr lang="en-GB" dirty="0"/>
              <a:t> </a:t>
            </a:r>
            <a:r>
              <a:rPr lang="en-GB" dirty="0" smtClean="0"/>
              <a:t>orderly </a:t>
            </a:r>
            <a:r>
              <a:rPr lang="en-GB" dirty="0"/>
              <a:t>execution of cooperating processes (or threads). </a:t>
            </a:r>
          </a:p>
          <a:p>
            <a:endParaRPr lang="en-GB" dirty="0"/>
          </a:p>
          <a:p>
            <a:r>
              <a:rPr lang="en-GB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When do we need synchronization?</a:t>
            </a:r>
          </a:p>
          <a:p>
            <a:r>
              <a:rPr lang="en-GB" dirty="0"/>
              <a:t>	When two or more processes (or threads) work on the same data simultaneously.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9837" y="3122104"/>
            <a:ext cx="9495416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lvl="1" algn="just">
              <a:spcBef>
                <a:spcPct val="20000"/>
              </a:spcBef>
              <a:buClr>
                <a:schemeClr val="bg2"/>
              </a:buClr>
              <a:buSzPct val="80000"/>
              <a:buFont typeface="Wingdings" pitchFamily="2" charset="2"/>
              <a:buNone/>
              <a:tabLst>
                <a:tab pos="177800" algn="l"/>
              </a:tabLst>
              <a:defRPr/>
            </a:pPr>
            <a:r>
              <a:rPr lang="en-US" sz="2000" b="1" dirty="0">
                <a:solidFill>
                  <a:srgbClr val="C7210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Example:</a:t>
            </a:r>
          </a:p>
          <a:p>
            <a:pPr marL="179388" lvl="1" algn="just">
              <a:spcBef>
                <a:spcPct val="20000"/>
              </a:spcBef>
              <a:buClr>
                <a:schemeClr val="bg2"/>
              </a:buClr>
              <a:buSzPct val="80000"/>
              <a:buFont typeface="Wingdings" pitchFamily="2" charset="2"/>
              <a:buNone/>
              <a:tabLst>
                <a:tab pos="177800" algn="l"/>
              </a:tabLst>
              <a:defRPr/>
            </a:pPr>
            <a:r>
              <a:rPr lang="en-US" sz="2000" dirty="0">
                <a:latin typeface="Times New Roman" pitchFamily="18" charset="0"/>
              </a:rPr>
              <a:t>Two threads are trying to 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update the same shared variable simultaneously</a:t>
            </a:r>
            <a:r>
              <a:rPr lang="en-US" sz="2000" b="1" dirty="0">
                <a:latin typeface="Times New Roman" pitchFamily="18" charset="0"/>
              </a:rPr>
              <a:t>:</a:t>
            </a:r>
          </a:p>
          <a:p>
            <a:pPr marL="625475" lvl="2" indent="-266700" algn="just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§"/>
              <a:tabLst>
                <a:tab pos="177800" algn="l"/>
              </a:tabLst>
              <a:defRPr/>
            </a:pPr>
            <a:r>
              <a:rPr lang="en-US" sz="2000" dirty="0">
                <a:latin typeface="Times New Roman" pitchFamily="18" charset="0"/>
              </a:rPr>
              <a:t>The result is 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unpredictable</a:t>
            </a:r>
            <a:r>
              <a:rPr lang="en-US" sz="2000" dirty="0">
                <a:latin typeface="Times New Roman" pitchFamily="18" charset="0"/>
              </a:rPr>
              <a:t>.</a:t>
            </a:r>
          </a:p>
          <a:p>
            <a:pPr marL="625475" lvl="2" indent="-266700" algn="just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§"/>
              <a:tabLst>
                <a:tab pos="177800" algn="l"/>
              </a:tabLst>
              <a:defRPr/>
            </a:pPr>
            <a:r>
              <a:rPr lang="en-US" sz="2000" dirty="0">
                <a:latin typeface="Times New Roman" pitchFamily="18" charset="0"/>
              </a:rPr>
              <a:t>The result depends on which of the two threads was the last one to change the value.</a:t>
            </a:r>
          </a:p>
          <a:p>
            <a:pPr marL="625475" lvl="2" indent="-266700" algn="just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§"/>
              <a:tabLst>
                <a:tab pos="177800" algn="l"/>
              </a:tabLst>
              <a:defRPr/>
            </a:pPr>
            <a:r>
              <a:rPr lang="en-US" sz="2000" dirty="0">
                <a:latin typeface="Times New Roman" pitchFamily="18" charset="0"/>
              </a:rPr>
              <a:t>The competition of the threads for the variable is called 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race condition</a:t>
            </a:r>
            <a:r>
              <a:rPr lang="en-US" sz="2000" b="1" dirty="0">
                <a:latin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127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0" y="376518"/>
            <a:ext cx="5744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Synchronization of Java Threads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68941" y="849471"/>
            <a:ext cx="112955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In many cases </a:t>
            </a:r>
            <a:r>
              <a:rPr lang="en-GB" dirty="0">
                <a:solidFill>
                  <a:schemeClr val="accent2"/>
                </a:solidFill>
              </a:rPr>
              <a:t>concurrently running threads share data </a:t>
            </a:r>
            <a:r>
              <a:rPr lang="en-GB" dirty="0"/>
              <a:t>and </a:t>
            </a:r>
            <a: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  <a:t>must consider the state and activities of other threads.</a:t>
            </a:r>
          </a:p>
          <a:p>
            <a:r>
              <a:rPr lang="en-GB" dirty="0">
                <a:solidFill>
                  <a:schemeClr val="accent2"/>
                </a:solidFill>
              </a:rPr>
              <a:t>If two threads can both execute a method that modifies the state of an object then the method should be declared to be synchronized</a:t>
            </a:r>
            <a:r>
              <a:rPr lang="en-GB" dirty="0"/>
              <a:t>, those allowing only one thread to execute the method at a time.</a:t>
            </a:r>
          </a:p>
          <a:p>
            <a:r>
              <a:rPr lang="en-GB" dirty="0"/>
              <a:t>If a class has at least one synchronized method, </a:t>
            </a:r>
            <a:r>
              <a:rPr lang="en-GB" dirty="0">
                <a:solidFill>
                  <a:schemeClr val="accent2"/>
                </a:solidFill>
              </a:rPr>
              <a:t>each instance of it has a </a:t>
            </a:r>
            <a:r>
              <a:rPr lang="en-GB" b="1" dirty="0">
                <a:solidFill>
                  <a:schemeClr val="accent2"/>
                </a:solidFill>
              </a:rPr>
              <a:t>monitor</a:t>
            </a:r>
            <a:r>
              <a:rPr lang="en-GB" dirty="0"/>
              <a:t>. A monitor is an object that can block threads and notify them when the method is available.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0" y="2745736"/>
            <a:ext cx="6096000" cy="13665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39725" indent="-339725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bg-BG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Example:</a:t>
            </a:r>
          </a:p>
          <a:p>
            <a:pPr marL="339725" indent="-339725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bg-BG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bg-BG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 </a:t>
            </a:r>
            <a:r>
              <a:rPr lang="bg-BG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updateRecord() {</a:t>
            </a:r>
          </a:p>
          <a:p>
            <a:pPr marL="339725" indent="-339725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bg-BG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</a:t>
            </a:r>
            <a:r>
              <a:rPr lang="bg-BG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critical code goes here …</a:t>
            </a:r>
          </a:p>
          <a:p>
            <a:pPr marL="339725" indent="-339725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bg-BG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268940" y="4179653"/>
            <a:ext cx="97356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Only one thread may be inside the body of this function.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second call will be blocked until the first call returns or wait() is called inside the synchronized method.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940" y="4977666"/>
            <a:ext cx="95958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</a:rPr>
              <a:t>To program the synchronization behavior we use the Object class’ methods </a:t>
            </a:r>
            <a:r>
              <a:rPr lang="en-US" altLang="en-US" b="1" i="1" dirty="0">
                <a:latin typeface="Times New Roman" panose="02020603050405020304" pitchFamily="18" charset="0"/>
              </a:rPr>
              <a:t>wait(), notify()</a:t>
            </a:r>
            <a:r>
              <a:rPr lang="en-US" altLang="en-US" dirty="0">
                <a:latin typeface="Times New Roman" panose="02020603050405020304" pitchFamily="18" charset="0"/>
              </a:rPr>
              <a:t> and </a:t>
            </a:r>
            <a:r>
              <a:rPr lang="en-US" altLang="en-US" b="1" i="1" dirty="0" err="1">
                <a:latin typeface="Times New Roman" panose="02020603050405020304" pitchFamily="18" charset="0"/>
              </a:rPr>
              <a:t>notifyAll</a:t>
            </a:r>
            <a:r>
              <a:rPr lang="en-US" altLang="en-US" b="1" i="1" dirty="0">
                <a:latin typeface="Times New Roman" panose="02020603050405020304" pitchFamily="18" charset="0"/>
              </a:rPr>
              <a:t>().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940" y="5623997"/>
            <a:ext cx="87674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InterruptedException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thrown when a thread is waiting, sleeping, or otherwise paused for a long time and another thread interrupts it using the interrupt method in class Thread.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7608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FF412DD958E9469EE1990C3E364827" ma:contentTypeVersion="7" ma:contentTypeDescription="Create a new document." ma:contentTypeScope="" ma:versionID="bf395776e210367bb5f288536ed6ea71">
  <xsd:schema xmlns:xsd="http://www.w3.org/2001/XMLSchema" xmlns:xs="http://www.w3.org/2001/XMLSchema" xmlns:p="http://schemas.microsoft.com/office/2006/metadata/properties" xmlns:ns2="f73690d4-9b7a-4c2e-8976-fd68f6f8291d" targetNamespace="http://schemas.microsoft.com/office/2006/metadata/properties" ma:root="true" ma:fieldsID="f97aba483c180e307a498f8a40537bee" ns2:_="">
    <xsd:import namespace="f73690d4-9b7a-4c2e-8976-fd68f6f829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3690d4-9b7a-4c2e-8976-fd68f6f829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15038B-F42B-4898-B10E-7B28CD93B72D}"/>
</file>

<file path=customXml/itemProps2.xml><?xml version="1.0" encoding="utf-8"?>
<ds:datastoreItem xmlns:ds="http://schemas.openxmlformats.org/officeDocument/2006/customXml" ds:itemID="{36309726-D200-44AD-87FA-39C13A12980E}"/>
</file>

<file path=customXml/itemProps3.xml><?xml version="1.0" encoding="utf-8"?>
<ds:datastoreItem xmlns:ds="http://schemas.openxmlformats.org/officeDocument/2006/customXml" ds:itemID="{2C0BF90E-BA9D-47EB-A257-35F411B7F54F}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203</TotalTime>
  <Words>843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Century Gothic</vt:lpstr>
      <vt:lpstr>Courier New</vt:lpstr>
      <vt:lpstr>Times New Roman</vt:lpstr>
      <vt:lpstr>Wingdings</vt:lpstr>
      <vt:lpstr>Wingdings 3</vt:lpstr>
      <vt:lpstr>Slice</vt:lpstr>
      <vt:lpstr>Threads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</dc:title>
  <dc:creator>yoli beremska</dc:creator>
  <cp:lastModifiedBy>yoli beremska</cp:lastModifiedBy>
  <cp:revision>20</cp:revision>
  <dcterms:created xsi:type="dcterms:W3CDTF">2020-12-01T10:42:10Z</dcterms:created>
  <dcterms:modified xsi:type="dcterms:W3CDTF">2023-12-20T09:40:18Z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0x010100BFFF412DD958E9469EE1990C3E364827</vt:lpwstr>
  </property>
</Properties>
</file>