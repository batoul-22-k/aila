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4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43.xml" ContentType="application/vnd.openxmlformats-officedocument.presentationml.slide+xml"/>
  <Override PartName="/ppt/slides/slide41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1.xml" ContentType="application/vnd.openxmlformats-officedocument.presentationml.slide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0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80" r:id="rId21"/>
    <p:sldId id="273" r:id="rId22"/>
    <p:sldId id="274" r:id="rId23"/>
    <p:sldId id="275" r:id="rId24"/>
    <p:sldId id="276" r:id="rId25"/>
    <p:sldId id="277" r:id="rId26"/>
    <p:sldId id="281" r:id="rId27"/>
    <p:sldId id="282" r:id="rId28"/>
    <p:sldId id="283" r:id="rId29"/>
    <p:sldId id="284" r:id="rId30"/>
    <p:sldId id="301" r:id="rId31"/>
    <p:sldId id="302" r:id="rId32"/>
    <p:sldId id="303" r:id="rId33"/>
    <p:sldId id="285" r:id="rId34"/>
    <p:sldId id="286" r:id="rId35"/>
    <p:sldId id="287" r:id="rId36"/>
    <p:sldId id="288" r:id="rId37"/>
    <p:sldId id="289" r:id="rId38"/>
    <p:sldId id="290" r:id="rId39"/>
    <p:sldId id="299" r:id="rId40"/>
    <p:sldId id="291" r:id="rId41"/>
    <p:sldId id="292" r:id="rId42"/>
    <p:sldId id="293" r:id="rId43"/>
    <p:sldId id="294" r:id="rId44"/>
    <p:sldId id="295" r:id="rId45"/>
  </p:sldIdLst>
  <p:sldSz cx="9144000" cy="6858000" type="screen4x3"/>
  <p:notesSz cx="6997700" cy="9283700"/>
  <p:custShowLst>
    <p:custShow name="Custom Show 1" id="0">
      <p:sldLst>
        <p:sld r:id="rId21"/>
        <p:sld r:id="rId4"/>
        <p:sld r:id="rId26"/>
        <p:sld r:id="rId7"/>
        <p:sld r:id="rId9"/>
        <p:sld r:id="rId36"/>
        <p:sld r:id="rId35"/>
        <p:sld r:id="rId12"/>
        <p:sld r:id="rId20"/>
        <p:sld r:id="rId20"/>
        <p:sld r:id="rId38"/>
        <p:sld r:id="rId15"/>
        <p:sld r:id="rId37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1445" y="-72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6093175E-3A27-4151-B0F5-6F6483726E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0336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340A5788-2E57-4B5E-A216-71568141C8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869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75334B2E-B179-4A4A-A00A-6A81AC67B7B9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C80D61B6-A897-4A0C-9F53-0987F0263916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5A890B12-9A7F-4E60-A99F-4829EAA7D3EA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690E2E88-DFBD-49F8-962B-4110BED725A0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C5C13855-2712-48EF-A09A-34EC21636321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5E75896F-A551-4459-92C3-69948F8B4C2B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EC6EF55C-B8EA-4C22-BA9F-F8565ED495F0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166324-A988-4441-8A09-079169575B4E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900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D3319-7E32-4557-9052-BDE6FC87FBD6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89122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23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2</a:t>
            </a:r>
          </a:p>
        </p:txBody>
      </p:sp>
      <p:sp>
        <p:nvSpPr>
          <p:cNvPr id="389124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25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891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461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1667E7-A23D-4B3A-B6AA-0288538D319C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91170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1171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3</a:t>
            </a:r>
          </a:p>
        </p:txBody>
      </p:sp>
      <p:sp>
        <p:nvSpPr>
          <p:cNvPr id="391172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1173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11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11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361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410037-381B-4141-B0B7-16B93E105D4B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93218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3219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4</a:t>
            </a:r>
          </a:p>
        </p:txBody>
      </p:sp>
      <p:sp>
        <p:nvSpPr>
          <p:cNvPr id="393220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3221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32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32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86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ED62CC-6D55-452D-8958-59B34C08B130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95266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67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5</a:t>
            </a:r>
          </a:p>
        </p:txBody>
      </p:sp>
      <p:sp>
        <p:nvSpPr>
          <p:cNvPr id="395268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69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52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8369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A0D366-CF12-4ACD-9E94-681974F0C45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97314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7315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6</a:t>
            </a:r>
          </a:p>
        </p:txBody>
      </p:sp>
      <p:sp>
        <p:nvSpPr>
          <p:cNvPr id="397316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7317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73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73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8661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2CC9A9-0218-4D3C-BFCB-DE7AC7DB70B5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99362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63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8</a:t>
            </a:r>
          </a:p>
        </p:txBody>
      </p:sp>
      <p:sp>
        <p:nvSpPr>
          <p:cNvPr id="399364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65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936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1962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5624A4-029C-4662-AF7E-0A181D5867FB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58893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09DAB7-2DC8-4FDC-842F-5559CB2EA1E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1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154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F9D9E2-0A6F-44A9-8E45-A75AB1F6570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7</a:t>
            </a:r>
          </a:p>
        </p:txBody>
      </p:sp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77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4126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489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167D61-1299-4738-998E-B7598F52B3BA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406530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1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9</a:t>
            </a:r>
          </a:p>
        </p:txBody>
      </p:sp>
      <p:sp>
        <p:nvSpPr>
          <p:cNvPr id="406532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3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40653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3413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37E2EA-9807-4F3D-B8FC-96755ABE8479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9509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620018-5376-44B2-90A6-5DE5DDB6B7D2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42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750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949D54-223C-471B-97EB-B0E88315CD9F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2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06730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A45488-9175-49B8-A481-DDA78F20D344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1809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042D41-9A2D-4E77-B931-9357193CC435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3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036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B20CD-5DFE-42CD-98FB-68AB74D67E8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388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1945BA-7E7E-4F7F-B997-567660820621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6029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97C1CE-17F2-486D-B9AE-6F01673374BD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42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746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EACD7A-95B4-4144-8D2D-028FE20BB51F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212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8BE2B6-40FB-481E-9695-02D3F8B135FB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3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5039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7D812A-CB53-44CA-86E1-B4C7ECE809C1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3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97059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41955F-8E8B-42AA-A9F8-C6AC036DD22A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3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56151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E37D7-5A74-4A99-A094-ED1F86FA59B8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44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97185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DE31D8-FE05-4081-A4E0-B54E03C7A48A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293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A3A2BF-EFF9-41CE-A98F-BDFB61314882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89837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C1BE77-114E-442C-BBD3-C107011EFCEB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4375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2235F4-657C-4D4E-BA78-96E5EA4FA23B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38093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97D091-F7F8-47CB-92CB-C551AD3DF396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476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9049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A39C5B83-9155-4DD0-8D18-717F235BF6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29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4DD9261-FB6D-4E44-A19B-7574FC0B20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393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153E107-1373-4E65-8651-C67DE11C2F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329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4926C95-7B98-4312-A6ED-6722C6B11D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574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D41E1DE-12B0-4F44-87EE-5708DD4049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62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763C7EB-FF8A-410E-A773-59E710FE96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76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6D881CA-8ACE-4FBD-803D-1D2B49E0D2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05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DF5C16A-9E13-41F3-B4C1-F60C55A8AD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025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969F28E-07B4-471C-9481-649B395518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620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5214C06-BE82-47DD-99E2-83DC78CCB3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8364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B58A165-7969-4E48-BB58-E9602445A3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58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09253" name="Text Box 5"/>
          <p:cNvSpPr txBox="1">
            <a:spLocks noChangeArrowheads="1"/>
          </p:cNvSpPr>
          <p:nvPr/>
        </p:nvSpPr>
        <p:spPr bwMode="auto">
          <a:xfrm>
            <a:off x="4532883" y="6613525"/>
            <a:ext cx="34176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fld id="{43B9834C-2568-42AC-AD3B-443C4D6F2DD2}" type="slidenum">
              <a:rPr lang="en-US" altLang="en-US" sz="1000" b="1" smtClean="0">
                <a:solidFill>
                  <a:schemeClr val="tx2"/>
                </a:solidFill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 dirty="0">
              <a:solidFill>
                <a:schemeClr val="tx2"/>
              </a:solidFill>
            </a:endParaRPr>
          </a:p>
        </p:txBody>
      </p:sp>
      <p:sp>
        <p:nvSpPr>
          <p:cNvPr id="30925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9256" name="Freeform 8"/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2" y="48"/>
              </a:cxn>
              <a:cxn ang="0">
                <a:pos x="9" y="34"/>
              </a:cxn>
              <a:cxn ang="0">
                <a:pos x="17" y="25"/>
              </a:cxn>
              <a:cxn ang="0">
                <a:pos x="30" y="17"/>
              </a:cxn>
              <a:cxn ang="0">
                <a:pos x="45" y="10"/>
              </a:cxn>
              <a:cxn ang="0">
                <a:pos x="57" y="6"/>
              </a:cxn>
              <a:cxn ang="0">
                <a:pos x="70" y="2"/>
              </a:cxn>
              <a:cxn ang="0">
                <a:pos x="85" y="0"/>
              </a:cxn>
              <a:cxn ang="0">
                <a:pos x="100" y="0"/>
              </a:cxn>
              <a:cxn ang="0">
                <a:pos x="118" y="0"/>
              </a:cxn>
              <a:cxn ang="0">
                <a:pos x="137" y="0"/>
              </a:cxn>
              <a:cxn ang="0">
                <a:pos x="154" y="2"/>
              </a:cxn>
              <a:cxn ang="0">
                <a:pos x="173" y="6"/>
              </a:cxn>
              <a:cxn ang="0">
                <a:pos x="192" y="8"/>
              </a:cxn>
              <a:cxn ang="0">
                <a:pos x="209" y="12"/>
              </a:cxn>
              <a:cxn ang="0">
                <a:pos x="224" y="15"/>
              </a:cxn>
              <a:cxn ang="0">
                <a:pos x="239" y="19"/>
              </a:cxn>
              <a:cxn ang="0">
                <a:pos x="254" y="23"/>
              </a:cxn>
              <a:cxn ang="0">
                <a:pos x="266" y="25"/>
              </a:cxn>
              <a:cxn ang="0">
                <a:pos x="273" y="27"/>
              </a:cxn>
              <a:cxn ang="0">
                <a:pos x="283" y="31"/>
              </a:cxn>
              <a:cxn ang="0">
                <a:pos x="279" y="44"/>
              </a:cxn>
              <a:cxn ang="0">
                <a:pos x="273" y="42"/>
              </a:cxn>
              <a:cxn ang="0">
                <a:pos x="260" y="40"/>
              </a:cxn>
              <a:cxn ang="0">
                <a:pos x="241" y="36"/>
              </a:cxn>
              <a:cxn ang="0">
                <a:pos x="230" y="34"/>
              </a:cxn>
              <a:cxn ang="0">
                <a:pos x="218" y="32"/>
              </a:cxn>
              <a:cxn ang="0">
                <a:pos x="207" y="31"/>
              </a:cxn>
              <a:cxn ang="0">
                <a:pos x="196" y="29"/>
              </a:cxn>
              <a:cxn ang="0">
                <a:pos x="182" y="27"/>
              </a:cxn>
              <a:cxn ang="0">
                <a:pos x="173" y="25"/>
              </a:cxn>
              <a:cxn ang="0">
                <a:pos x="163" y="23"/>
              </a:cxn>
              <a:cxn ang="0">
                <a:pos x="154" y="21"/>
              </a:cxn>
              <a:cxn ang="0">
                <a:pos x="142" y="19"/>
              </a:cxn>
              <a:cxn ang="0">
                <a:pos x="110" y="15"/>
              </a:cxn>
              <a:cxn ang="0">
                <a:pos x="83" y="21"/>
              </a:cxn>
              <a:cxn ang="0">
                <a:pos x="59" y="29"/>
              </a:cxn>
              <a:cxn ang="0">
                <a:pos x="53" y="31"/>
              </a:cxn>
              <a:cxn ang="0">
                <a:pos x="43" y="34"/>
              </a:cxn>
              <a:cxn ang="0">
                <a:pos x="32" y="38"/>
              </a:cxn>
              <a:cxn ang="0">
                <a:pos x="23" y="44"/>
              </a:cxn>
              <a:cxn ang="0">
                <a:pos x="7" y="55"/>
              </a:cxn>
              <a:cxn ang="0">
                <a:pos x="2" y="61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Helvetica" charset="0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C00000"/>
          </a:solidFill>
          <a:effectLst>
            <a:outerShdw blurRad="38100" dist="38100" dir="2700000" algn="tl">
              <a:srgbClr val="DDDDDD"/>
            </a:outerShdw>
          </a:effectLst>
          <a:latin typeface="Calibri" panose="020F0502020204030204" pitchFamily="34" charset="0"/>
          <a:ea typeface="ＭＳ Ｐゴシック" panose="020B0600070205080204" pitchFamily="34" charset="-128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12549" y="2027976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ea typeface="+mj-ea"/>
              </a:rPr>
              <a:t>Introduction to SQL</a:t>
            </a:r>
            <a:endParaRPr lang="en-US" dirty="0">
              <a:ea typeface="+mj-ea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566596" y="4321521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CC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ＭＳ Ｐゴシック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ＭＳ Ｐゴシック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ＭＳ Ｐゴシック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ＭＳ Ｐゴシック" panose="020B0600070205080204" pitchFamily="34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9pPr>
          </a:lstStyle>
          <a:p>
            <a:pPr>
              <a:defRPr/>
            </a:pPr>
            <a:endParaRPr lang="en-US" b="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a typeface="+mj-ea"/>
              </a:rPr>
              <a:t>The Relational Model</a:t>
            </a:r>
            <a:endParaRPr lang="en-US" dirty="0">
              <a:ea typeface="+mj-ea"/>
            </a:endParaRPr>
          </a:p>
        </p:txBody>
      </p:sp>
      <p:pic>
        <p:nvPicPr>
          <p:cNvPr id="17411" name="Picture 3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551" y="2760144"/>
            <a:ext cx="5291137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7466076" y="2166419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H="1">
            <a:off x="3664013" y="2371207"/>
            <a:ext cx="3889375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 flipH="1">
            <a:off x="5034026" y="2425182"/>
            <a:ext cx="2557462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 flipH="1">
            <a:off x="6245288" y="2398194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7413688" y="3355457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 flipH="1" flipV="1">
            <a:off x="7167626" y="3320532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 flipH="1">
            <a:off x="7154926" y="3539607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>
            <a:off x="7143813" y="3550719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7154926" y="3560244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04813" y="1025525"/>
            <a:ext cx="7126287" cy="4876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1800" kern="0" dirty="0" smtClean="0"/>
              <a:t>Data is stored in tables we call </a:t>
            </a:r>
            <a:r>
              <a:rPr lang="en-US" altLang="en-US" sz="1800" kern="0" dirty="0" smtClean="0">
                <a:solidFill>
                  <a:srgbClr val="0070C0"/>
                </a:solidFill>
              </a:rPr>
              <a:t>relations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Attribute Types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3313" y="1219200"/>
            <a:ext cx="7126287" cy="4876800"/>
          </a:xfrm>
        </p:spPr>
        <p:txBody>
          <a:bodyPr/>
          <a:lstStyle/>
          <a:p>
            <a:r>
              <a:rPr lang="en-US" altLang="en-US" dirty="0" smtClean="0"/>
              <a:t>The set of allowed values for each attribute is called the </a:t>
            </a:r>
            <a:r>
              <a:rPr lang="en-US" altLang="en-US" b="1" dirty="0" smtClean="0">
                <a:solidFill>
                  <a:srgbClr val="000099"/>
                </a:solidFill>
              </a:rPr>
              <a:t>domain</a:t>
            </a:r>
            <a:r>
              <a:rPr lang="en-US" altLang="en-US" dirty="0" smtClean="0"/>
              <a:t> of the attribute</a:t>
            </a:r>
          </a:p>
          <a:p>
            <a:r>
              <a:rPr lang="en-US" altLang="en-US" dirty="0" smtClean="0"/>
              <a:t>Attribute values are (normally) required to be </a:t>
            </a:r>
            <a:r>
              <a:rPr lang="en-US" altLang="en-US" b="1" dirty="0" smtClean="0">
                <a:solidFill>
                  <a:srgbClr val="000099"/>
                </a:solidFill>
              </a:rPr>
              <a:t>atomic</a:t>
            </a:r>
            <a:r>
              <a:rPr lang="en-US" altLang="en-US" dirty="0" smtClean="0"/>
              <a:t>; that is, indivisible</a:t>
            </a:r>
          </a:p>
          <a:p>
            <a:r>
              <a:rPr lang="en-US" altLang="en-US" dirty="0" smtClean="0"/>
              <a:t>The special value</a:t>
            </a:r>
            <a:r>
              <a:rPr lang="en-US" altLang="en-US" b="1" dirty="0" smtClean="0">
                <a:solidFill>
                  <a:schemeClr val="tx2"/>
                </a:solidFill>
              </a:rPr>
              <a:t> </a:t>
            </a:r>
            <a:r>
              <a:rPr lang="en-US" altLang="en-US" b="1" i="1" dirty="0" smtClean="0">
                <a:solidFill>
                  <a:srgbClr val="000000"/>
                </a:solidFill>
              </a:rPr>
              <a:t>null</a:t>
            </a:r>
            <a:r>
              <a:rPr lang="en-US" altLang="en-US" dirty="0" smtClean="0"/>
              <a:t>  is a member of every domain</a:t>
            </a:r>
          </a:p>
          <a:p>
            <a:r>
              <a:rPr lang="en-US" altLang="en-US" dirty="0" smtClean="0"/>
              <a:t>The null value causes complications in the definition of many operations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Relation Schema and Instance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077913"/>
            <a:ext cx="7848600" cy="4876800"/>
          </a:xfrm>
        </p:spPr>
        <p:txBody>
          <a:bodyPr/>
          <a:lstStyle/>
          <a:p>
            <a:r>
              <a:rPr lang="en-US" altLang="en-US" i="1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/>
              <a:t>, </a:t>
            </a:r>
            <a:r>
              <a:rPr lang="en-US" altLang="en-US" i="1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…, </a:t>
            </a:r>
            <a:r>
              <a:rPr lang="en-US" altLang="en-US" i="1" smtClean="0"/>
              <a:t>A</a:t>
            </a:r>
            <a:r>
              <a:rPr lang="en-US" altLang="en-US" i="1" baseline="-25000" smtClean="0"/>
              <a:t>n</a:t>
            </a:r>
            <a:r>
              <a:rPr lang="en-US" altLang="en-US" i="1" smtClean="0"/>
              <a:t> </a:t>
            </a:r>
            <a:r>
              <a:rPr lang="en-US" altLang="en-US" smtClean="0"/>
              <a:t>are </a:t>
            </a:r>
            <a:r>
              <a:rPr lang="en-US" altLang="en-US" i="1" smtClean="0"/>
              <a:t>attributes</a:t>
            </a:r>
          </a:p>
          <a:p>
            <a:pPr>
              <a:buFont typeface="Monotype Sorts" charset="2"/>
              <a:buNone/>
            </a:pPr>
            <a:endParaRPr lang="en-US" altLang="en-US" smtClean="0"/>
          </a:p>
          <a:p>
            <a:r>
              <a:rPr lang="en-US" altLang="en-US" i="1" smtClean="0"/>
              <a:t>R</a:t>
            </a:r>
            <a:r>
              <a:rPr lang="en-US" altLang="en-US" smtClean="0"/>
              <a:t> = (</a:t>
            </a:r>
            <a:r>
              <a:rPr lang="en-US" altLang="en-US" i="1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/>
              <a:t>, </a:t>
            </a:r>
            <a:r>
              <a:rPr lang="en-US" altLang="en-US" i="1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…, </a:t>
            </a:r>
            <a:r>
              <a:rPr lang="en-US" altLang="en-US" i="1" smtClean="0"/>
              <a:t>A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> ) is a </a:t>
            </a:r>
            <a:r>
              <a:rPr lang="en-US" altLang="en-US" i="1" smtClean="0"/>
              <a:t>relation schema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smtClean="0"/>
              <a:t>	Example: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smtClean="0"/>
              <a:t>	</a:t>
            </a:r>
            <a:r>
              <a:rPr lang="en-US" altLang="en-US" i="1" smtClean="0"/>
              <a:t>     instructor </a:t>
            </a:r>
            <a:r>
              <a:rPr lang="en-US" altLang="en-US" smtClean="0"/>
              <a:t> = (</a:t>
            </a:r>
            <a:r>
              <a:rPr lang="en-US" altLang="en-US" i="1" smtClean="0"/>
              <a:t>ID,  name, dept_name, salary</a:t>
            </a:r>
            <a:r>
              <a:rPr lang="en-US" altLang="en-US" smtClean="0"/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smtClean="0"/>
              <a:t>Formally, given sets </a:t>
            </a:r>
            <a:r>
              <a:rPr lang="en-US" altLang="en-US" i="1" smtClean="0"/>
              <a:t>D</a:t>
            </a:r>
            <a:r>
              <a:rPr lang="en-US" altLang="en-US" baseline="-25000" smtClean="0"/>
              <a:t>1</a:t>
            </a:r>
            <a:r>
              <a:rPr lang="en-US" altLang="en-US" smtClean="0"/>
              <a:t>, </a:t>
            </a:r>
            <a:r>
              <a:rPr lang="en-US" altLang="en-US" i="1" smtClean="0"/>
              <a:t>D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…. </a:t>
            </a:r>
            <a:r>
              <a:rPr lang="en-US" altLang="en-US" i="1" smtClean="0"/>
              <a:t>D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> a </a:t>
            </a:r>
            <a:r>
              <a:rPr lang="en-US" altLang="en-US" b="1" smtClean="0">
                <a:solidFill>
                  <a:srgbClr val="000099"/>
                </a:solidFill>
              </a:rPr>
              <a:t>relation</a:t>
            </a:r>
            <a:r>
              <a:rPr lang="en-US" altLang="en-US" i="1" smtClean="0">
                <a:solidFill>
                  <a:srgbClr val="008000"/>
                </a:solidFill>
              </a:rPr>
              <a:t> </a:t>
            </a:r>
            <a:r>
              <a:rPr lang="en-US" altLang="en-US" b="1" i="1" smtClean="0">
                <a:solidFill>
                  <a:srgbClr val="000000"/>
                </a:solidFill>
              </a:rPr>
              <a:t>r</a:t>
            </a:r>
            <a:r>
              <a:rPr lang="en-US" altLang="en-US" smtClean="0"/>
              <a:t> is a subset of </a:t>
            </a:r>
            <a:br>
              <a:rPr lang="en-US" altLang="en-US" smtClean="0"/>
            </a:br>
            <a:r>
              <a:rPr lang="en-US" altLang="en-US" smtClean="0"/>
              <a:t>        </a:t>
            </a:r>
            <a:r>
              <a:rPr lang="en-US" altLang="en-US" i="1" smtClean="0"/>
              <a:t>D</a:t>
            </a:r>
            <a:r>
              <a:rPr lang="en-US" altLang="en-US" baseline="-25000" smtClean="0"/>
              <a:t>1</a:t>
            </a:r>
            <a:r>
              <a:rPr lang="en-US" altLang="en-US" smtClean="0"/>
              <a:t> x  </a:t>
            </a:r>
            <a:r>
              <a:rPr lang="en-US" altLang="en-US" i="1" smtClean="0"/>
              <a:t>D</a:t>
            </a:r>
            <a:r>
              <a:rPr lang="en-US" altLang="en-US" baseline="-25000" smtClean="0"/>
              <a:t>2 </a:t>
            </a:r>
            <a:r>
              <a:rPr lang="en-US" altLang="en-US" smtClean="0"/>
              <a:t> x … x </a:t>
            </a:r>
            <a:r>
              <a:rPr lang="en-US" altLang="en-US" i="1" smtClean="0"/>
              <a:t>D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Thus, a relation is a set of </a:t>
            </a:r>
            <a:r>
              <a:rPr lang="en-US" altLang="en-US" i="1" smtClean="0"/>
              <a:t>n</a:t>
            </a:r>
            <a:r>
              <a:rPr lang="en-US" altLang="en-US" smtClean="0"/>
              <a:t>-tuples (</a:t>
            </a:r>
            <a:r>
              <a:rPr lang="en-US" altLang="en-US" i="1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/>
              <a:t>,</a:t>
            </a:r>
            <a:r>
              <a:rPr lang="en-US" altLang="en-US" i="1" smtClean="0"/>
              <a:t> a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…, </a:t>
            </a:r>
            <a:r>
              <a:rPr lang="en-US" altLang="en-US" i="1" smtClean="0"/>
              <a:t>a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>) where each </a:t>
            </a:r>
            <a:r>
              <a:rPr lang="en-US" altLang="en-US" i="1" smtClean="0"/>
              <a:t>a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 </a:t>
            </a:r>
            <a:r>
              <a:rPr lang="en-US" altLang="en-US" smtClean="0">
                <a:sym typeface="Symbol" panose="05050102010706020507" pitchFamily="18" charset="2"/>
              </a:rPr>
              <a:t> </a:t>
            </a:r>
            <a:r>
              <a:rPr lang="en-US" altLang="en-US" i="1" smtClean="0">
                <a:sym typeface="Symbol" panose="05050102010706020507" pitchFamily="18" charset="2"/>
              </a:rPr>
              <a:t>D</a:t>
            </a:r>
            <a:r>
              <a:rPr lang="en-US" altLang="en-US" i="1" baseline="-25000" smtClean="0">
                <a:sym typeface="Symbol" panose="05050102010706020507" pitchFamily="18" charset="2"/>
              </a:rPr>
              <a:t>i</a:t>
            </a:r>
            <a:endParaRPr lang="en-US" altLang="en-US" i="1" smtClean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smtClean="0"/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smtClean="0"/>
          </a:p>
          <a:p>
            <a:pPr>
              <a:buFont typeface="Monotype Sorts" charset="2"/>
              <a:buNone/>
            </a:pPr>
            <a:endParaRPr lang="en-US" altLang="en-US" smtClean="0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20738" y="4400550"/>
            <a:ext cx="74041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The current values (</a:t>
            </a:r>
            <a:r>
              <a:rPr kumimoji="1" lang="en-US" altLang="en-US" sz="1800" b="1">
                <a:solidFill>
                  <a:srgbClr val="000099"/>
                </a:solidFill>
              </a:rPr>
              <a:t>relation instance</a:t>
            </a:r>
            <a:r>
              <a:rPr kumimoji="1" lang="en-US" altLang="en-US" sz="1800"/>
              <a:t>) of a relation are specified by a table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An element </a:t>
            </a:r>
            <a:r>
              <a:rPr kumimoji="1" lang="en-US" altLang="en-US" sz="1800" b="1" i="1">
                <a:solidFill>
                  <a:schemeClr val="bg2"/>
                </a:solidFill>
              </a:rPr>
              <a:t>t</a:t>
            </a:r>
            <a:r>
              <a:rPr kumimoji="1" lang="en-US" altLang="en-US" sz="1800" b="1"/>
              <a:t> </a:t>
            </a:r>
            <a:r>
              <a:rPr kumimoji="1" lang="en-US" altLang="en-US" sz="1800"/>
              <a:t>of</a:t>
            </a:r>
            <a:r>
              <a:rPr kumimoji="1" lang="en-US" altLang="en-US" sz="1800" b="1">
                <a:solidFill>
                  <a:schemeClr val="bg2"/>
                </a:solidFill>
              </a:rPr>
              <a:t> </a:t>
            </a:r>
            <a:r>
              <a:rPr kumimoji="1" lang="en-US" altLang="en-US" sz="1800" b="1" i="1">
                <a:solidFill>
                  <a:schemeClr val="bg2"/>
                </a:solidFill>
              </a:rPr>
              <a:t>r</a:t>
            </a:r>
            <a:r>
              <a:rPr kumimoji="1" lang="en-US" altLang="en-US" sz="1800"/>
              <a:t> is a </a:t>
            </a:r>
            <a:r>
              <a:rPr kumimoji="1" lang="en-US" altLang="en-US" sz="1800" i="1"/>
              <a:t>tuple</a:t>
            </a:r>
            <a:r>
              <a:rPr kumimoji="1" lang="en-US" altLang="en-US" sz="1800"/>
              <a:t>, represented by a </a:t>
            </a:r>
            <a:r>
              <a:rPr kumimoji="1" lang="en-US" altLang="en-US" sz="1800" i="1"/>
              <a:t>row </a:t>
            </a:r>
            <a:r>
              <a:rPr kumimoji="1" lang="en-US" altLang="en-US" sz="1800"/>
              <a:t>in a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3250" y="12700"/>
            <a:ext cx="8077200" cy="606425"/>
          </a:xfrm>
        </p:spPr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Relations are Unordered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798513" y="1077913"/>
            <a:ext cx="773588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Order of tuples is irrelevant (tuples may be stored in an arbitrary order)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Example: </a:t>
            </a:r>
            <a:r>
              <a:rPr kumimoji="1" lang="en-US" altLang="en-US" sz="1800" i="1"/>
              <a:t>instructor</a:t>
            </a:r>
            <a:r>
              <a:rPr kumimoji="1" lang="en-US" altLang="en-US" sz="1800"/>
              <a:t> relation with unordered tuples</a:t>
            </a:r>
          </a:p>
        </p:txBody>
      </p:sp>
      <p:pic>
        <p:nvPicPr>
          <p:cNvPr id="23556" name="Picture 4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08213"/>
            <a:ext cx="4953000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Database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077913"/>
            <a:ext cx="8077200" cy="517683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dirty="0" smtClean="0"/>
              <a:t>A database consists of multiple relations</a:t>
            </a:r>
          </a:p>
          <a:p>
            <a:pPr>
              <a:spcBef>
                <a:spcPct val="60000"/>
              </a:spcBef>
            </a:pPr>
            <a:r>
              <a:rPr lang="en-US" altLang="en-US" dirty="0" smtClean="0"/>
              <a:t>Information about an enterprise is broken up into parts</a:t>
            </a:r>
          </a:p>
          <a:p>
            <a:pPr>
              <a:lnSpc>
                <a:spcPct val="110000"/>
              </a:lnSpc>
              <a:spcBef>
                <a:spcPct val="60000"/>
              </a:spcBef>
              <a:buFont typeface="Monotype Sorts" charset="2"/>
              <a:buNone/>
            </a:pPr>
            <a:r>
              <a:rPr lang="en-US" altLang="en-US" dirty="0" smtClean="0"/>
              <a:t>	        </a:t>
            </a:r>
            <a:r>
              <a:rPr lang="en-US" altLang="en-US" i="1" dirty="0" smtClean="0"/>
              <a:t>instructor</a:t>
            </a:r>
            <a:r>
              <a:rPr lang="en-US" altLang="en-US" dirty="0" smtClean="0"/>
              <a:t>  </a:t>
            </a:r>
            <a:br>
              <a:rPr lang="en-US" altLang="en-US" dirty="0" smtClean="0"/>
            </a:br>
            <a:r>
              <a:rPr lang="en-US" altLang="en-US" dirty="0" smtClean="0"/>
              <a:t>        </a:t>
            </a:r>
            <a:r>
              <a:rPr lang="en-US" altLang="en-US" i="1" dirty="0" smtClean="0"/>
              <a:t>student</a:t>
            </a:r>
            <a:r>
              <a:rPr lang="en-US" altLang="en-US" dirty="0" smtClean="0"/>
              <a:t>     </a:t>
            </a:r>
            <a:br>
              <a:rPr lang="en-US" altLang="en-US" dirty="0" smtClean="0"/>
            </a:br>
            <a:r>
              <a:rPr lang="en-US" altLang="en-US" dirty="0" smtClean="0"/>
              <a:t>        </a:t>
            </a:r>
            <a:r>
              <a:rPr lang="en-US" altLang="en-US" i="1" dirty="0" smtClean="0"/>
              <a:t>advisor</a:t>
            </a:r>
            <a:endParaRPr lang="en-US" altLang="en-US" dirty="0" smtClean="0"/>
          </a:p>
          <a:p>
            <a:pPr>
              <a:lnSpc>
                <a:spcPct val="110000"/>
              </a:lnSpc>
              <a:spcBef>
                <a:spcPct val="60000"/>
              </a:spcBef>
            </a:pPr>
            <a:r>
              <a:rPr lang="en-US" altLang="en-US" dirty="0" smtClean="0"/>
              <a:t>Bad design: </a:t>
            </a:r>
            <a:br>
              <a:rPr lang="en-US" altLang="en-US" dirty="0" smtClean="0"/>
            </a:br>
            <a:r>
              <a:rPr lang="en-US" altLang="en-US" dirty="0" smtClean="0"/>
              <a:t>       </a:t>
            </a:r>
            <a:r>
              <a:rPr lang="en-US" altLang="en-US" i="1" dirty="0" err="1" smtClean="0"/>
              <a:t>univ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instructor -ID, name, </a:t>
            </a:r>
            <a:r>
              <a:rPr lang="en-US" altLang="en-US" i="1" dirty="0" err="1" smtClean="0"/>
              <a:t>dept_name</a:t>
            </a:r>
            <a:r>
              <a:rPr lang="en-US" altLang="en-US" i="1" dirty="0" smtClean="0"/>
              <a:t>, salary, </a:t>
            </a:r>
            <a:r>
              <a:rPr lang="en-US" altLang="en-US" i="1" dirty="0" err="1" smtClean="0"/>
              <a:t>student_Id</a:t>
            </a:r>
            <a:r>
              <a:rPr lang="en-US" altLang="en-US" dirty="0" smtClean="0"/>
              <a:t>, ..)</a:t>
            </a:r>
            <a:br>
              <a:rPr lang="en-US" altLang="en-US" dirty="0" smtClean="0"/>
            </a:br>
            <a:r>
              <a:rPr lang="en-US" altLang="en-US" dirty="0" smtClean="0"/>
              <a:t>results in</a:t>
            </a:r>
          </a:p>
          <a:p>
            <a:pPr lvl="1">
              <a:spcBef>
                <a:spcPct val="600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repetition of information (e.g., two students have the same instructor)</a:t>
            </a:r>
          </a:p>
          <a:p>
            <a:pPr lvl="1">
              <a:spcBef>
                <a:spcPct val="600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the need for null values  (e.g., represent an student with no advisor)</a:t>
            </a:r>
          </a:p>
          <a:p>
            <a:pPr>
              <a:spcBef>
                <a:spcPct val="60000"/>
              </a:spcBef>
            </a:pPr>
            <a:r>
              <a:rPr lang="en-US" altLang="en-US" dirty="0" smtClean="0"/>
              <a:t>Normalization theory deals with how to design “good” relational schemas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Keys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425" y="1077913"/>
            <a:ext cx="7978775" cy="5311775"/>
          </a:xfrm>
        </p:spPr>
        <p:txBody>
          <a:bodyPr/>
          <a:lstStyle/>
          <a:p>
            <a:r>
              <a:rPr lang="en-US" altLang="en-US" dirty="0" smtClean="0"/>
              <a:t>Let K </a:t>
            </a:r>
            <a:r>
              <a:rPr lang="en-US" altLang="en-US" dirty="0" smtClean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i="1" dirty="0" smtClean="0">
                <a:sym typeface="Symbol" panose="05050102010706020507" pitchFamily="18" charset="2"/>
              </a:rPr>
              <a:t>K </a:t>
            </a:r>
            <a:r>
              <a:rPr lang="en-US" altLang="en-US" dirty="0" smtClean="0">
                <a:sym typeface="Symbol" panose="05050102010706020507" pitchFamily="18" charset="2"/>
              </a:rPr>
              <a:t>is a </a:t>
            </a:r>
            <a:r>
              <a:rPr lang="en-US" altLang="en-US" b="1" dirty="0" err="1" smtClean="0">
                <a:solidFill>
                  <a:srgbClr val="000099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b="1" dirty="0" smtClean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of </a:t>
            </a:r>
            <a:r>
              <a:rPr lang="en-US" altLang="en-US" i="1" dirty="0" smtClean="0">
                <a:sym typeface="Symbol" panose="05050102010706020507" pitchFamily="18" charset="2"/>
              </a:rPr>
              <a:t>R</a:t>
            </a:r>
            <a:r>
              <a:rPr lang="en-US" altLang="en-US" dirty="0" smtClean="0">
                <a:sym typeface="Symbol" panose="05050102010706020507" pitchFamily="18" charset="2"/>
              </a:rPr>
              <a:t> if values for </a:t>
            </a:r>
            <a:r>
              <a:rPr lang="en-US" altLang="en-US" i="1" dirty="0" smtClean="0">
                <a:sym typeface="Symbol" panose="05050102010706020507" pitchFamily="18" charset="2"/>
              </a:rPr>
              <a:t>K</a:t>
            </a:r>
            <a:r>
              <a:rPr lang="en-US" altLang="en-US" dirty="0" smtClean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i="1" dirty="0" smtClean="0">
                <a:sym typeface="Symbol" panose="05050102010706020507" pitchFamily="18" charset="2"/>
              </a:rPr>
              <a:t>r(R)</a:t>
            </a:r>
            <a:r>
              <a:rPr lang="en-US" altLang="en-US" dirty="0" smtClean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Example:  {</a:t>
            </a:r>
            <a:r>
              <a:rPr lang="en-US" alt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ID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} and {</a:t>
            </a:r>
            <a:r>
              <a:rPr lang="en-US" altLang="en-US" dirty="0" err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ID,name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} are both </a:t>
            </a:r>
            <a:r>
              <a:rPr lang="en-US" altLang="en-US" dirty="0" err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superkeys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of </a:t>
            </a:r>
            <a:r>
              <a:rPr lang="en-US" alt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instructor.</a:t>
            </a:r>
            <a:endParaRPr lang="en-US" altLang="en-US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dirty="0" err="1" smtClean="0">
                <a:sym typeface="Symbol" panose="05050102010706020507" pitchFamily="18" charset="2"/>
              </a:rPr>
              <a:t>Superkey</a:t>
            </a:r>
            <a:r>
              <a:rPr lang="en-US" altLang="en-US" dirty="0" smtClean="0">
                <a:sym typeface="Symbol" panose="05050102010706020507" pitchFamily="18" charset="2"/>
              </a:rPr>
              <a:t> </a:t>
            </a:r>
            <a:r>
              <a:rPr lang="en-US" altLang="en-US" i="1" dirty="0" smtClean="0">
                <a:sym typeface="Symbol" panose="05050102010706020507" pitchFamily="18" charset="2"/>
              </a:rPr>
              <a:t>K</a:t>
            </a:r>
            <a:r>
              <a:rPr lang="en-US" altLang="en-US" dirty="0" smtClean="0">
                <a:sym typeface="Symbol" panose="05050102010706020507" pitchFamily="18" charset="2"/>
              </a:rPr>
              <a:t> is a </a:t>
            </a:r>
            <a:r>
              <a:rPr lang="en-US" altLang="en-US" b="1" dirty="0" smtClean="0">
                <a:solidFill>
                  <a:srgbClr val="000099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dirty="0" smtClean="0">
                <a:sym typeface="Symbol" panose="05050102010706020507" pitchFamily="18" charset="2"/>
              </a:rPr>
              <a:t> if </a:t>
            </a:r>
            <a:r>
              <a:rPr lang="en-US" altLang="en-US" i="1" dirty="0" smtClean="0">
                <a:sym typeface="Symbol" panose="05050102010706020507" pitchFamily="18" charset="2"/>
              </a:rPr>
              <a:t>K</a:t>
            </a:r>
            <a:r>
              <a:rPr lang="en-US" altLang="en-US" dirty="0" smtClean="0">
                <a:sym typeface="Symbol" panose="05050102010706020507" pitchFamily="18" charset="2"/>
              </a:rPr>
              <a:t> is minimal</a:t>
            </a:r>
            <a:br>
              <a:rPr lang="en-US" altLang="en-US" dirty="0" smtClean="0">
                <a:sym typeface="Symbol" panose="05050102010706020507" pitchFamily="18" charset="2"/>
              </a:rPr>
            </a:br>
            <a:r>
              <a:rPr lang="en-US" altLang="en-US" dirty="0" smtClean="0">
                <a:sym typeface="Symbol" panose="05050102010706020507" pitchFamily="18" charset="2"/>
              </a:rPr>
              <a:t>Example:  {</a:t>
            </a:r>
            <a:r>
              <a:rPr lang="en-US" altLang="en-US" i="1" dirty="0" smtClean="0">
                <a:sym typeface="Symbol" panose="05050102010706020507" pitchFamily="18" charset="2"/>
              </a:rPr>
              <a:t>ID</a:t>
            </a:r>
            <a:r>
              <a:rPr lang="en-US" altLang="en-US" dirty="0" smtClean="0">
                <a:sym typeface="Symbol" panose="05050102010706020507" pitchFamily="18" charset="2"/>
              </a:rPr>
              <a:t>} is a candidate key for </a:t>
            </a:r>
            <a:r>
              <a:rPr lang="en-US" altLang="en-US" i="1" dirty="0" smtClean="0">
                <a:sym typeface="Symbol" panose="05050102010706020507" pitchFamily="18" charset="2"/>
              </a:rPr>
              <a:t>Instructor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dirty="0" smtClean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b="1" dirty="0" smtClean="0">
                <a:solidFill>
                  <a:srgbClr val="000099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dirty="0" smtClean="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which one?</a:t>
            </a:r>
          </a:p>
          <a:p>
            <a:r>
              <a:rPr lang="en-US" altLang="en-US" b="1" dirty="0" smtClean="0">
                <a:solidFill>
                  <a:srgbClr val="000099"/>
                </a:solidFill>
              </a:rPr>
              <a:t>Foreign key</a:t>
            </a:r>
            <a:r>
              <a:rPr lang="en-US" altLang="en-US" dirty="0" smtClean="0"/>
              <a:t> constraint: Value in one relation must appear in another</a:t>
            </a:r>
          </a:p>
          <a:p>
            <a:pPr lvl="1"/>
            <a:r>
              <a:rPr lang="en-US" altLang="en-US" b="1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Referencing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relation</a:t>
            </a:r>
          </a:p>
          <a:p>
            <a:pPr lvl="1"/>
            <a:r>
              <a:rPr lang="en-US" altLang="en-US" b="1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Referenced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relation</a:t>
            </a:r>
            <a:endParaRPr lang="en-US" altLang="en-US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ea typeface="+mj-ea"/>
              </a:rPr>
              <a:t>Schema Diagram for University Database</a:t>
            </a:r>
          </a:p>
        </p:txBody>
      </p:sp>
      <p:pic>
        <p:nvPicPr>
          <p:cNvPr id="29699" name="Picture 3" descr="allFigures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049338"/>
            <a:ext cx="8404225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60425" y="1077913"/>
            <a:ext cx="7978775" cy="53117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1800" kern="0" dirty="0" smtClean="0"/>
              <a:t>Structured Query Language</a:t>
            </a:r>
          </a:p>
          <a:p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To manage relational databases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DDL: define, modify and drop tables and indexes in the </a:t>
            </a:r>
            <a:r>
              <a:rPr lang="en-US" altLang="en-US" sz="1800" b="1" kern="0" dirty="0" smtClean="0">
                <a:solidFill>
                  <a:srgbClr val="FF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catalog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DML: define, modify, delete and query data in tables</a:t>
            </a:r>
          </a:p>
          <a:p>
            <a:r>
              <a:rPr lang="en-US" altLang="en-US" sz="1800" kern="0" dirty="0" smtClean="0">
                <a:sym typeface="Symbol" panose="05050102010706020507" pitchFamily="18" charset="2"/>
              </a:rPr>
              <a:t>History</a:t>
            </a:r>
          </a:p>
          <a:p>
            <a:pPr lvl="1"/>
            <a:r>
              <a:rPr lang="en-US" altLang="en-US" sz="1800" dirty="0" smtClean="0"/>
              <a:t>IBM Sequel language developed as part of System R project at the IBM San Jose Research Laboratory</a:t>
            </a:r>
          </a:p>
          <a:p>
            <a:pPr lvl="1"/>
            <a:r>
              <a:rPr lang="en-US" altLang="en-US" sz="1800" dirty="0" smtClean="0"/>
              <a:t>Renamed Structured Query Language (SQL)</a:t>
            </a:r>
          </a:p>
          <a:p>
            <a:pPr lvl="1"/>
            <a:r>
              <a:rPr lang="en-US" altLang="en-US" sz="1800" dirty="0" smtClean="0"/>
              <a:t>ANSI and ISO standard SQL</a:t>
            </a:r>
            <a:endParaRPr lang="en-US" altLang="en-US" sz="1800" kern="0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7096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as a language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60425" y="1077913"/>
            <a:ext cx="7978775" cy="53117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1800" kern="0" dirty="0" smtClean="0"/>
              <a:t>SQL is not </a:t>
            </a:r>
            <a:r>
              <a:rPr lang="en-US" altLang="en-US" sz="1800" kern="0" dirty="0" smtClean="0">
                <a:solidFill>
                  <a:srgbClr val="0070C0"/>
                </a:solidFill>
              </a:rPr>
              <a:t>procedural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A procedural language is one where we designate </a:t>
            </a:r>
            <a:r>
              <a:rPr lang="en-US" altLang="en-US" sz="1800" kern="0" dirty="0" smtClean="0">
                <a:solidFill>
                  <a:srgbClr val="0070C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HOW</a:t>
            </a:r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to do the task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Usually it works through procedures and functions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Example: Java, C….</a:t>
            </a:r>
          </a:p>
          <a:p>
            <a:r>
              <a:rPr lang="en-US" altLang="en-US" sz="1800" kern="0" dirty="0" smtClean="0">
                <a:sym typeface="Symbol" panose="05050102010706020507" pitchFamily="18" charset="2"/>
              </a:rPr>
              <a:t>SQL is </a:t>
            </a:r>
            <a:r>
              <a:rPr lang="en-US" altLang="en-US" sz="1800" kern="0" dirty="0" smtClean="0">
                <a:solidFill>
                  <a:srgbClr val="0070C0"/>
                </a:solidFill>
                <a:sym typeface="Symbol" panose="05050102010706020507" pitchFamily="18" charset="2"/>
              </a:rPr>
              <a:t>declarative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We only specify what we want regardless of how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Query optimizer cares about the how</a:t>
            </a:r>
          </a:p>
          <a:p>
            <a:r>
              <a:rPr lang="en-US" altLang="en-US" sz="1800" kern="0" dirty="0" smtClean="0">
                <a:sym typeface="Symbol" panose="05050102010706020507" pitchFamily="18" charset="2"/>
              </a:rPr>
              <a:t>SQL is </a:t>
            </a:r>
            <a:r>
              <a:rPr lang="en-US" altLang="en-US" sz="1800" kern="0" dirty="0" smtClean="0">
                <a:solidFill>
                  <a:srgbClr val="0070C0"/>
                </a:solidFill>
                <a:sym typeface="Symbol" panose="05050102010706020507" pitchFamily="18" charset="2"/>
              </a:rPr>
              <a:t>interactive</a:t>
            </a:r>
            <a:r>
              <a:rPr lang="en-US" altLang="en-US" sz="1800" kern="0" dirty="0" smtClean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1800" kern="0" dirty="0" smtClean="0">
                <a:sym typeface="Symbol" panose="05050102010706020507" pitchFamily="18" charset="2"/>
              </a:rPr>
              <a:t>SQL </a:t>
            </a:r>
            <a:r>
              <a:rPr lang="en-US" altLang="en-US" sz="1800" kern="0" dirty="0">
                <a:sym typeface="Symbol" panose="05050102010706020507" pitchFamily="18" charset="2"/>
              </a:rPr>
              <a:t>statements </a:t>
            </a:r>
            <a:r>
              <a:rPr lang="en-US" altLang="en-US" sz="1800" kern="0" dirty="0" smtClean="0">
                <a:sym typeface="Symbol" panose="05050102010706020507" pitchFamily="18" charset="2"/>
              </a:rPr>
              <a:t>can be submitted using a command </a:t>
            </a:r>
            <a:r>
              <a:rPr lang="en-US" altLang="en-US" sz="1800" kern="0" dirty="0">
                <a:sym typeface="Symbol" panose="05050102010706020507" pitchFamily="18" charset="2"/>
              </a:rPr>
              <a:t>line processor, or </a:t>
            </a:r>
            <a:r>
              <a:rPr lang="en-US" altLang="en-US" sz="1800" kern="0" dirty="0" smtClean="0">
                <a:sym typeface="Symbol" panose="05050102010706020507" pitchFamily="18" charset="2"/>
              </a:rPr>
              <a:t>a </a:t>
            </a:r>
            <a:r>
              <a:rPr lang="en-US" altLang="en-US" sz="1800" kern="0" dirty="0">
                <a:sym typeface="Symbol" panose="05050102010706020507" pitchFamily="18" charset="2"/>
              </a:rPr>
              <a:t>query </a:t>
            </a:r>
            <a:r>
              <a:rPr lang="en-US" altLang="en-US" sz="1800" kern="0" dirty="0" smtClean="0">
                <a:sym typeface="Symbol" panose="05050102010706020507" pitchFamily="18" charset="2"/>
              </a:rPr>
              <a:t>tool and the results are immediate</a:t>
            </a:r>
          </a:p>
          <a:p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SQL can be </a:t>
            </a:r>
            <a:r>
              <a:rPr lang="en-US" altLang="en-US" sz="1800" kern="0" dirty="0" smtClean="0">
                <a:solidFill>
                  <a:srgbClr val="0070C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embedded</a:t>
            </a:r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inside programs</a:t>
            </a:r>
          </a:p>
        </p:txBody>
      </p:sp>
    </p:spTree>
    <p:extLst>
      <p:ext uri="{BB962C8B-B14F-4D97-AF65-F5344CB8AC3E}">
        <p14:creationId xmlns:p14="http://schemas.microsoft.com/office/powerpoint/2010/main" val="125786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Domain Types in SQL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898" y="1106487"/>
            <a:ext cx="8496377" cy="516049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char(n).</a:t>
            </a:r>
            <a:r>
              <a:rPr lang="en-US" altLang="en-US" dirty="0"/>
              <a:t>  Fixed length character string, with user-specified length </a:t>
            </a:r>
            <a:r>
              <a:rPr lang="en-US" altLang="en-US" i="1" dirty="0"/>
              <a:t>n</a:t>
            </a:r>
            <a:r>
              <a:rPr lang="en-US" altLang="en-US" i="1" dirty="0" smtClean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Char(10) “Database” == “Database  “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varchar(n).</a:t>
            </a:r>
            <a:r>
              <a:rPr lang="en-US" altLang="en-US" b="1" dirty="0"/>
              <a:t> </a:t>
            </a:r>
            <a:r>
              <a:rPr lang="en-US" altLang="en-US" dirty="0"/>
              <a:t> Variable length character strings, with user-specified maximum length </a:t>
            </a:r>
            <a:r>
              <a:rPr lang="en-US" altLang="en-US" i="1" dirty="0"/>
              <a:t>n</a:t>
            </a:r>
            <a:r>
              <a:rPr lang="en-US" altLang="en-US" i="1" dirty="0" smtClean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Varchar(10) </a:t>
            </a:r>
            <a:r>
              <a:rPr lang="en-US" altLang="en-US" dirty="0"/>
              <a:t>“Database” == “</a:t>
            </a:r>
            <a:r>
              <a:rPr lang="en-US" altLang="en-US" dirty="0" smtClean="0"/>
              <a:t>Database“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int.</a:t>
            </a:r>
            <a:r>
              <a:rPr lang="en-US" altLang="en-US" b="1" dirty="0"/>
              <a:t>  </a:t>
            </a:r>
            <a:r>
              <a:rPr lang="en-US" altLang="en-US" dirty="0"/>
              <a:t>Integer (a finite subset of the integers that is </a:t>
            </a:r>
            <a:r>
              <a:rPr lang="en-US" altLang="en-US" dirty="0" smtClean="0"/>
              <a:t>machine-dependent, 4 bytes).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25, -38, between -2^31 and 2^31-1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 err="1">
                <a:solidFill>
                  <a:srgbClr val="000099"/>
                </a:solidFill>
              </a:rPr>
              <a:t>smallint</a:t>
            </a:r>
            <a:r>
              <a:rPr lang="en-US" altLang="en-US" b="1" dirty="0">
                <a:solidFill>
                  <a:srgbClr val="000099"/>
                </a:solidFill>
              </a:rPr>
              <a:t>.</a:t>
            </a:r>
            <a:r>
              <a:rPr lang="en-US" altLang="en-US" dirty="0"/>
              <a:t>  Small integer (a machine-dependent subset of the integer domain </a:t>
            </a:r>
            <a:r>
              <a:rPr lang="en-US" altLang="en-US" dirty="0" smtClean="0"/>
              <a:t>type, 2 bytes).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between -</a:t>
            </a:r>
            <a:r>
              <a:rPr lang="en-US" altLang="en-US" dirty="0" smtClean="0"/>
              <a:t>2^15 </a:t>
            </a:r>
            <a:r>
              <a:rPr lang="en-US" altLang="en-US" dirty="0"/>
              <a:t>and </a:t>
            </a:r>
            <a:r>
              <a:rPr lang="en-US" altLang="en-US" dirty="0" smtClean="0"/>
              <a:t>2^15-1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Some systems have </a:t>
            </a:r>
            <a:r>
              <a:rPr lang="en-US" altLang="en-US" b="1" dirty="0" err="1" smtClean="0">
                <a:solidFill>
                  <a:schemeClr val="accent3">
                    <a:lumMod val="25000"/>
                  </a:schemeClr>
                </a:solidFill>
              </a:rPr>
              <a:t>bigint</a:t>
            </a:r>
            <a:r>
              <a:rPr lang="en-US" altLang="en-US" dirty="0"/>
              <a:t> between </a:t>
            </a:r>
            <a:r>
              <a:rPr lang="en-US" altLang="en-US" dirty="0" smtClean="0"/>
              <a:t>-2^63 </a:t>
            </a:r>
            <a:r>
              <a:rPr lang="en-US" altLang="en-US" dirty="0"/>
              <a:t>and </a:t>
            </a:r>
            <a:r>
              <a:rPr lang="en-US" altLang="en-US" dirty="0" smtClean="0"/>
              <a:t>2^63-1 (4 bytes) and </a:t>
            </a:r>
            <a:r>
              <a:rPr lang="en-US" altLang="en-US" b="1" dirty="0" err="1" smtClean="0">
                <a:solidFill>
                  <a:schemeClr val="accent3">
                    <a:lumMod val="25000"/>
                  </a:schemeClr>
                </a:solidFill>
              </a:rPr>
              <a:t>tinyint</a:t>
            </a:r>
            <a:r>
              <a:rPr lang="en-US" altLang="en-US" dirty="0" smtClean="0"/>
              <a:t> between 0 and 255 (1 byte)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numeric(</a:t>
            </a:r>
            <a:r>
              <a:rPr lang="en-US" altLang="en-US" b="1" dirty="0" err="1">
                <a:solidFill>
                  <a:srgbClr val="000099"/>
                </a:solidFill>
              </a:rPr>
              <a:t>p,d</a:t>
            </a:r>
            <a:r>
              <a:rPr lang="en-US" altLang="en-US" b="1" dirty="0">
                <a:solidFill>
                  <a:srgbClr val="000099"/>
                </a:solidFill>
              </a:rPr>
              <a:t>).</a:t>
            </a:r>
            <a:r>
              <a:rPr lang="en-US" altLang="en-US" dirty="0"/>
              <a:t>  Fixed point number, with user-specified precision of </a:t>
            </a:r>
            <a:r>
              <a:rPr lang="en-US" altLang="en-US" i="1" dirty="0"/>
              <a:t>p</a:t>
            </a:r>
            <a:r>
              <a:rPr lang="en-US" altLang="en-US" dirty="0"/>
              <a:t> digits, with </a:t>
            </a:r>
            <a:r>
              <a:rPr lang="en-US" altLang="en-US" i="1" dirty="0"/>
              <a:t>n</a:t>
            </a:r>
            <a:r>
              <a:rPr lang="en-US" altLang="en-US" dirty="0"/>
              <a:t> digits to the right of decimal point. </a:t>
            </a:r>
            <a:r>
              <a:rPr lang="en-US" altLang="en-US" dirty="0" smtClean="0"/>
              <a:t>Ex: 25.3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real, double precision.</a:t>
            </a:r>
            <a:r>
              <a:rPr lang="en-US" altLang="en-US" dirty="0"/>
              <a:t>  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float(n).</a:t>
            </a:r>
            <a:r>
              <a:rPr lang="en-US" altLang="en-US" dirty="0"/>
              <a:t>  Floating point number, with user-specified precision of at least </a:t>
            </a:r>
            <a:r>
              <a:rPr lang="en-US" altLang="en-US" i="1" dirty="0"/>
              <a:t>n</a:t>
            </a:r>
            <a:r>
              <a:rPr lang="en-US" altLang="en-US" dirty="0"/>
              <a:t> digits</a:t>
            </a:r>
            <a:r>
              <a:rPr lang="en-US" altLang="en-US" dirty="0" smtClean="0"/>
              <a:t>. 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953190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Basic Query Structure 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40638" cy="488156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A typical SQL query has the form: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select </a:t>
            </a:r>
            <a:r>
              <a:rPr lang="en-US" altLang="en-US" i="1"/>
              <a:t>A</a:t>
            </a:r>
            <a:r>
              <a:rPr lang="en-US" altLang="en-US" baseline="-25000"/>
              <a:t>1</a:t>
            </a:r>
            <a:r>
              <a:rPr lang="en-US" altLang="en-US"/>
              <a:t>, </a:t>
            </a:r>
            <a:r>
              <a:rPr lang="en-US" altLang="en-US" i="1"/>
              <a:t>A</a:t>
            </a:r>
            <a:r>
              <a:rPr lang="en-US" altLang="en-US" baseline="-25000"/>
              <a:t>2</a:t>
            </a:r>
            <a:r>
              <a:rPr lang="en-US" altLang="en-US"/>
              <a:t>, ..., </a:t>
            </a:r>
            <a:r>
              <a:rPr lang="en-US" altLang="en-US" i="1"/>
              <a:t>A</a:t>
            </a:r>
            <a:r>
              <a:rPr lang="en-US" altLang="en-US" i="1" baseline="-25000"/>
              <a:t>n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from</a:t>
            </a:r>
            <a:r>
              <a:rPr lang="en-US" altLang="en-US"/>
              <a:t> 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,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, ..., </a:t>
            </a:r>
            <a:r>
              <a:rPr lang="en-US" altLang="en-US" i="1"/>
              <a:t>r</a:t>
            </a:r>
            <a:r>
              <a:rPr lang="en-US" altLang="en-US" i="1" baseline="-25000"/>
              <a:t>m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where </a:t>
            </a:r>
            <a:r>
              <a:rPr lang="en-US" altLang="en-US" i="1"/>
              <a:t>P</a:t>
            </a:r>
            <a:br>
              <a:rPr lang="en-US" altLang="en-US" i="1"/>
            </a:br>
            <a:endParaRPr lang="en-US" altLang="en-US"/>
          </a:p>
          <a:p>
            <a:pPr lvl="1">
              <a:buSzPct val="90000"/>
              <a:tabLst>
                <a:tab pos="2055813" algn="l"/>
              </a:tabLst>
            </a:pPr>
            <a:r>
              <a:rPr lang="en-US" altLang="en-US" i="1"/>
              <a:t>A</a:t>
            </a:r>
            <a:r>
              <a:rPr lang="en-US" altLang="en-US" i="1" baseline="-25000"/>
              <a:t>i </a:t>
            </a:r>
            <a:r>
              <a:rPr lang="en-US" altLang="en-US"/>
              <a:t>represents an attribute</a:t>
            </a:r>
          </a:p>
          <a:p>
            <a:pPr lvl="1">
              <a:buSzPct val="90000"/>
              <a:tabLst>
                <a:tab pos="2055813" algn="l"/>
              </a:tabLst>
            </a:pPr>
            <a:r>
              <a:rPr lang="en-US" altLang="en-US" i="1"/>
              <a:t>R</a:t>
            </a:r>
            <a:r>
              <a:rPr lang="en-US" altLang="en-US" i="1" baseline="-25000"/>
              <a:t>i </a:t>
            </a:r>
            <a:r>
              <a:rPr lang="en-US" altLang="en-US"/>
              <a:t>represents a relation</a:t>
            </a:r>
          </a:p>
          <a:p>
            <a:pPr lvl="1">
              <a:buSzPct val="90000"/>
              <a:tabLst>
                <a:tab pos="2055813" algn="l"/>
              </a:tabLst>
            </a:pPr>
            <a:r>
              <a:rPr lang="en-US" altLang="en-US" i="1"/>
              <a:t>P</a:t>
            </a:r>
            <a:r>
              <a:rPr lang="en-US" altLang="en-US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The result of an SQL query is a relation.</a:t>
            </a:r>
          </a:p>
        </p:txBody>
      </p:sp>
    </p:spTree>
    <p:extLst>
      <p:ext uri="{BB962C8B-B14F-4D97-AF65-F5344CB8AC3E}">
        <p14:creationId xmlns:p14="http://schemas.microsoft.com/office/powerpoint/2010/main" val="262250807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select Clause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8066088" cy="516572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The </a:t>
            </a:r>
            <a:r>
              <a:rPr lang="en-US" altLang="en-US" b="1"/>
              <a:t>select</a:t>
            </a:r>
            <a:r>
              <a:rPr lang="en-US" altLang="en-US"/>
              <a:t> clause list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/>
              <a:t>Example: find the names of all instructors:</a:t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b="1"/>
              <a:t>select </a:t>
            </a:r>
            <a:r>
              <a:rPr lang="en-US" altLang="en-US" i="1"/>
              <a:t>name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/>
              <a:t>E.g.   </a:t>
            </a:r>
            <a:r>
              <a:rPr lang="en-US" altLang="en-US" i="1"/>
              <a:t>Name</a:t>
            </a:r>
            <a:r>
              <a:rPr lang="en-US" altLang="en-US"/>
              <a:t> ≡ </a:t>
            </a:r>
            <a:r>
              <a:rPr lang="en-US" altLang="en-US" i="1"/>
              <a:t>NAME</a:t>
            </a:r>
            <a:r>
              <a:rPr lang="en-US" altLang="en-US"/>
              <a:t> ≡ </a:t>
            </a:r>
            <a:r>
              <a:rPr lang="en-US" altLang="en-US" i="1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/>
              <a:t>Some people use upper case wherever we use bold font.</a:t>
            </a:r>
          </a:p>
        </p:txBody>
      </p:sp>
    </p:spTree>
    <p:extLst>
      <p:ext uri="{BB962C8B-B14F-4D97-AF65-F5344CB8AC3E}">
        <p14:creationId xmlns:p14="http://schemas.microsoft.com/office/powerpoint/2010/main" val="378803278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select Clause (Cont.)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To force the elimination of duplicates, insert the keyword </a:t>
            </a:r>
            <a:r>
              <a:rPr lang="en-US" altLang="en-US" b="1">
                <a:solidFill>
                  <a:srgbClr val="000099"/>
                </a:solidFill>
              </a:rPr>
              <a:t>distinct</a:t>
            </a:r>
            <a:r>
              <a:rPr lang="en-US" altLang="en-US" b="1">
                <a:solidFill>
                  <a:schemeClr val="tx2"/>
                </a:solidFill>
              </a:rPr>
              <a:t> </a:t>
            </a:r>
            <a:r>
              <a:rPr lang="en-US" altLang="en-US"/>
              <a:t> after select</a:t>
            </a:r>
            <a:r>
              <a:rPr lang="en-US" altLang="en-US" b="1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Find the names of all departments with instructor,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/>
              <a:t>		</a:t>
            </a:r>
            <a:r>
              <a:rPr lang="en-US" altLang="en-US" b="1"/>
              <a:t>select distinct </a:t>
            </a:r>
            <a:r>
              <a:rPr lang="en-US" altLang="en-US" i="1"/>
              <a:t>dept_name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The keyword </a:t>
            </a:r>
            <a:r>
              <a:rPr lang="en-US" altLang="en-US" b="1"/>
              <a:t>all </a:t>
            </a:r>
            <a:r>
              <a:rPr lang="en-US" altLang="en-US"/>
              <a:t>specifies that duplicates not be removed.</a:t>
            </a:r>
            <a:br>
              <a:rPr lang="en-US" altLang="en-US"/>
            </a:br>
            <a:endParaRPr lang="en-US" altLang="en-US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/>
              <a:t>		</a:t>
            </a:r>
            <a:r>
              <a:rPr lang="en-US" altLang="en-US" b="1"/>
              <a:t>select all</a:t>
            </a:r>
            <a:r>
              <a:rPr lang="en-US" altLang="en-US"/>
              <a:t> </a:t>
            </a:r>
            <a:r>
              <a:rPr lang="en-US" altLang="en-US" i="1"/>
              <a:t>dept_name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</p:txBody>
      </p:sp>
    </p:spTree>
    <p:extLst>
      <p:ext uri="{BB962C8B-B14F-4D97-AF65-F5344CB8AC3E}">
        <p14:creationId xmlns:p14="http://schemas.microsoft.com/office/powerpoint/2010/main" val="15785695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select Clause (Cont.)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b="1"/>
              <a:t>			select </a:t>
            </a:r>
            <a:r>
              <a:rPr lang="en-US" altLang="en-US"/>
              <a:t>*</a:t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The </a:t>
            </a:r>
            <a:r>
              <a:rPr lang="en-US" altLang="en-US" b="1">
                <a:solidFill>
                  <a:srgbClr val="000099"/>
                </a:solidFill>
              </a:rPr>
              <a:t>select</a:t>
            </a:r>
            <a:r>
              <a:rPr lang="en-US" altLang="en-US"/>
              <a:t> clause can contain arithmetic expressions involving the operation, +, –, </a:t>
            </a:r>
            <a:r>
              <a:rPr lang="en-US" altLang="en-US">
                <a:latin typeface="Symbol" panose="05050102010706020507" pitchFamily="18" charset="2"/>
              </a:rPr>
              <a:t></a:t>
            </a:r>
            <a:r>
              <a:rPr lang="en-US" altLang="en-US"/>
              <a:t>, and /, and operating on constants or attributes of tuples.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The query: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b="1"/>
              <a:t>	                  select</a:t>
            </a:r>
            <a:r>
              <a:rPr lang="en-US" altLang="en-US"/>
              <a:t> </a:t>
            </a:r>
            <a:r>
              <a:rPr lang="en-US" altLang="en-US" i="1"/>
              <a:t>ID, name, salary/12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                  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i="1"/>
              <a:t>	</a:t>
            </a:r>
            <a:r>
              <a:rPr lang="en-US" altLang="en-US"/>
              <a:t>would return a relation that is the same as the </a:t>
            </a:r>
            <a:r>
              <a:rPr lang="en-US" altLang="en-US" i="1"/>
              <a:t>instructor </a:t>
            </a:r>
            <a:r>
              <a:rPr lang="en-US" altLang="en-US"/>
              <a:t>relation, except that the value of the attribute </a:t>
            </a:r>
            <a:r>
              <a:rPr lang="en-US" altLang="en-US" i="1"/>
              <a:t>salary </a:t>
            </a:r>
            <a:r>
              <a:rPr lang="en-US" altLang="en-US"/>
              <a:t>is divided by 12.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920262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where Clause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/>
              <a:t>The </a:t>
            </a:r>
            <a:r>
              <a:rPr lang="en-US" altLang="en-US" b="1">
                <a:solidFill>
                  <a:srgbClr val="000099"/>
                </a:solidFill>
              </a:rPr>
              <a:t>where</a:t>
            </a:r>
            <a:r>
              <a:rPr lang="en-US" altLang="en-US" b="1"/>
              <a:t> </a:t>
            </a:r>
            <a:r>
              <a:rPr lang="en-US" altLang="en-US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/>
              <a:t>To find all instructors in Comp. Sci. dept with salary &gt; 80000</a:t>
            </a:r>
            <a:r>
              <a:rPr lang="en-US" altLang="en-US" b="1"/>
              <a:t>		select </a:t>
            </a:r>
            <a:r>
              <a:rPr lang="en-US" altLang="en-US" i="1"/>
              <a:t>name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where </a:t>
            </a:r>
            <a:r>
              <a:rPr lang="en-US" altLang="en-US" i="1"/>
              <a:t>dept_name =</a:t>
            </a:r>
            <a:r>
              <a:rPr lang="en-US" altLang="en-US"/>
              <a:t> </a:t>
            </a:r>
            <a:r>
              <a:rPr lang="en-US" altLang="en-US" i="1"/>
              <a:t>‘</a:t>
            </a:r>
            <a:r>
              <a:rPr lang="en-US" altLang="en-US"/>
              <a:t>Comp. Sci.'</a:t>
            </a:r>
            <a:r>
              <a:rPr lang="en-US" altLang="en-US" i="1"/>
              <a:t>  </a:t>
            </a:r>
            <a:r>
              <a:rPr lang="en-US" altLang="en-US" b="1"/>
              <a:t>and </a:t>
            </a:r>
            <a:r>
              <a:rPr lang="en-US" altLang="en-US" i="1"/>
              <a:t>salary </a:t>
            </a:r>
            <a:r>
              <a:rPr lang="en-US" altLang="en-US"/>
              <a:t>&gt; 80000</a:t>
            </a:r>
          </a:p>
          <a:p>
            <a:pPr>
              <a:tabLst>
                <a:tab pos="1311275" algn="l"/>
              </a:tabLst>
            </a:pPr>
            <a:r>
              <a:rPr lang="en-US" altLang="en-US"/>
              <a:t>Comparison results can be combined using the logical connectives </a:t>
            </a:r>
            <a:r>
              <a:rPr lang="en-US" altLang="en-US" b="1"/>
              <a:t>and, or, </a:t>
            </a:r>
            <a:r>
              <a:rPr lang="en-US" altLang="en-US"/>
              <a:t>and </a:t>
            </a:r>
            <a:r>
              <a:rPr lang="en-US" altLang="en-US" b="1"/>
              <a:t>not.</a:t>
            </a:r>
            <a:r>
              <a:rPr lang="en-US" altLang="en-US"/>
              <a:t> </a:t>
            </a:r>
          </a:p>
          <a:p>
            <a:pPr>
              <a:tabLst>
                <a:tab pos="1311275" algn="l"/>
              </a:tabLst>
            </a:pPr>
            <a:r>
              <a:rPr lang="en-US" altLang="en-US"/>
              <a:t>Comparisons can be applied to results of arithmetic expressions.</a:t>
            </a:r>
          </a:p>
        </p:txBody>
      </p:sp>
    </p:spTree>
    <p:extLst>
      <p:ext uri="{BB962C8B-B14F-4D97-AF65-F5344CB8AC3E}">
        <p14:creationId xmlns:p14="http://schemas.microsoft.com/office/powerpoint/2010/main" val="220196917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106488"/>
            <a:ext cx="7970837" cy="502443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/>
              <a:t>The </a:t>
            </a:r>
            <a:r>
              <a:rPr lang="en-US" altLang="en-US" b="1">
                <a:solidFill>
                  <a:srgbClr val="000099"/>
                </a:solidFill>
              </a:rPr>
              <a:t>from</a:t>
            </a:r>
            <a:r>
              <a:rPr lang="en-US" altLang="en-US" b="1"/>
              <a:t> </a:t>
            </a:r>
            <a:r>
              <a:rPr lang="en-US" altLang="en-US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/>
              <a:t>Find the Cartesian product </a:t>
            </a:r>
            <a:r>
              <a:rPr lang="en-US" altLang="en-US" i="1"/>
              <a:t>instructor X teaches</a:t>
            </a:r>
            <a:endParaRPr lang="en-US" altLang="en-US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b="1"/>
              <a:t>			select </a:t>
            </a:r>
            <a:r>
              <a:rPr lang="en-US" altLang="en-US">
                <a:latin typeface="Symbol" panose="05050102010706020507" pitchFamily="18" charset="2"/>
              </a:rPr>
              <a:t>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b="1"/>
              <a:t>from </a:t>
            </a:r>
            <a:r>
              <a:rPr lang="en-US" altLang="en-US" i="1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/>
              <a:t>generates every possible instructor – teaches pair, with all attributes from both relations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/>
              <a:t>Cartesian product not very useful directly, but useful combined with where-clause condition (selection operation in relational algebra)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5569468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String Operations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5181600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SQL includes a string-matching operator for comparisons on character strings.  The operator “like”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percent (%).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underscore (_).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Find the names of all instructors whose name includes the substring “</a:t>
            </a:r>
            <a:r>
              <a:rPr lang="en-US" altLang="en-US" dirty="0" err="1"/>
              <a:t>dar</a:t>
            </a:r>
            <a:r>
              <a:rPr lang="en-US" altLang="en-US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600" b="1" dirty="0"/>
              <a:t>		select </a:t>
            </a:r>
            <a:r>
              <a:rPr lang="en-US" altLang="en-US" sz="1600" i="1" dirty="0"/>
              <a:t>name</a:t>
            </a:r>
            <a:br>
              <a:rPr lang="en-US" altLang="en-US" sz="1600" i="1" dirty="0"/>
            </a:br>
            <a:r>
              <a:rPr lang="en-US" altLang="en-US" sz="1600" i="1" dirty="0"/>
              <a:t>	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  <a:br>
              <a:rPr lang="en-US" altLang="en-US" sz="1600" i="1" dirty="0"/>
            </a:br>
            <a:r>
              <a:rPr lang="en-US" altLang="en-US" sz="1600" i="1" dirty="0"/>
              <a:t>	</a:t>
            </a:r>
            <a:r>
              <a:rPr lang="en-US" altLang="en-US" sz="1600" b="1" dirty="0"/>
              <a:t>where</a:t>
            </a:r>
            <a:r>
              <a:rPr lang="en-US" altLang="en-US" sz="1600" b="1" i="1" dirty="0"/>
              <a:t> </a:t>
            </a:r>
            <a:r>
              <a:rPr lang="en-US" altLang="en-US" sz="1600" i="1" dirty="0"/>
              <a:t>name </a:t>
            </a:r>
            <a:r>
              <a:rPr lang="en-US" altLang="en-US" sz="1600" b="1" dirty="0"/>
              <a:t>like </a:t>
            </a:r>
            <a:r>
              <a:rPr lang="en-US" altLang="en-US" sz="1600" b="1" dirty="0">
                <a:latin typeface="Century Gothic" panose="020B0502020202020204" pitchFamily="34" charset="0"/>
              </a:rPr>
              <a:t>'</a:t>
            </a:r>
            <a:r>
              <a:rPr lang="en-US" altLang="en-US" sz="1600" dirty="0"/>
              <a:t>%</a:t>
            </a:r>
            <a:r>
              <a:rPr lang="en-US" altLang="en-US" sz="1600" dirty="0" err="1"/>
              <a:t>dar</a:t>
            </a:r>
            <a:r>
              <a:rPr lang="en-US" altLang="en-US" sz="1600" dirty="0"/>
              <a:t>%</a:t>
            </a:r>
            <a:r>
              <a:rPr lang="en-US" altLang="en-US" sz="16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Match the string “100 %”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600" dirty="0"/>
              <a:t>			</a:t>
            </a:r>
            <a:r>
              <a:rPr lang="en-US" altLang="en-US" sz="1600" b="1" dirty="0"/>
              <a:t>like </a:t>
            </a:r>
            <a:r>
              <a:rPr lang="en-US" altLang="en-US" sz="1600" b="1" dirty="0">
                <a:latin typeface="Century Gothic" panose="020B0502020202020204" pitchFamily="34" charset="0"/>
              </a:rPr>
              <a:t>‘</a:t>
            </a:r>
            <a:r>
              <a:rPr lang="en-US" altLang="en-US" sz="1600" dirty="0"/>
              <a:t>100 \%</a:t>
            </a:r>
            <a:r>
              <a:rPr lang="en-US" altLang="en-US" sz="1600" dirty="0">
                <a:latin typeface="Century Gothic" panose="020B0502020202020204" pitchFamily="34" charset="0"/>
              </a:rPr>
              <a:t>' </a:t>
            </a:r>
            <a:r>
              <a:rPr lang="en-US" altLang="en-US" sz="1600" dirty="0"/>
              <a:t> </a:t>
            </a:r>
            <a:r>
              <a:rPr lang="en-US" altLang="en-US" sz="1600" b="1" dirty="0"/>
              <a:t>escape  </a:t>
            </a:r>
            <a:r>
              <a:rPr lang="en-US" altLang="en-US" sz="1600" b="1" dirty="0">
                <a:latin typeface="Century Gothic" panose="020B0502020202020204" pitchFamily="34" charset="0"/>
              </a:rPr>
              <a:t>'</a:t>
            </a:r>
            <a:r>
              <a:rPr lang="en-US" altLang="en-US" sz="1600" dirty="0"/>
              <a:t>\</a:t>
            </a:r>
            <a:r>
              <a:rPr lang="en-US" altLang="en-US" sz="1600" dirty="0">
                <a:latin typeface="Century Gothic" panose="020B0502020202020204" pitchFamily="34" charset="0"/>
              </a:rPr>
              <a:t>' </a:t>
            </a:r>
            <a:endParaRPr lang="en-US" altLang="en-US" sz="1600" dirty="0"/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 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 finding string length, extracting substrings, etc.</a:t>
            </a:r>
          </a:p>
        </p:txBody>
      </p:sp>
    </p:spTree>
    <p:extLst>
      <p:ext uri="{BB962C8B-B14F-4D97-AF65-F5344CB8AC3E}">
        <p14:creationId xmlns:p14="http://schemas.microsoft.com/office/powerpoint/2010/main" val="115643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Ordering the Display of Tuples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108075"/>
            <a:ext cx="7661275" cy="4202113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/>
              <a:t>List in alphabetic order the names of all instructors </a:t>
            </a:r>
            <a:br>
              <a:rPr lang="en-US" altLang="en-US"/>
            </a:br>
            <a:r>
              <a:rPr lang="en-US" altLang="en-US"/>
              <a:t>         </a:t>
            </a:r>
            <a:r>
              <a:rPr lang="en-US" altLang="en-US" b="1"/>
              <a:t>select distinct </a:t>
            </a:r>
            <a:r>
              <a:rPr lang="en-US" altLang="en-US" i="1"/>
              <a:t>name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   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/>
              <a:t>	</a:t>
            </a:r>
            <a:r>
              <a:rPr lang="en-US" altLang="en-US" b="1"/>
              <a:t>order by </a:t>
            </a:r>
            <a:r>
              <a:rPr lang="en-US" altLang="en-US" i="1"/>
              <a:t>name</a:t>
            </a:r>
            <a:endParaRPr lang="en-US" altLang="en-US"/>
          </a:p>
          <a:p>
            <a:pPr>
              <a:tabLst>
                <a:tab pos="906463" algn="l"/>
              </a:tabLst>
            </a:pPr>
            <a:r>
              <a:rPr lang="en-US" altLang="en-US"/>
              <a:t>We may specify </a:t>
            </a:r>
            <a:r>
              <a:rPr lang="en-US" altLang="en-US" b="1">
                <a:solidFill>
                  <a:srgbClr val="000099"/>
                </a:solidFill>
              </a:rPr>
              <a:t>desc</a:t>
            </a:r>
            <a:r>
              <a:rPr lang="en-US" altLang="en-US"/>
              <a:t> for descending order or </a:t>
            </a:r>
            <a:r>
              <a:rPr lang="en-US" altLang="en-US" b="1">
                <a:solidFill>
                  <a:srgbClr val="000099"/>
                </a:solidFill>
              </a:rPr>
              <a:t>asc</a:t>
            </a:r>
            <a:r>
              <a:rPr lang="en-US" altLang="en-US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/>
              <a:t>Example:  </a:t>
            </a:r>
            <a:r>
              <a:rPr lang="en-US" altLang="en-US" b="1"/>
              <a:t>order by</a:t>
            </a:r>
            <a:r>
              <a:rPr lang="en-US" altLang="en-US"/>
              <a:t> </a:t>
            </a:r>
            <a:r>
              <a:rPr lang="en-US" altLang="en-US" i="1"/>
              <a:t>name</a:t>
            </a:r>
            <a:r>
              <a:rPr lang="en-US" altLang="en-US"/>
              <a:t> </a:t>
            </a:r>
            <a:r>
              <a:rPr lang="en-US" altLang="en-US" b="1"/>
              <a:t>desc</a:t>
            </a:r>
          </a:p>
          <a:p>
            <a:pPr>
              <a:tabLst>
                <a:tab pos="906463" algn="l"/>
              </a:tabLst>
            </a:pPr>
            <a:r>
              <a:rPr lang="en-US" altLang="en-US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/>
              <a:t>Example: </a:t>
            </a:r>
            <a:r>
              <a:rPr lang="en-US" altLang="en-US" b="1"/>
              <a:t>order by </a:t>
            </a:r>
            <a:r>
              <a:rPr lang="en-US" altLang="en-US"/>
              <a:t> </a:t>
            </a:r>
            <a:r>
              <a:rPr lang="en-US" altLang="en-US" i="1"/>
              <a:t>dept_name, name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97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Where Clause Predicates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8089900" cy="503872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SQL includes a </a:t>
            </a:r>
            <a:r>
              <a:rPr lang="en-US" altLang="en-US" b="1">
                <a:solidFill>
                  <a:srgbClr val="000099"/>
                </a:solidFill>
              </a:rPr>
              <a:t>between</a:t>
            </a:r>
            <a:r>
              <a:rPr lang="en-US" altLang="en-US"/>
              <a:t> comparison operator</a:t>
            </a:r>
          </a:p>
          <a:p>
            <a:r>
              <a:rPr lang="en-US" altLang="en-US"/>
              <a:t>Example:  Find the names of all instructors with salary between $90,000 and $100,000 (that is, </a:t>
            </a:r>
            <a:r>
              <a:rPr lang="en-US" altLang="en-US">
                <a:latin typeface="Symbol" panose="05050102010706020507" pitchFamily="18" charset="2"/>
              </a:rPr>
              <a:t> </a:t>
            </a:r>
            <a:r>
              <a:rPr lang="en-US" altLang="en-US"/>
              <a:t>$90,000 and </a:t>
            </a:r>
            <a:r>
              <a:rPr lang="en-US" altLang="en-US">
                <a:latin typeface="Symbol" panose="05050102010706020507" pitchFamily="18" charset="2"/>
              </a:rPr>
              <a:t> </a:t>
            </a:r>
            <a:r>
              <a:rPr lang="en-US" altLang="en-US"/>
              <a:t>$100,000)</a:t>
            </a:r>
          </a:p>
          <a:p>
            <a:pPr lvl="1"/>
            <a:r>
              <a:rPr lang="en-US" altLang="en-US" b="1"/>
              <a:t>select</a:t>
            </a:r>
            <a:r>
              <a:rPr lang="en-US" altLang="en-US" i="1"/>
              <a:t> name</a:t>
            </a:r>
            <a:br>
              <a:rPr lang="en-US" altLang="en-US" i="1"/>
            </a:br>
            <a:r>
              <a:rPr lang="en-US" altLang="en-US" i="1"/>
              <a:t>  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  </a:t>
            </a:r>
            <a:r>
              <a:rPr lang="en-US" altLang="en-US" b="1"/>
              <a:t>where </a:t>
            </a:r>
            <a:r>
              <a:rPr lang="en-US" altLang="en-US" i="1"/>
              <a:t>salary </a:t>
            </a:r>
            <a:r>
              <a:rPr lang="en-US" altLang="en-US" b="1"/>
              <a:t>between </a:t>
            </a:r>
            <a:r>
              <a:rPr lang="en-US" altLang="en-US"/>
              <a:t>90000 </a:t>
            </a:r>
            <a:r>
              <a:rPr lang="en-US" altLang="en-US" b="1"/>
              <a:t>and </a:t>
            </a:r>
            <a:r>
              <a:rPr lang="en-US" altLang="en-US"/>
              <a:t>100000</a:t>
            </a:r>
          </a:p>
          <a:p>
            <a:r>
              <a:rPr lang="en-US" altLang="en-US"/>
              <a:t>Tuple comparison</a:t>
            </a:r>
          </a:p>
          <a:p>
            <a:pPr lvl="1"/>
            <a:r>
              <a:rPr kumimoji="0" lang="en-US" altLang="en-US" b="1"/>
              <a:t>select </a:t>
            </a:r>
            <a:r>
              <a:rPr kumimoji="0" lang="en-US" altLang="en-US" i="1"/>
              <a:t>name</a:t>
            </a:r>
            <a:r>
              <a:rPr kumimoji="0" lang="en-US" altLang="en-US"/>
              <a:t>, </a:t>
            </a:r>
            <a:r>
              <a:rPr kumimoji="0" lang="en-US" altLang="en-US" i="1"/>
              <a:t>course_id</a:t>
            </a:r>
            <a:br>
              <a:rPr kumimoji="0" lang="en-US" altLang="en-US" i="1"/>
            </a:br>
            <a:r>
              <a:rPr kumimoji="0" lang="en-US" altLang="en-US" b="1"/>
              <a:t>from </a:t>
            </a:r>
            <a:r>
              <a:rPr kumimoji="0" lang="en-US" altLang="en-US" i="1"/>
              <a:t>instructor</a:t>
            </a:r>
            <a:r>
              <a:rPr kumimoji="0" lang="en-US" altLang="en-US"/>
              <a:t>, </a:t>
            </a:r>
            <a:r>
              <a:rPr kumimoji="0" lang="en-US" altLang="en-US" i="1"/>
              <a:t>teaches</a:t>
            </a:r>
            <a:br>
              <a:rPr kumimoji="0" lang="en-US" altLang="en-US" i="1"/>
            </a:br>
            <a:r>
              <a:rPr kumimoji="0" lang="en-US" altLang="en-US" b="1"/>
              <a:t>where </a:t>
            </a:r>
            <a:r>
              <a:rPr kumimoji="0" lang="en-US" altLang="en-US"/>
              <a:t>(</a:t>
            </a:r>
            <a:r>
              <a:rPr kumimoji="0" lang="en-US" altLang="en-US" i="1"/>
              <a:t>instructor</a:t>
            </a:r>
            <a:r>
              <a:rPr kumimoji="0" lang="en-US" altLang="en-US"/>
              <a:t>.</a:t>
            </a:r>
            <a:r>
              <a:rPr kumimoji="0" lang="en-US" altLang="en-US" i="1"/>
              <a:t>ID</a:t>
            </a:r>
            <a:r>
              <a:rPr kumimoji="0" lang="en-US" altLang="en-US"/>
              <a:t>, </a:t>
            </a:r>
            <a:r>
              <a:rPr kumimoji="0" lang="en-US" altLang="en-US" i="1"/>
              <a:t>dept_name</a:t>
            </a:r>
            <a:r>
              <a:rPr kumimoji="0" lang="en-US" altLang="en-US"/>
              <a:t>) = (</a:t>
            </a:r>
            <a:r>
              <a:rPr kumimoji="0" lang="en-US" altLang="en-US" i="1"/>
              <a:t>teaches</a:t>
            </a:r>
            <a:r>
              <a:rPr kumimoji="0" lang="en-US" altLang="en-US"/>
              <a:t>.</a:t>
            </a:r>
            <a:r>
              <a:rPr kumimoji="0" lang="en-US" altLang="en-US" i="1"/>
              <a:t>ID</a:t>
            </a:r>
            <a:r>
              <a:rPr kumimoji="0" lang="en-US" altLang="en-US"/>
              <a:t>, ’Biology’);</a:t>
            </a:r>
          </a:p>
          <a:p>
            <a:pPr lvl="1"/>
            <a:endParaRPr kumimoji="0" lang="en-US" altLang="en-US" sz="2000">
              <a:latin typeface="Times New Roman" panose="02020603050405020304" pitchFamily="18" charset="0"/>
            </a:endParaRP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96865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Cartesian Product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400388" name="Picture 4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06"/>
          <a:stretch>
            <a:fillRect/>
          </a:stretch>
        </p:blipFill>
        <p:spPr bwMode="auto">
          <a:xfrm>
            <a:off x="4721225" y="1155700"/>
            <a:ext cx="3890963" cy="156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90" name="Text Box 6"/>
          <p:cNvSpPr txBox="1">
            <a:spLocks noChangeArrowheads="1"/>
          </p:cNvSpPr>
          <p:nvPr/>
        </p:nvSpPr>
        <p:spPr bwMode="auto">
          <a:xfrm>
            <a:off x="2043113" y="671513"/>
            <a:ext cx="1227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/>
              <a:t>instructor</a:t>
            </a:r>
          </a:p>
        </p:txBody>
      </p:sp>
      <p:sp>
        <p:nvSpPr>
          <p:cNvPr id="400391" name="Text Box 7"/>
          <p:cNvSpPr txBox="1">
            <a:spLocks noChangeArrowheads="1"/>
          </p:cNvSpPr>
          <p:nvPr/>
        </p:nvSpPr>
        <p:spPr bwMode="auto">
          <a:xfrm>
            <a:off x="6383338" y="714375"/>
            <a:ext cx="1073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/>
              <a:t>teaches</a:t>
            </a:r>
          </a:p>
        </p:txBody>
      </p:sp>
      <p:pic>
        <p:nvPicPr>
          <p:cNvPr id="400392" name="Picture 8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57"/>
          <a:stretch>
            <a:fillRect/>
          </a:stretch>
        </p:blipFill>
        <p:spPr bwMode="auto">
          <a:xfrm>
            <a:off x="514350" y="1230313"/>
            <a:ext cx="3883025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2825750"/>
            <a:ext cx="600075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649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Joins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996237" cy="4979987"/>
          </a:xfrm>
        </p:spPr>
        <p:txBody>
          <a:bodyPr/>
          <a:lstStyle/>
          <a:p>
            <a:r>
              <a:rPr lang="en-US" altLang="en-US"/>
              <a:t>For all instructors who have taught some course, find their names and the course ID of the courses they taught.</a:t>
            </a:r>
            <a:endParaRPr kumimoji="0" lang="en-US" altLang="en-US"/>
          </a:p>
          <a:p>
            <a:pPr>
              <a:buFont typeface="Monotype Sorts" charset="2"/>
              <a:buNone/>
            </a:pPr>
            <a:r>
              <a:rPr lang="en-US" altLang="en-US" b="1"/>
              <a:t>		 select </a:t>
            </a:r>
            <a:r>
              <a:rPr lang="en-US" altLang="en-US" i="1"/>
              <a:t>name, course_id</a:t>
            </a:r>
            <a:br>
              <a:rPr lang="en-US" altLang="en-US" i="1"/>
            </a:br>
            <a:r>
              <a:rPr lang="en-US" altLang="en-US" i="1"/>
              <a:t>          </a:t>
            </a:r>
            <a:r>
              <a:rPr lang="en-US" altLang="en-US" b="1"/>
              <a:t>from </a:t>
            </a:r>
            <a:r>
              <a:rPr lang="en-US" altLang="en-US" i="1"/>
              <a:t>instructor, teaches</a:t>
            </a:r>
            <a:br>
              <a:rPr lang="en-US" altLang="en-US" i="1"/>
            </a:br>
            <a:r>
              <a:rPr lang="en-US" altLang="en-US" i="1"/>
              <a:t>          </a:t>
            </a:r>
            <a:r>
              <a:rPr lang="en-US" altLang="en-US" b="1"/>
              <a:t>where  </a:t>
            </a:r>
            <a:r>
              <a:rPr lang="en-US" altLang="en-US" b="1" i="1"/>
              <a:t> </a:t>
            </a:r>
            <a:r>
              <a:rPr lang="en-US" altLang="en-US" i="1"/>
              <a:t>instructor.ID = teaches.ID</a:t>
            </a:r>
          </a:p>
          <a:p>
            <a:r>
              <a:rPr lang="en-US" altLang="en-US"/>
              <a:t>Find the course ID, semester, year and title of each course offered by the Comp. Sci. department</a:t>
            </a:r>
          </a:p>
          <a:p>
            <a:pPr>
              <a:buFont typeface="Monotype Sorts" charset="2"/>
              <a:buNone/>
            </a:pPr>
            <a:r>
              <a:rPr lang="en-US" altLang="en-US" b="1"/>
              <a:t>		select </a:t>
            </a:r>
            <a:r>
              <a:rPr lang="en-US" altLang="en-US" i="1"/>
              <a:t>section.course_id, semester, year, title</a:t>
            </a:r>
            <a:br>
              <a:rPr lang="en-US" altLang="en-US" i="1"/>
            </a:br>
            <a:r>
              <a:rPr lang="en-US" altLang="en-US" i="1"/>
              <a:t>          </a:t>
            </a:r>
            <a:r>
              <a:rPr lang="en-US" altLang="en-US" b="1"/>
              <a:t>from </a:t>
            </a:r>
            <a:r>
              <a:rPr lang="en-US" altLang="en-US" i="1"/>
              <a:t>section, course</a:t>
            </a:r>
            <a:br>
              <a:rPr lang="en-US" altLang="en-US" i="1"/>
            </a:br>
            <a:r>
              <a:rPr lang="en-US" altLang="en-US" i="1"/>
              <a:t>          </a:t>
            </a:r>
            <a:r>
              <a:rPr lang="en-US" altLang="en-US" b="1"/>
              <a:t>where  </a:t>
            </a:r>
            <a:r>
              <a:rPr lang="en-US" altLang="en-US" b="1" i="1"/>
              <a:t> </a:t>
            </a:r>
            <a:r>
              <a:rPr lang="en-US" altLang="en-US" i="1"/>
              <a:t>section.course_id = course.course_id  </a:t>
            </a:r>
            <a:r>
              <a:rPr lang="en-US" altLang="en-US" b="1"/>
              <a:t>and</a:t>
            </a:r>
            <a:br>
              <a:rPr lang="en-US" altLang="en-US" b="1"/>
            </a:br>
            <a:r>
              <a:rPr lang="en-US" altLang="en-US" b="1"/>
              <a:t>                         </a:t>
            </a:r>
            <a:r>
              <a:rPr lang="en-US" altLang="en-US" i="1"/>
              <a:t>dept_name =</a:t>
            </a:r>
            <a:r>
              <a:rPr lang="en-US" altLang="en-US"/>
              <a:t> ‘Comp. Sci.' </a:t>
            </a:r>
          </a:p>
        </p:txBody>
      </p:sp>
    </p:spTree>
    <p:extLst>
      <p:ext uri="{BB962C8B-B14F-4D97-AF65-F5344CB8AC3E}">
        <p14:creationId xmlns:p14="http://schemas.microsoft.com/office/powerpoint/2010/main" val="347909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Natural Join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Natural join matches tuples with the same values for all common attributes, and retains only one copy of each common column</a:t>
            </a:r>
          </a:p>
          <a:p>
            <a:r>
              <a:rPr lang="en-US" altLang="en-US" b="1"/>
              <a:t>select </a:t>
            </a:r>
            <a:r>
              <a:rPr lang="en-US" altLang="en-US" i="1"/>
              <a:t>*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natural join </a:t>
            </a:r>
            <a:r>
              <a:rPr lang="en-US" altLang="en-US" i="1"/>
              <a:t>teaches</a:t>
            </a:r>
            <a:r>
              <a:rPr lang="en-US" altLang="en-US"/>
              <a:t>;</a:t>
            </a:r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03460" name="Picture 4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13"/>
          <a:stretch>
            <a:fillRect/>
          </a:stretch>
        </p:blipFill>
        <p:spPr bwMode="auto">
          <a:xfrm>
            <a:off x="1249363" y="2727325"/>
            <a:ext cx="6570662" cy="301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16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Natural Join (Cont.)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1825" y="1093788"/>
            <a:ext cx="8121650" cy="5132387"/>
          </a:xfrm>
        </p:spPr>
        <p:txBody>
          <a:bodyPr/>
          <a:lstStyle/>
          <a:p>
            <a:r>
              <a:rPr lang="en-US" altLang="en-US"/>
              <a:t>Danger in natural join: beware of unrelated attributes with same name which get equated incorrectly</a:t>
            </a:r>
          </a:p>
          <a:p>
            <a:r>
              <a:rPr lang="en-US" altLang="en-US"/>
              <a:t>List the names of instructors along with the the titles of courses that they teach </a:t>
            </a:r>
          </a:p>
          <a:p>
            <a:r>
              <a:rPr lang="en-US" altLang="en-US"/>
              <a:t>Incorrect version (equates course.dept_name with instructor.dept_name)</a:t>
            </a:r>
          </a:p>
          <a:p>
            <a:pPr lvl="1"/>
            <a:r>
              <a:rPr lang="en-US" altLang="en-US" b="1"/>
              <a:t>select </a:t>
            </a:r>
            <a:r>
              <a:rPr lang="en-US" altLang="en-US" i="1"/>
              <a:t>name</a:t>
            </a:r>
            <a:r>
              <a:rPr lang="en-US" altLang="en-US"/>
              <a:t>, </a:t>
            </a:r>
            <a:r>
              <a:rPr lang="en-US" altLang="en-US" i="1"/>
              <a:t>title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natural join </a:t>
            </a:r>
            <a:r>
              <a:rPr lang="en-US" altLang="en-US" i="1"/>
              <a:t>teaches </a:t>
            </a:r>
            <a:r>
              <a:rPr lang="en-US" altLang="en-US" b="1"/>
              <a:t>natural join </a:t>
            </a:r>
            <a:r>
              <a:rPr lang="en-US" altLang="en-US" i="1"/>
              <a:t>course</a:t>
            </a:r>
            <a:r>
              <a:rPr lang="en-US" altLang="en-US"/>
              <a:t>;</a:t>
            </a:r>
          </a:p>
          <a:p>
            <a:r>
              <a:rPr lang="en-US" altLang="en-US"/>
              <a:t>Correct version</a:t>
            </a:r>
          </a:p>
          <a:p>
            <a:pPr lvl="1"/>
            <a:r>
              <a:rPr lang="en-US" altLang="en-US" b="1"/>
              <a:t>select </a:t>
            </a:r>
            <a:r>
              <a:rPr lang="en-US" altLang="en-US" i="1"/>
              <a:t>name</a:t>
            </a:r>
            <a:r>
              <a:rPr lang="en-US" altLang="en-US"/>
              <a:t>, </a:t>
            </a:r>
            <a:r>
              <a:rPr lang="en-US" altLang="en-US" i="1"/>
              <a:t>title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natural join </a:t>
            </a:r>
            <a:r>
              <a:rPr lang="en-US" altLang="en-US" i="1"/>
              <a:t>teaches</a:t>
            </a:r>
            <a:r>
              <a:rPr lang="en-US" altLang="en-US"/>
              <a:t>, </a:t>
            </a:r>
            <a:r>
              <a:rPr lang="en-US" altLang="en-US" i="1"/>
              <a:t>course</a:t>
            </a:r>
            <a:br>
              <a:rPr lang="en-US" altLang="en-US" i="1"/>
            </a:br>
            <a:r>
              <a:rPr lang="en-US" altLang="en-US" b="1"/>
              <a:t>where </a:t>
            </a:r>
            <a:r>
              <a:rPr lang="en-US" altLang="en-US" i="1"/>
              <a:t>teaches</a:t>
            </a:r>
            <a:r>
              <a:rPr lang="en-US" altLang="en-US"/>
              <a:t>.</a:t>
            </a:r>
            <a:r>
              <a:rPr lang="en-US" altLang="en-US" i="1"/>
              <a:t>course_id</a:t>
            </a:r>
            <a:r>
              <a:rPr lang="en-US" altLang="en-US"/>
              <a:t>= </a:t>
            </a:r>
            <a:r>
              <a:rPr lang="en-US" altLang="en-US" i="1"/>
              <a:t>course</a:t>
            </a:r>
            <a:r>
              <a:rPr lang="en-US" altLang="en-US"/>
              <a:t>.</a:t>
            </a:r>
            <a:r>
              <a:rPr lang="en-US" altLang="en-US" i="1"/>
              <a:t>course_id</a:t>
            </a:r>
            <a:r>
              <a:rPr lang="en-US" altLang="en-US"/>
              <a:t>;</a:t>
            </a:r>
          </a:p>
          <a:p>
            <a:r>
              <a:rPr lang="en-US" altLang="en-US"/>
              <a:t>Another correct version</a:t>
            </a:r>
          </a:p>
          <a:p>
            <a:pPr lvl="1"/>
            <a:r>
              <a:rPr lang="en-US" altLang="en-US" b="1"/>
              <a:t>select </a:t>
            </a:r>
            <a:r>
              <a:rPr lang="en-US" altLang="en-US" i="1"/>
              <a:t>name</a:t>
            </a:r>
            <a:r>
              <a:rPr lang="en-US" altLang="en-US"/>
              <a:t>, </a:t>
            </a:r>
            <a:r>
              <a:rPr lang="en-US" altLang="en-US" i="1"/>
              <a:t>title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/>
              <a:t>(</a:t>
            </a:r>
            <a:r>
              <a:rPr lang="en-US" altLang="en-US" i="1"/>
              <a:t>instructor </a:t>
            </a:r>
            <a:r>
              <a:rPr lang="en-US" altLang="en-US" b="1"/>
              <a:t>natural join </a:t>
            </a:r>
            <a:r>
              <a:rPr lang="en-US" altLang="en-US" i="1"/>
              <a:t>teaches</a:t>
            </a:r>
            <a:r>
              <a:rPr lang="en-US" altLang="en-US"/>
              <a:t>) </a:t>
            </a:r>
            <a:r>
              <a:rPr lang="en-US" altLang="en-US" b="1"/>
              <a:t>join </a:t>
            </a:r>
            <a:r>
              <a:rPr lang="en-US" altLang="en-US" i="1"/>
              <a:t>course </a:t>
            </a:r>
            <a:r>
              <a:rPr lang="en-US" altLang="en-US" b="1"/>
              <a:t>using</a:t>
            </a:r>
            <a:r>
              <a:rPr lang="en-US" altLang="en-US"/>
              <a:t>(</a:t>
            </a:r>
            <a:r>
              <a:rPr lang="en-US" altLang="en-US" i="1"/>
              <a:t>course_id</a:t>
            </a:r>
            <a:r>
              <a:rPr lang="en-US" altLang="en-US"/>
              <a:t>);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801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Rename Operation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106488"/>
            <a:ext cx="8435975" cy="52085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The SQL allows renaming relations and attributes using the </a:t>
            </a:r>
            <a:r>
              <a:rPr lang="en-US" altLang="en-US" b="1"/>
              <a:t>as </a:t>
            </a:r>
            <a:r>
              <a:rPr lang="en-US" altLang="en-US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i="1"/>
              <a:t>		old-name </a:t>
            </a:r>
            <a:r>
              <a:rPr lang="en-US" altLang="en-US" b="1"/>
              <a:t>as</a:t>
            </a:r>
            <a:r>
              <a:rPr lang="en-US" altLang="en-US" i="1"/>
              <a:t> new-name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E.g. </a:t>
            </a:r>
          </a:p>
          <a:p>
            <a:pPr lvl="1">
              <a:tabLst>
                <a:tab pos="2055813" algn="l"/>
              </a:tabLst>
            </a:pPr>
            <a:r>
              <a:rPr lang="en-US" altLang="en-US" b="1"/>
              <a:t>select </a:t>
            </a:r>
            <a:r>
              <a:rPr lang="en-US" altLang="en-US" i="1"/>
              <a:t>ID, name, salary/12 </a:t>
            </a:r>
            <a:r>
              <a:rPr lang="en-US" altLang="en-US" b="1"/>
              <a:t>as </a:t>
            </a:r>
            <a:r>
              <a:rPr lang="en-US" altLang="en-US" i="1"/>
              <a:t>monthly_salary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</a:t>
            </a: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pPr>
              <a:tabLst>
                <a:tab pos="2055813" algn="l"/>
              </a:tabLst>
            </a:pPr>
            <a:r>
              <a:rPr lang="en-US" altLang="en-US"/>
              <a:t>Find the names of all instructors who have a higher salary than </a:t>
            </a:r>
            <a:br>
              <a:rPr lang="en-US" altLang="en-US"/>
            </a:br>
            <a:r>
              <a:rPr lang="en-US" altLang="en-US"/>
              <a:t>      some instructor in ‘Comp. Sci’.</a:t>
            </a:r>
          </a:p>
          <a:p>
            <a:pPr lvl="1">
              <a:tabLst>
                <a:tab pos="2055813" algn="l"/>
              </a:tabLst>
            </a:pPr>
            <a:r>
              <a:rPr lang="en-US" altLang="en-US" b="1"/>
              <a:t>select distinct </a:t>
            </a:r>
            <a:r>
              <a:rPr lang="en-US" altLang="en-US" i="1"/>
              <a:t>T. name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as </a:t>
            </a:r>
            <a:r>
              <a:rPr lang="en-US" altLang="en-US" i="1"/>
              <a:t>T, instructor </a:t>
            </a:r>
            <a:r>
              <a:rPr lang="en-US" altLang="en-US" b="1"/>
              <a:t>as </a:t>
            </a:r>
            <a:r>
              <a:rPr lang="en-US" altLang="en-US" i="1"/>
              <a:t>S</a:t>
            </a:r>
            <a:br>
              <a:rPr lang="en-US" altLang="en-US" i="1"/>
            </a:br>
            <a:r>
              <a:rPr lang="en-US" altLang="en-US" b="1"/>
              <a:t>where </a:t>
            </a:r>
            <a:r>
              <a:rPr lang="en-US" altLang="en-US" i="1"/>
              <a:t>T.salary &gt; S.salary </a:t>
            </a:r>
            <a:r>
              <a:rPr lang="en-US" altLang="en-US" b="1"/>
              <a:t>and </a:t>
            </a:r>
            <a:r>
              <a:rPr lang="en-US" altLang="en-US" i="1"/>
              <a:t>S.dept_name = ‘Comp. Sci.’</a:t>
            </a:r>
            <a:endParaRPr lang="en-US" altLang="en-US"/>
          </a:p>
          <a:p>
            <a:pPr>
              <a:tabLst>
                <a:tab pos="2055813" algn="l"/>
              </a:tabLst>
            </a:pPr>
            <a:r>
              <a:rPr lang="en-US" altLang="en-US"/>
              <a:t>Keyword </a:t>
            </a:r>
            <a:r>
              <a:rPr lang="en-US" altLang="en-US" b="1"/>
              <a:t>as</a:t>
            </a:r>
            <a:r>
              <a:rPr lang="en-US" altLang="en-US"/>
              <a:t> is optional and may be omitted</a:t>
            </a:r>
            <a:br>
              <a:rPr lang="en-US" altLang="en-US"/>
            </a:br>
            <a:r>
              <a:rPr lang="en-US" altLang="en-US"/>
              <a:t>              </a:t>
            </a:r>
            <a:r>
              <a:rPr lang="en-US" altLang="en-US" i="1"/>
              <a:t>instructor </a:t>
            </a:r>
            <a:r>
              <a:rPr lang="en-US" altLang="en-US" b="1"/>
              <a:t>as </a:t>
            </a:r>
            <a:r>
              <a:rPr lang="en-US" altLang="en-US" i="1"/>
              <a:t>T ≡ instructor</a:t>
            </a:r>
            <a:r>
              <a:rPr lang="en-US" altLang="en-US" b="1"/>
              <a:t> </a:t>
            </a:r>
            <a:r>
              <a:rPr lang="en-US" altLang="en-US" i="1"/>
              <a:t>T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5637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38100"/>
            <a:ext cx="8077200" cy="609600"/>
          </a:xfrm>
        </p:spPr>
        <p:txBody>
          <a:bodyPr/>
          <a:lstStyle/>
          <a:p>
            <a:r>
              <a:rPr lang="en-US" altLang="en-US"/>
              <a:t>Set Operations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108075"/>
            <a:ext cx="7661275" cy="511175"/>
          </a:xfrm>
        </p:spPr>
        <p:txBody>
          <a:bodyPr/>
          <a:lstStyle/>
          <a:p>
            <a:pPr>
              <a:tabLst>
                <a:tab pos="1481138" algn="l"/>
              </a:tabLst>
            </a:pPr>
            <a:r>
              <a:rPr lang="en-US" altLang="en-US"/>
              <a:t>Find courses that ran in Fall 2009 or in Spring 2010</a:t>
            </a:r>
          </a:p>
        </p:txBody>
      </p:sp>
      <p:sp>
        <p:nvSpPr>
          <p:cNvPr id="417796" name="Text Box 4"/>
          <p:cNvSpPr txBox="1">
            <a:spLocks noChangeArrowheads="1"/>
          </p:cNvSpPr>
          <p:nvPr/>
        </p:nvSpPr>
        <p:spPr bwMode="auto">
          <a:xfrm>
            <a:off x="742950" y="4222750"/>
            <a:ext cx="558006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 </a:t>
            </a:r>
            <a:r>
              <a:rPr kumimoji="1" lang="en-US" altLang="en-US"/>
              <a:t> Find courses that ran in Fall 2009 but not in Spring 2010</a:t>
            </a:r>
          </a:p>
        </p:txBody>
      </p:sp>
      <p:sp>
        <p:nvSpPr>
          <p:cNvPr id="417797" name="Text Box 5"/>
          <p:cNvSpPr txBox="1">
            <a:spLocks noChangeArrowheads="1"/>
          </p:cNvSpPr>
          <p:nvPr/>
        </p:nvSpPr>
        <p:spPr bwMode="auto">
          <a:xfrm>
            <a:off x="1141413" y="1560513"/>
            <a:ext cx="75406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‘Fall’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2009)</a:t>
            </a:r>
            <a:br>
              <a:rPr kumimoji="1" lang="en-US" altLang="en-US" sz="1800"/>
            </a:br>
            <a:r>
              <a:rPr kumimoji="1" lang="en-US" altLang="en-US" sz="1800"/>
              <a:t> </a:t>
            </a:r>
            <a:r>
              <a:rPr kumimoji="1" lang="en-US" altLang="en-US" sz="1800" b="1"/>
              <a:t>union</a:t>
            </a:r>
            <a:br>
              <a:rPr kumimoji="1" lang="en-US" altLang="en-US" sz="1800" b="1"/>
            </a:b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‘Spring’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2010)</a:t>
            </a:r>
          </a:p>
        </p:txBody>
      </p:sp>
      <p:sp>
        <p:nvSpPr>
          <p:cNvPr id="417798" name="Text Box 6"/>
          <p:cNvSpPr txBox="1">
            <a:spLocks noChangeArrowheads="1"/>
          </p:cNvSpPr>
          <p:nvPr/>
        </p:nvSpPr>
        <p:spPr bwMode="auto">
          <a:xfrm>
            <a:off x="742950" y="2678113"/>
            <a:ext cx="5238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 </a:t>
            </a:r>
            <a:r>
              <a:rPr kumimoji="1" lang="en-US" altLang="en-US"/>
              <a:t>Find courses that ran in Fall 2009 and in Spring 2010</a:t>
            </a:r>
          </a:p>
        </p:txBody>
      </p:sp>
      <p:sp>
        <p:nvSpPr>
          <p:cNvPr id="417799" name="Text Box 7"/>
          <p:cNvSpPr txBox="1">
            <a:spLocks noChangeArrowheads="1"/>
          </p:cNvSpPr>
          <p:nvPr/>
        </p:nvSpPr>
        <p:spPr bwMode="auto">
          <a:xfrm>
            <a:off x="1198563" y="3094038"/>
            <a:ext cx="75406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‘Fall’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2009)</a:t>
            </a:r>
            <a:br>
              <a:rPr kumimoji="1" lang="en-US" altLang="en-US" sz="1800"/>
            </a:br>
            <a:r>
              <a:rPr kumimoji="1" lang="en-US" altLang="en-US" sz="1800"/>
              <a:t> </a:t>
            </a:r>
            <a:r>
              <a:rPr kumimoji="1" lang="en-US" altLang="en-US" sz="1800" b="1"/>
              <a:t>intersect</a:t>
            </a:r>
            <a:br>
              <a:rPr kumimoji="1" lang="en-US" altLang="en-US" sz="1800" b="1"/>
            </a:b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‘Spring’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2010)</a:t>
            </a:r>
          </a:p>
        </p:txBody>
      </p:sp>
      <p:sp>
        <p:nvSpPr>
          <p:cNvPr id="417800" name="Text Box 8"/>
          <p:cNvSpPr txBox="1">
            <a:spLocks noChangeArrowheads="1"/>
          </p:cNvSpPr>
          <p:nvPr/>
        </p:nvSpPr>
        <p:spPr bwMode="auto">
          <a:xfrm>
            <a:off x="1271588" y="4754563"/>
            <a:ext cx="75406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‘Fall’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2009)</a:t>
            </a:r>
            <a:br>
              <a:rPr kumimoji="1" lang="en-US" altLang="en-US" sz="1800"/>
            </a:br>
            <a:r>
              <a:rPr kumimoji="1" lang="en-US" altLang="en-US" sz="1800"/>
              <a:t> </a:t>
            </a:r>
            <a:r>
              <a:rPr kumimoji="1" lang="en-US" altLang="en-US" sz="1800" b="1"/>
              <a:t>except</a:t>
            </a:r>
            <a:br>
              <a:rPr kumimoji="1" lang="en-US" altLang="en-US" sz="1800" b="1"/>
            </a:b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‘Spring’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2010)</a:t>
            </a:r>
          </a:p>
        </p:txBody>
      </p:sp>
    </p:spTree>
    <p:extLst>
      <p:ext uri="{BB962C8B-B14F-4D97-AF65-F5344CB8AC3E}">
        <p14:creationId xmlns:p14="http://schemas.microsoft.com/office/powerpoint/2010/main" val="356205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7" grpId="0" autoUpdateAnimBg="0"/>
      <p:bldP spid="417799" grpId="0" autoUpdateAnimBg="0"/>
      <p:bldP spid="41780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 Operations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095375"/>
            <a:ext cx="7661275" cy="4903788"/>
          </a:xfrm>
        </p:spPr>
        <p:txBody>
          <a:bodyPr/>
          <a:lstStyle/>
          <a:p>
            <a:r>
              <a:rPr lang="en-US" altLang="en-US"/>
              <a:t>Set operations </a:t>
            </a:r>
            <a:r>
              <a:rPr lang="en-US" altLang="en-US" b="1">
                <a:solidFill>
                  <a:srgbClr val="000099"/>
                </a:solidFill>
              </a:rPr>
              <a:t>union</a:t>
            </a:r>
            <a:r>
              <a:rPr lang="en-US" altLang="en-US" b="1"/>
              <a:t>, </a:t>
            </a:r>
            <a:r>
              <a:rPr lang="en-US" altLang="en-US" b="1">
                <a:solidFill>
                  <a:srgbClr val="000099"/>
                </a:solidFill>
              </a:rPr>
              <a:t>intersect</a:t>
            </a:r>
            <a:r>
              <a:rPr lang="en-US" altLang="en-US" b="1"/>
              <a:t>, </a:t>
            </a:r>
            <a:r>
              <a:rPr lang="en-US" altLang="en-US"/>
              <a:t>and </a:t>
            </a:r>
            <a:r>
              <a:rPr lang="en-US" altLang="en-US" b="1">
                <a:solidFill>
                  <a:srgbClr val="000099"/>
                </a:solidFill>
              </a:rPr>
              <a:t>except</a:t>
            </a:r>
            <a:r>
              <a:rPr lang="en-US" altLang="en-US" b="1"/>
              <a:t> 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>
                <a:sym typeface="Symbol" panose="05050102010706020507" pitchFamily="18" charset="2"/>
              </a:rPr>
              <a:t>To retain all duplicates use the corresponding multiset versions </a:t>
            </a:r>
            <a:r>
              <a:rPr lang="en-US" altLang="en-US" b="1">
                <a:solidFill>
                  <a:srgbClr val="000099"/>
                </a:solidFill>
                <a:sym typeface="Symbol" panose="05050102010706020507" pitchFamily="18" charset="2"/>
              </a:rPr>
              <a:t>union all, intersect all</a:t>
            </a:r>
            <a:r>
              <a:rPr lang="en-US" altLang="en-US" b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and </a:t>
            </a:r>
            <a:r>
              <a:rPr lang="en-US" altLang="en-US" b="1">
                <a:solidFill>
                  <a:srgbClr val="000099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b="1">
                <a:sym typeface="Symbol" panose="05050102010706020507" pitchFamily="18" charset="2"/>
              </a:rPr>
              <a:t>.</a:t>
            </a:r>
            <a:br>
              <a:rPr lang="en-US" altLang="en-US" b="1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/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Suppose a tuple occurs </a:t>
            </a:r>
            <a:r>
              <a:rPr lang="en-US" altLang="en-US" i="1">
                <a:sym typeface="Symbol" panose="05050102010706020507" pitchFamily="18" charset="2"/>
              </a:rPr>
              <a:t>m</a:t>
            </a:r>
            <a:r>
              <a:rPr lang="en-US" altLang="en-US">
                <a:sym typeface="Symbol" panose="05050102010706020507" pitchFamily="18" charset="2"/>
              </a:rPr>
              <a:t> times in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and </a:t>
            </a:r>
            <a:r>
              <a:rPr lang="en-US" altLang="en-US" i="1">
                <a:sym typeface="Symbol" panose="05050102010706020507" pitchFamily="18" charset="2"/>
              </a:rPr>
              <a:t>n </a:t>
            </a:r>
            <a:r>
              <a:rPr lang="en-US" altLang="en-US">
                <a:sym typeface="Symbol" panose="05050102010706020507" pitchFamily="18" charset="2"/>
              </a:rPr>
              <a:t>times in </a:t>
            </a:r>
            <a:r>
              <a:rPr lang="en-US" altLang="en-US" i="1">
                <a:sym typeface="Symbol" panose="05050102010706020507" pitchFamily="18" charset="2"/>
              </a:rPr>
              <a:t>s, </a:t>
            </a:r>
            <a:r>
              <a:rPr lang="en-US" altLang="en-US">
                <a:sym typeface="Symbol" panose="05050102010706020507" pitchFamily="18" charset="2"/>
              </a:rPr>
              <a:t>then, it occurs:</a:t>
            </a:r>
          </a:p>
          <a:p>
            <a:pPr lvl="1"/>
            <a:r>
              <a:rPr lang="en-US" altLang="en-US" i="1"/>
              <a:t>m </a:t>
            </a:r>
            <a:r>
              <a:rPr lang="en-US" altLang="en-US" i="1" baseline="-25000"/>
              <a:t> </a:t>
            </a:r>
            <a:r>
              <a:rPr lang="en-US" altLang="en-US" i="1"/>
              <a:t>+ n </a:t>
            </a:r>
            <a:r>
              <a:rPr lang="en-US" altLang="en-US"/>
              <a:t>times in </a:t>
            </a:r>
            <a:r>
              <a:rPr lang="en-US" altLang="en-US" i="1"/>
              <a:t>r </a:t>
            </a:r>
            <a:r>
              <a:rPr lang="en-US" altLang="en-US" b="1"/>
              <a:t>union all </a:t>
            </a:r>
            <a:r>
              <a:rPr lang="en-US" altLang="en-US" i="1"/>
              <a:t>s</a:t>
            </a:r>
          </a:p>
          <a:p>
            <a:pPr lvl="1"/>
            <a:r>
              <a:rPr lang="en-US" altLang="en-US"/>
              <a:t>min(</a:t>
            </a:r>
            <a:r>
              <a:rPr lang="en-US" altLang="en-US" i="1"/>
              <a:t>m,n)</a:t>
            </a:r>
            <a:r>
              <a:rPr lang="en-US" altLang="en-US"/>
              <a:t> times in </a:t>
            </a:r>
            <a:r>
              <a:rPr lang="en-US" altLang="en-US" i="1"/>
              <a:t>r</a:t>
            </a:r>
            <a:r>
              <a:rPr lang="en-US" altLang="en-US"/>
              <a:t> </a:t>
            </a:r>
            <a:r>
              <a:rPr lang="en-US" altLang="en-US" b="1"/>
              <a:t>intersect all </a:t>
            </a:r>
            <a:r>
              <a:rPr lang="en-US" altLang="en-US" i="1"/>
              <a:t>s</a:t>
            </a:r>
          </a:p>
          <a:p>
            <a:pPr lvl="1"/>
            <a:r>
              <a:rPr lang="en-US" altLang="en-US"/>
              <a:t>max(0, </a:t>
            </a:r>
            <a:r>
              <a:rPr lang="en-US" altLang="en-US" i="1"/>
              <a:t>m – n)</a:t>
            </a:r>
            <a:r>
              <a:rPr lang="en-US" altLang="en-US"/>
              <a:t> times in </a:t>
            </a:r>
            <a:r>
              <a:rPr lang="en-US" altLang="en-US" i="1"/>
              <a:t>r</a:t>
            </a:r>
            <a:r>
              <a:rPr lang="en-US" altLang="en-US"/>
              <a:t> </a:t>
            </a:r>
            <a:r>
              <a:rPr lang="en-US" altLang="en-US" b="1"/>
              <a:t>except all </a:t>
            </a:r>
            <a:r>
              <a:rPr lang="en-US" altLang="en-US" i="1"/>
              <a:t>s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36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Null Values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89850" cy="5156200"/>
          </a:xfrm>
        </p:spPr>
        <p:txBody>
          <a:bodyPr/>
          <a:lstStyle/>
          <a:p>
            <a:r>
              <a:rPr lang="en-US" altLang="en-US"/>
              <a:t>It is possible for tuples to have a null value, denoted by </a:t>
            </a:r>
            <a:r>
              <a:rPr lang="en-US" altLang="en-US" i="1"/>
              <a:t>null</a:t>
            </a:r>
            <a:r>
              <a:rPr lang="en-US" altLang="en-US"/>
              <a:t>, for some of their attributes</a:t>
            </a:r>
          </a:p>
          <a:p>
            <a:r>
              <a:rPr lang="en-US" altLang="en-US" i="1"/>
              <a:t>null</a:t>
            </a:r>
            <a:r>
              <a:rPr lang="en-US" altLang="en-US"/>
              <a:t> signifies an unknown value or that a value does not exist.</a:t>
            </a:r>
          </a:p>
          <a:p>
            <a:r>
              <a:rPr lang="en-US" altLang="en-US"/>
              <a:t>The result of any arithmetic expression involving </a:t>
            </a:r>
            <a:r>
              <a:rPr lang="en-US" altLang="en-US" i="1"/>
              <a:t>null</a:t>
            </a:r>
            <a:r>
              <a:rPr lang="en-US" altLang="en-US"/>
              <a:t> is </a:t>
            </a:r>
            <a:r>
              <a:rPr lang="en-US" altLang="en-US" i="1"/>
              <a:t>null</a:t>
            </a:r>
          </a:p>
          <a:p>
            <a:pPr lvl="1"/>
            <a:r>
              <a:rPr lang="en-US" altLang="en-US"/>
              <a:t>Example:  5 + </a:t>
            </a:r>
            <a:r>
              <a:rPr lang="en-US" altLang="en-US" i="1"/>
              <a:t>null</a:t>
            </a:r>
            <a:r>
              <a:rPr lang="en-US" altLang="en-US"/>
              <a:t>  returns null</a:t>
            </a:r>
          </a:p>
          <a:p>
            <a:r>
              <a:rPr lang="en-US" altLang="en-US"/>
              <a:t>The predicate  </a:t>
            </a:r>
            <a:r>
              <a:rPr lang="en-US" altLang="en-US" b="1"/>
              <a:t>is null</a:t>
            </a:r>
            <a:r>
              <a:rPr lang="en-US" altLang="en-US"/>
              <a:t> can be used to check for null values.</a:t>
            </a:r>
          </a:p>
          <a:p>
            <a:pPr lvl="1"/>
            <a:r>
              <a:rPr lang="en-US" altLang="en-US"/>
              <a:t>Example: Find all instructors whose salary is null</a:t>
            </a:r>
            <a:r>
              <a:rPr lang="en-US" altLang="en-US" i="1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b="1"/>
              <a:t>		select</a:t>
            </a:r>
            <a:r>
              <a:rPr lang="en-US" altLang="en-US" i="1"/>
              <a:t> name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</a:t>
            </a:r>
            <a:r>
              <a:rPr lang="en-US" altLang="en-US" i="1"/>
              <a:t> instructor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where </a:t>
            </a:r>
            <a:r>
              <a:rPr lang="en-US" altLang="en-US" i="1"/>
              <a:t>salary </a:t>
            </a:r>
            <a:r>
              <a:rPr lang="en-US" altLang="en-US" b="1"/>
              <a:t>is null</a:t>
            </a:r>
            <a:endParaRPr lang="en-US" altLang="en-US"/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574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57150"/>
            <a:ext cx="8077200" cy="609600"/>
          </a:xfrm>
        </p:spPr>
        <p:txBody>
          <a:bodyPr/>
          <a:lstStyle/>
          <a:p>
            <a:r>
              <a:rPr lang="en-US" altLang="en-US"/>
              <a:t>Null Values and Three Valued Logic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61275" cy="4903787"/>
          </a:xfrm>
        </p:spPr>
        <p:txBody>
          <a:bodyPr/>
          <a:lstStyle/>
          <a:p>
            <a:r>
              <a:rPr lang="en-US" altLang="en-US"/>
              <a:t>Any comparison with </a:t>
            </a:r>
            <a:r>
              <a:rPr lang="en-US" altLang="en-US" i="1"/>
              <a:t>null</a:t>
            </a:r>
            <a:r>
              <a:rPr lang="en-US" altLang="en-US"/>
              <a:t> returns </a:t>
            </a:r>
            <a:r>
              <a:rPr lang="en-US" altLang="en-US" i="1"/>
              <a:t>unknown</a:t>
            </a:r>
          </a:p>
          <a:p>
            <a:pPr lvl="1"/>
            <a:r>
              <a:rPr lang="en-US" altLang="en-US"/>
              <a:t>Example</a:t>
            </a:r>
            <a:r>
              <a:rPr lang="en-US" altLang="en-US" i="1"/>
              <a:t>: 5 &lt; null   or   null &lt;&gt; null    or    null = null</a:t>
            </a:r>
          </a:p>
          <a:p>
            <a:r>
              <a:rPr lang="en-US" altLang="en-US"/>
              <a:t>Three-valued logic using the truth value </a:t>
            </a:r>
            <a:r>
              <a:rPr lang="en-US" altLang="en-US" i="1"/>
              <a:t>unknown</a:t>
            </a:r>
            <a:r>
              <a:rPr lang="en-US" altLang="en-US"/>
              <a:t>:</a:t>
            </a:r>
          </a:p>
          <a:p>
            <a:pPr lvl="1"/>
            <a:r>
              <a:rPr lang="en-US" altLang="en-US"/>
              <a:t>OR: (</a:t>
            </a:r>
            <a:r>
              <a:rPr lang="en-US" altLang="en-US" i="1"/>
              <a:t>unknown</a:t>
            </a:r>
            <a:r>
              <a:rPr lang="en-US" altLang="en-US"/>
              <a:t> </a:t>
            </a:r>
            <a:r>
              <a:rPr lang="en-US" altLang="en-US" b="1"/>
              <a:t>or</a:t>
            </a:r>
            <a:r>
              <a:rPr lang="en-US" altLang="en-US"/>
              <a:t> </a:t>
            </a:r>
            <a:r>
              <a:rPr lang="en-US" altLang="en-US" i="1"/>
              <a:t>true</a:t>
            </a:r>
            <a:r>
              <a:rPr lang="en-US" altLang="en-US"/>
              <a:t>)   = </a:t>
            </a:r>
            <a:r>
              <a:rPr lang="en-US" altLang="en-US" i="1"/>
              <a:t>true</a:t>
            </a:r>
            <a:r>
              <a:rPr lang="en-US" altLang="en-US"/>
              <a:t>,</a:t>
            </a:r>
            <a:br>
              <a:rPr lang="en-US" altLang="en-US"/>
            </a:br>
            <a:r>
              <a:rPr lang="en-US" altLang="en-US"/>
              <a:t>       (</a:t>
            </a:r>
            <a:r>
              <a:rPr lang="en-US" altLang="en-US" i="1"/>
              <a:t>unknown</a:t>
            </a:r>
            <a:r>
              <a:rPr lang="en-US" altLang="en-US"/>
              <a:t> </a:t>
            </a:r>
            <a:r>
              <a:rPr lang="en-US" altLang="en-US" b="1"/>
              <a:t>or</a:t>
            </a:r>
            <a:r>
              <a:rPr lang="en-US" altLang="en-US"/>
              <a:t> </a:t>
            </a:r>
            <a:r>
              <a:rPr lang="en-US" altLang="en-US" i="1"/>
              <a:t>false</a:t>
            </a:r>
            <a:r>
              <a:rPr lang="en-US" altLang="en-US"/>
              <a:t>)  = </a:t>
            </a:r>
            <a:r>
              <a:rPr lang="en-US" altLang="en-US" i="1"/>
              <a:t>unknown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       (</a:t>
            </a:r>
            <a:r>
              <a:rPr lang="en-US" altLang="en-US" i="1"/>
              <a:t>unknown </a:t>
            </a:r>
            <a:r>
              <a:rPr lang="en-US" altLang="en-US" b="1"/>
              <a:t>or</a:t>
            </a:r>
            <a:r>
              <a:rPr lang="en-US" altLang="en-US" i="1"/>
              <a:t> unknown) = unknown</a:t>
            </a:r>
          </a:p>
          <a:p>
            <a:pPr lvl="1"/>
            <a:r>
              <a:rPr lang="en-US" altLang="en-US"/>
              <a:t>AND:</a:t>
            </a:r>
            <a:r>
              <a:rPr lang="en-US" altLang="en-US" i="1"/>
              <a:t> (true</a:t>
            </a:r>
            <a:r>
              <a:rPr lang="en-US" altLang="en-US" b="1"/>
              <a:t> and </a:t>
            </a:r>
            <a:r>
              <a:rPr lang="en-US" altLang="en-US" i="1"/>
              <a:t>unknown)  = unknown,    </a:t>
            </a:r>
            <a:br>
              <a:rPr lang="en-US" altLang="en-US" i="1"/>
            </a:br>
            <a:r>
              <a:rPr lang="en-US" altLang="en-US" i="1"/>
              <a:t>         (false</a:t>
            </a:r>
            <a:r>
              <a:rPr lang="en-US" altLang="en-US" b="1"/>
              <a:t> and </a:t>
            </a:r>
            <a:r>
              <a:rPr lang="en-US" altLang="en-US" i="1"/>
              <a:t>unknown) = false,</a:t>
            </a:r>
            <a:br>
              <a:rPr lang="en-US" altLang="en-US" i="1"/>
            </a:br>
            <a:r>
              <a:rPr lang="en-US" altLang="en-US" i="1"/>
              <a:t>         (unknown </a:t>
            </a:r>
            <a:r>
              <a:rPr lang="en-US" altLang="en-US" b="1"/>
              <a:t>and</a:t>
            </a:r>
            <a:r>
              <a:rPr lang="en-US" altLang="en-US" i="1"/>
              <a:t> unknown) = unknown</a:t>
            </a:r>
          </a:p>
          <a:p>
            <a:pPr lvl="1"/>
            <a:r>
              <a:rPr lang="en-US" altLang="en-US"/>
              <a:t>NOT</a:t>
            </a:r>
            <a:r>
              <a:rPr lang="en-US" altLang="en-US" i="1"/>
              <a:t>:  (</a:t>
            </a:r>
            <a:r>
              <a:rPr lang="en-US" altLang="en-US" b="1"/>
              <a:t>not</a:t>
            </a:r>
            <a:r>
              <a:rPr lang="en-US" altLang="en-US" i="1"/>
              <a:t> unknown) = unknown</a:t>
            </a:r>
          </a:p>
          <a:p>
            <a:pPr lvl="1"/>
            <a:r>
              <a:rPr lang="en-US" altLang="en-US"/>
              <a:t>“</a:t>
            </a:r>
            <a:r>
              <a:rPr lang="en-US" altLang="en-US" i="1"/>
              <a:t>P</a:t>
            </a:r>
            <a:r>
              <a:rPr lang="en-US" altLang="en-US" b="1"/>
              <a:t> is unknown</a:t>
            </a:r>
            <a:r>
              <a:rPr lang="en-US" altLang="en-US"/>
              <a:t>”</a:t>
            </a:r>
            <a:r>
              <a:rPr lang="en-US" altLang="en-US" b="1"/>
              <a:t> </a:t>
            </a:r>
            <a:r>
              <a:rPr lang="en-US" altLang="en-US"/>
              <a:t>evaluates to true if predicate </a:t>
            </a:r>
            <a:r>
              <a:rPr lang="en-US" altLang="en-US" i="1"/>
              <a:t>P</a:t>
            </a:r>
            <a:r>
              <a:rPr lang="en-US" altLang="en-US"/>
              <a:t> evaluates to </a:t>
            </a:r>
            <a:r>
              <a:rPr lang="en-US" altLang="en-US" i="1"/>
              <a:t>unknown</a:t>
            </a:r>
          </a:p>
          <a:p>
            <a:r>
              <a:rPr lang="en-US" altLang="en-US"/>
              <a:t>Result of </a:t>
            </a:r>
            <a:r>
              <a:rPr lang="en-US" altLang="en-US" b="1"/>
              <a:t>where </a:t>
            </a:r>
            <a:r>
              <a:rPr lang="en-US" altLang="en-US"/>
              <a:t>clause predicate is treated as </a:t>
            </a:r>
            <a:r>
              <a:rPr lang="en-US" altLang="en-US" i="1"/>
              <a:t>false </a:t>
            </a:r>
            <a:r>
              <a:rPr lang="en-US" altLang="en-US"/>
              <a:t>if it evaluates to </a:t>
            </a:r>
            <a:r>
              <a:rPr lang="en-US" altLang="en-US" i="1"/>
              <a:t>unknown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97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Nested Subqueries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</p:spPr>
        <p:txBody>
          <a:bodyPr/>
          <a:lstStyle/>
          <a:p>
            <a:r>
              <a:rPr lang="en-US" altLang="en-US"/>
              <a:t>SQL provides a mechanism for the nesting of subqueries.</a:t>
            </a:r>
          </a:p>
          <a:p>
            <a:r>
              <a:rPr lang="en-US" altLang="en-US"/>
              <a:t>A </a:t>
            </a:r>
            <a:r>
              <a:rPr lang="en-US" altLang="en-US" b="1">
                <a:solidFill>
                  <a:srgbClr val="000099"/>
                </a:solidFill>
              </a:rPr>
              <a:t>subquery</a:t>
            </a:r>
            <a:r>
              <a:rPr lang="en-US" altLang="en-US"/>
              <a:t> is a </a:t>
            </a:r>
            <a:r>
              <a:rPr lang="en-US" altLang="en-US" b="1"/>
              <a:t>select-from-where</a:t>
            </a:r>
            <a:r>
              <a:rPr lang="en-US" altLang="en-US"/>
              <a:t> expression that is nested within another query.</a:t>
            </a:r>
          </a:p>
          <a:p>
            <a:r>
              <a:rPr lang="en-US" altLang="en-US"/>
              <a:t>A common use of subqueries is to perform tests for set membership, set comparisons, and set cardinality.</a:t>
            </a:r>
          </a:p>
        </p:txBody>
      </p:sp>
    </p:spTree>
    <p:extLst>
      <p:ext uri="{BB962C8B-B14F-4D97-AF65-F5344CB8AC3E}">
        <p14:creationId xmlns:p14="http://schemas.microsoft.com/office/powerpoint/2010/main" val="231899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Query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213" y="1109663"/>
            <a:ext cx="7661275" cy="91757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/>
              <a:t>Find courses offered in Fall 2009 and in Spring 2010</a:t>
            </a:r>
          </a:p>
        </p:txBody>
      </p:sp>
      <p:sp>
        <p:nvSpPr>
          <p:cNvPr id="439300" name="Text Box 4"/>
          <p:cNvSpPr txBox="1">
            <a:spLocks noChangeArrowheads="1"/>
          </p:cNvSpPr>
          <p:nvPr/>
        </p:nvSpPr>
        <p:spPr bwMode="auto">
          <a:xfrm>
            <a:off x="758825" y="3595688"/>
            <a:ext cx="7688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  Find courses offered in Fall 2009 but not in Spring 2010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439301" name="Text Box 5"/>
          <p:cNvSpPr txBox="1">
            <a:spLocks noChangeArrowheads="1"/>
          </p:cNvSpPr>
          <p:nvPr/>
        </p:nvSpPr>
        <p:spPr bwMode="auto">
          <a:xfrm>
            <a:off x="1849438" y="1698625"/>
            <a:ext cx="6216650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select distinct </a:t>
            </a:r>
            <a:r>
              <a:rPr lang="en-US" altLang="en-US" i="1"/>
              <a:t>course_id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section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semester </a:t>
            </a:r>
            <a:r>
              <a:rPr lang="en-US" altLang="en-US"/>
              <a:t>= ’Fall’ </a:t>
            </a:r>
            <a:r>
              <a:rPr lang="en-US" altLang="en-US" b="1"/>
              <a:t>and </a:t>
            </a:r>
            <a:r>
              <a:rPr lang="en-US" altLang="en-US" i="1"/>
              <a:t>year</a:t>
            </a:r>
            <a:r>
              <a:rPr lang="en-US" altLang="en-US"/>
              <a:t>= 2009 </a:t>
            </a:r>
            <a:r>
              <a:rPr lang="en-US" altLang="en-US" b="1"/>
              <a:t>and </a:t>
            </a:r>
            <a:br>
              <a:rPr lang="en-US" altLang="en-US" b="1"/>
            </a:br>
            <a:r>
              <a:rPr lang="en-US" altLang="en-US" b="1"/>
              <a:t>           </a:t>
            </a:r>
            <a:r>
              <a:rPr lang="en-US" altLang="en-US" i="1"/>
              <a:t>course_id </a:t>
            </a:r>
            <a:r>
              <a:rPr lang="en-US" altLang="en-US" b="1"/>
              <a:t>in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course_id</a:t>
            </a:r>
          </a:p>
          <a:p>
            <a:r>
              <a:rPr lang="en-US" altLang="en-US" b="1"/>
              <a:t>                                 from </a:t>
            </a:r>
            <a:r>
              <a:rPr lang="en-US" altLang="en-US" i="1"/>
              <a:t>section</a:t>
            </a:r>
          </a:p>
          <a:p>
            <a:r>
              <a:rPr lang="en-US" altLang="en-US" b="1"/>
              <a:t>                                 where </a:t>
            </a:r>
            <a:r>
              <a:rPr lang="en-US" altLang="en-US" i="1"/>
              <a:t>semester </a:t>
            </a:r>
            <a:r>
              <a:rPr lang="en-US" altLang="en-US"/>
              <a:t>= ’Spring’ </a:t>
            </a:r>
            <a:r>
              <a:rPr lang="en-US" altLang="en-US" b="1"/>
              <a:t>and </a:t>
            </a:r>
            <a:r>
              <a:rPr lang="en-US" altLang="en-US" i="1"/>
              <a:t>year</a:t>
            </a:r>
            <a:r>
              <a:rPr lang="en-US" altLang="en-US"/>
              <a:t>= 2010);</a:t>
            </a:r>
          </a:p>
        </p:txBody>
      </p:sp>
      <p:sp>
        <p:nvSpPr>
          <p:cNvPr id="439302" name="Text Box 6"/>
          <p:cNvSpPr txBox="1">
            <a:spLocks noChangeArrowheads="1"/>
          </p:cNvSpPr>
          <p:nvPr/>
        </p:nvSpPr>
        <p:spPr bwMode="auto">
          <a:xfrm>
            <a:off x="1925638" y="4225925"/>
            <a:ext cx="6216650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select distinct </a:t>
            </a:r>
            <a:r>
              <a:rPr lang="en-US" altLang="en-US" i="1"/>
              <a:t>course_id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section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semester </a:t>
            </a:r>
            <a:r>
              <a:rPr lang="en-US" altLang="en-US"/>
              <a:t>= ’Fall’ </a:t>
            </a:r>
            <a:r>
              <a:rPr lang="en-US" altLang="en-US" b="1"/>
              <a:t>and </a:t>
            </a:r>
            <a:r>
              <a:rPr lang="en-US" altLang="en-US" i="1"/>
              <a:t>year</a:t>
            </a:r>
            <a:r>
              <a:rPr lang="en-US" altLang="en-US"/>
              <a:t>= 2009 </a:t>
            </a:r>
            <a:r>
              <a:rPr lang="en-US" altLang="en-US" b="1"/>
              <a:t>and </a:t>
            </a:r>
            <a:br>
              <a:rPr lang="en-US" altLang="en-US" b="1"/>
            </a:br>
            <a:r>
              <a:rPr lang="en-US" altLang="en-US" b="1"/>
              <a:t>           </a:t>
            </a:r>
            <a:r>
              <a:rPr lang="en-US" altLang="en-US" i="1"/>
              <a:t>course_id  </a:t>
            </a:r>
            <a:r>
              <a:rPr lang="en-US" altLang="en-US" b="1"/>
              <a:t>not in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course_id</a:t>
            </a:r>
          </a:p>
          <a:p>
            <a:r>
              <a:rPr lang="en-US" altLang="en-US" b="1"/>
              <a:t>                                 from </a:t>
            </a:r>
            <a:r>
              <a:rPr lang="en-US" altLang="en-US" i="1"/>
              <a:t>section</a:t>
            </a:r>
          </a:p>
          <a:p>
            <a:r>
              <a:rPr lang="en-US" altLang="en-US" b="1"/>
              <a:t>                                 where </a:t>
            </a:r>
            <a:r>
              <a:rPr lang="en-US" altLang="en-US" i="1"/>
              <a:t>semester </a:t>
            </a:r>
            <a:r>
              <a:rPr lang="en-US" altLang="en-US"/>
              <a:t>= ’Spring’ </a:t>
            </a:r>
            <a:r>
              <a:rPr lang="en-US" altLang="en-US" b="1"/>
              <a:t>and </a:t>
            </a:r>
            <a:r>
              <a:rPr lang="en-US" altLang="en-US" i="1"/>
              <a:t>year</a:t>
            </a:r>
            <a:r>
              <a:rPr lang="en-US" altLang="en-US"/>
              <a:t>= 2010);</a:t>
            </a:r>
          </a:p>
        </p:txBody>
      </p:sp>
    </p:spTree>
    <p:extLst>
      <p:ext uri="{BB962C8B-B14F-4D97-AF65-F5344CB8AC3E}">
        <p14:creationId xmlns:p14="http://schemas.microsoft.com/office/powerpoint/2010/main" val="421075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1" grpId="0" autoUpdateAnimBg="0"/>
      <p:bldP spid="43930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Query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61275" cy="760412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/>
              <a:t>Find the total number of (distinct) studentswho have taken course sections taught by the instructor with </a:t>
            </a:r>
            <a:r>
              <a:rPr lang="en-US" altLang="en-US" i="1"/>
              <a:t>ID </a:t>
            </a:r>
            <a:r>
              <a:rPr lang="en-US" altLang="en-US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i="1"/>
          </a:p>
        </p:txBody>
      </p:sp>
      <p:sp>
        <p:nvSpPr>
          <p:cNvPr id="441348" name="Text Box 4"/>
          <p:cNvSpPr txBox="1">
            <a:spLocks noChangeArrowheads="1"/>
          </p:cNvSpPr>
          <p:nvPr/>
        </p:nvSpPr>
        <p:spPr bwMode="auto">
          <a:xfrm>
            <a:off x="742950" y="4610100"/>
            <a:ext cx="8056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>
                <a:solidFill>
                  <a:schemeClr val="tx2"/>
                </a:solidFill>
              </a:rPr>
              <a:t>  Note</a:t>
            </a:r>
            <a:r>
              <a:rPr kumimoji="1" lang="en-US" altLang="en-US" sz="1800"/>
              <a:t>: Above query can be written in a much simpler manner.  The </a:t>
            </a:r>
            <a:br>
              <a:rPr kumimoji="1" lang="en-US" altLang="en-US" sz="1800"/>
            </a:br>
            <a:r>
              <a:rPr kumimoji="1" lang="en-US" altLang="en-US" sz="1800"/>
              <a:t>               formulation above is simply to illustrate SQL features.</a:t>
            </a:r>
          </a:p>
        </p:txBody>
      </p:sp>
      <p:sp>
        <p:nvSpPr>
          <p:cNvPr id="441349" name="Text Box 5"/>
          <p:cNvSpPr txBox="1">
            <a:spLocks noChangeArrowheads="1"/>
          </p:cNvSpPr>
          <p:nvPr/>
        </p:nvSpPr>
        <p:spPr bwMode="auto">
          <a:xfrm>
            <a:off x="1787525" y="2449513"/>
            <a:ext cx="5749925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select count </a:t>
            </a:r>
            <a:r>
              <a:rPr lang="en-US" altLang="en-US"/>
              <a:t>(</a:t>
            </a:r>
            <a:r>
              <a:rPr lang="en-US" altLang="en-US" b="1"/>
              <a:t>distinct </a:t>
            </a:r>
            <a:r>
              <a:rPr lang="en-US" altLang="en-US" i="1"/>
              <a:t>ID</a:t>
            </a:r>
            <a:r>
              <a:rPr lang="en-US" altLang="en-US"/>
              <a:t>)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takes</a:t>
            </a:r>
          </a:p>
          <a:p>
            <a:r>
              <a:rPr lang="en-US" altLang="en-US" b="1"/>
              <a:t>where </a:t>
            </a:r>
            <a:r>
              <a:rPr lang="en-US" altLang="en-US"/>
              <a:t>(</a:t>
            </a:r>
            <a:r>
              <a:rPr lang="en-US" altLang="en-US" i="1"/>
              <a:t>course_id</a:t>
            </a:r>
            <a:r>
              <a:rPr lang="en-US" altLang="en-US"/>
              <a:t>, </a:t>
            </a:r>
            <a:r>
              <a:rPr lang="en-US" altLang="en-US" i="1"/>
              <a:t>sec_id</a:t>
            </a:r>
            <a:r>
              <a:rPr lang="en-US" altLang="en-US"/>
              <a:t>, </a:t>
            </a:r>
            <a:r>
              <a:rPr lang="en-US" altLang="en-US" i="1"/>
              <a:t>semester</a:t>
            </a:r>
            <a:r>
              <a:rPr lang="en-US" altLang="en-US"/>
              <a:t>, </a:t>
            </a:r>
            <a:r>
              <a:rPr lang="en-US" altLang="en-US" i="1"/>
              <a:t>year</a:t>
            </a:r>
            <a:r>
              <a:rPr lang="en-US" altLang="en-US"/>
              <a:t>) </a:t>
            </a:r>
            <a:r>
              <a:rPr lang="en-US" altLang="en-US" b="1"/>
              <a:t>in </a:t>
            </a:r>
            <a:br>
              <a:rPr lang="en-US" altLang="en-US" b="1"/>
            </a:br>
            <a:r>
              <a:rPr lang="en-US" altLang="en-US" b="1"/>
              <a:t>                               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course_id</a:t>
            </a:r>
            <a:r>
              <a:rPr lang="en-US" altLang="en-US"/>
              <a:t>, </a:t>
            </a:r>
            <a:r>
              <a:rPr lang="en-US" altLang="en-US" i="1"/>
              <a:t>sec_id</a:t>
            </a:r>
            <a:r>
              <a:rPr lang="en-US" altLang="en-US"/>
              <a:t>, </a:t>
            </a:r>
            <a:r>
              <a:rPr lang="en-US" altLang="en-US" i="1"/>
              <a:t>semester</a:t>
            </a:r>
            <a:r>
              <a:rPr lang="en-US" altLang="en-US"/>
              <a:t>, </a:t>
            </a:r>
            <a:r>
              <a:rPr lang="en-US" altLang="en-US" i="1"/>
              <a:t>year</a:t>
            </a:r>
          </a:p>
          <a:p>
            <a:r>
              <a:rPr lang="en-US" altLang="en-US" b="1"/>
              <a:t>                                 from </a:t>
            </a:r>
            <a:r>
              <a:rPr lang="en-US" altLang="en-US" i="1"/>
              <a:t>teaches</a:t>
            </a:r>
          </a:p>
          <a:p>
            <a:r>
              <a:rPr lang="en-US" altLang="en-US" b="1"/>
              <a:t>                                 where </a:t>
            </a:r>
            <a:r>
              <a:rPr lang="en-US" altLang="en-US" i="1"/>
              <a:t>teaches</a:t>
            </a:r>
            <a:r>
              <a:rPr lang="en-US" altLang="en-US"/>
              <a:t>.</a:t>
            </a:r>
            <a:r>
              <a:rPr lang="en-US" altLang="en-US" i="1"/>
              <a:t>ID</a:t>
            </a:r>
            <a:r>
              <a:rPr lang="en-US" altLang="en-US"/>
              <a:t>= 10101);</a:t>
            </a:r>
          </a:p>
        </p:txBody>
      </p:sp>
    </p:spTree>
    <p:extLst>
      <p:ext uri="{BB962C8B-B14F-4D97-AF65-F5344CB8AC3E}">
        <p14:creationId xmlns:p14="http://schemas.microsoft.com/office/powerpoint/2010/main" val="79218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 Functions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010400" cy="3897312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/>
              <a:t>		</a:t>
            </a:r>
            <a:r>
              <a:rPr lang="en-US" altLang="en-US" b="1"/>
              <a:t>avg: </a:t>
            </a:r>
            <a:r>
              <a:rPr lang="en-US" altLang="en-US"/>
              <a:t>average value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min:  </a:t>
            </a:r>
            <a:r>
              <a:rPr lang="en-US" altLang="en-US"/>
              <a:t>minimum value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max:  </a:t>
            </a:r>
            <a:r>
              <a:rPr lang="en-US" altLang="en-US"/>
              <a:t>maximum value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sum:  </a:t>
            </a:r>
            <a:r>
              <a:rPr lang="en-US" altLang="en-US"/>
              <a:t>sum of values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count:  </a:t>
            </a:r>
            <a:r>
              <a:rPr lang="en-US" altLang="en-US"/>
              <a:t>number of values</a:t>
            </a:r>
          </a:p>
        </p:txBody>
      </p:sp>
    </p:spTree>
    <p:extLst>
      <p:ext uri="{BB962C8B-B14F-4D97-AF65-F5344CB8AC3E}">
        <p14:creationId xmlns:p14="http://schemas.microsoft.com/office/powerpoint/2010/main" val="224316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 Functions (Cont.)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108075"/>
            <a:ext cx="7843837" cy="5251450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b="1"/>
              <a:t>select 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b="1"/>
              <a:t>where </a:t>
            </a:r>
            <a:r>
              <a:rPr lang="en-US" altLang="en-US" i="1"/>
              <a:t>dept_name</a:t>
            </a:r>
            <a:r>
              <a:rPr lang="en-US" altLang="en-US"/>
              <a:t>= ’Comp. Sci.’;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/>
              <a:t>Find the total number of instructors who teach a course in the Spring 2010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b="1"/>
              <a:t>select count </a:t>
            </a:r>
            <a:r>
              <a:rPr kumimoji="0" lang="en-US" altLang="en-US"/>
              <a:t>(</a:t>
            </a:r>
            <a:r>
              <a:rPr kumimoji="0" lang="en-US" altLang="en-US" b="1"/>
              <a:t>distinct </a:t>
            </a:r>
            <a:r>
              <a:rPr kumimoji="0" lang="en-US" altLang="en-US" i="1"/>
              <a:t>ID</a:t>
            </a:r>
            <a:r>
              <a:rPr kumimoji="0" lang="en-US" altLang="en-US"/>
              <a:t>)</a:t>
            </a:r>
            <a:br>
              <a:rPr kumimoji="0" lang="en-US" altLang="en-US"/>
            </a:br>
            <a:r>
              <a:rPr kumimoji="0" lang="en-US" altLang="en-US" b="1"/>
              <a:t>from </a:t>
            </a:r>
            <a:r>
              <a:rPr kumimoji="0" lang="en-US" altLang="en-US" i="1"/>
              <a:t>teaches</a:t>
            </a:r>
            <a:br>
              <a:rPr kumimoji="0" lang="en-US" altLang="en-US" i="1"/>
            </a:br>
            <a:r>
              <a:rPr kumimoji="0" lang="en-US" altLang="en-US" b="1"/>
              <a:t>where </a:t>
            </a:r>
            <a:r>
              <a:rPr kumimoji="0" lang="en-US" altLang="en-US" i="1"/>
              <a:t>semester </a:t>
            </a:r>
            <a:r>
              <a:rPr kumimoji="0" lang="en-US" altLang="en-US"/>
              <a:t>= ’Spring’ </a:t>
            </a:r>
            <a:r>
              <a:rPr kumimoji="0" lang="en-US" altLang="en-US" b="1"/>
              <a:t>and </a:t>
            </a:r>
            <a:r>
              <a:rPr kumimoji="0" lang="en-US" altLang="en-US" i="1"/>
              <a:t>year </a:t>
            </a:r>
            <a:r>
              <a:rPr kumimoji="0" lang="en-US" altLang="en-US"/>
              <a:t>= 2010</a:t>
            </a:r>
          </a:p>
          <a:p>
            <a:pPr>
              <a:tabLst>
                <a:tab pos="1711325" algn="l"/>
              </a:tabLst>
            </a:pPr>
            <a:r>
              <a:rPr kumimoji="0" lang="en-US" altLang="en-US"/>
              <a:t>Find the number of tuples in the </a:t>
            </a:r>
            <a:r>
              <a:rPr kumimoji="0" lang="en-US" altLang="en-US" i="1"/>
              <a:t>course </a:t>
            </a:r>
            <a:r>
              <a:rPr kumimoji="0" lang="en-US" altLang="en-US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b="1"/>
              <a:t>select count </a:t>
            </a:r>
            <a:r>
              <a:rPr kumimoji="0" lang="en-US" altLang="en-US"/>
              <a:t>(*)</a:t>
            </a:r>
            <a:br>
              <a:rPr kumimoji="0" lang="en-US" altLang="en-US"/>
            </a:br>
            <a:r>
              <a:rPr kumimoji="0" lang="en-US" altLang="en-US" b="1"/>
              <a:t>from </a:t>
            </a:r>
            <a:r>
              <a:rPr kumimoji="0" lang="en-US" altLang="en-US" i="1"/>
              <a:t>course</a:t>
            </a:r>
            <a:r>
              <a:rPr kumimoji="0" lang="en-US" altLang="en-US"/>
              <a:t>;</a:t>
            </a:r>
          </a:p>
          <a:p>
            <a:pPr>
              <a:tabLst>
                <a:tab pos="1711325" algn="l"/>
              </a:tabLst>
            </a:pPr>
            <a:endParaRPr kumimoji="0" lang="en-US" altLang="en-US"/>
          </a:p>
          <a:p>
            <a:pPr lvl="1">
              <a:tabLst>
                <a:tab pos="1711325" algn="l"/>
              </a:tabLst>
            </a:pPr>
            <a:endParaRPr kumimoji="0" lang="en-US" altLang="en-US"/>
          </a:p>
          <a:p>
            <a:pPr>
              <a:tabLst>
                <a:tab pos="1711325" algn="l"/>
              </a:tabLst>
            </a:pPr>
            <a:endParaRPr lang="en-US" altLang="en-US"/>
          </a:p>
        </p:txBody>
      </p:sp>
      <p:sp>
        <p:nvSpPr>
          <p:cNvPr id="428036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en-US" sz="1800"/>
              <a:t>   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34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 Functions – Group By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413" y="1160463"/>
            <a:ext cx="8008937" cy="1995487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b="1"/>
              <a:t>select </a:t>
            </a:r>
            <a:r>
              <a:rPr lang="en-US" altLang="en-US" i="1"/>
              <a:t>dept_name</a:t>
            </a:r>
            <a:r>
              <a:rPr lang="en-US" altLang="en-US"/>
              <a:t>, </a:t>
            </a:r>
            <a:r>
              <a:rPr lang="en-US" altLang="en-US" b="1"/>
              <a:t>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b="1"/>
              <a:t>group by </a:t>
            </a:r>
            <a:r>
              <a:rPr lang="en-US" altLang="en-US" i="1"/>
              <a:t>dept_name</a:t>
            </a:r>
            <a:r>
              <a:rPr lang="en-US" altLang="en-US"/>
              <a:t>;</a:t>
            </a:r>
          </a:p>
          <a:p>
            <a:pPr lvl="1">
              <a:tabLst>
                <a:tab pos="625475" algn="l"/>
              </a:tabLst>
            </a:pPr>
            <a:endParaRPr lang="en-US" altLang="en-US"/>
          </a:p>
          <a:p>
            <a:pPr lvl="1">
              <a:tabLst>
                <a:tab pos="625475" algn="l"/>
              </a:tabLst>
            </a:pPr>
            <a:endParaRPr lang="en-US" altLang="en-US"/>
          </a:p>
        </p:txBody>
      </p:sp>
      <p:pic>
        <p:nvPicPr>
          <p:cNvPr id="430084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571750"/>
            <a:ext cx="4056062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085" name="Picture 5" descr="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5" y="3122613"/>
            <a:ext cx="2411413" cy="26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086" name="Text Box 6"/>
          <p:cNvSpPr txBox="1">
            <a:spLocks noChangeArrowheads="1"/>
          </p:cNvSpPr>
          <p:nvPr/>
        </p:nvSpPr>
        <p:spPr bwMode="auto">
          <a:xfrm>
            <a:off x="7129463" y="3228975"/>
            <a:ext cx="882650" cy="212725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1400" i="1"/>
              <a:t>avg_salary</a:t>
            </a:r>
          </a:p>
        </p:txBody>
      </p:sp>
    </p:spTree>
    <p:extLst>
      <p:ext uri="{BB962C8B-B14F-4D97-AF65-F5344CB8AC3E}">
        <p14:creationId xmlns:p14="http://schemas.microsoft.com/office/powerpoint/2010/main" val="425440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Aggregation (Cont.)</a:t>
            </a:r>
          </a:p>
        </p:txBody>
      </p:sp>
      <p:sp>
        <p:nvSpPr>
          <p:cNvPr id="432131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Attributes in </a:t>
            </a:r>
            <a:r>
              <a:rPr lang="en-US" altLang="en-US" b="1"/>
              <a:t>select </a:t>
            </a:r>
            <a:r>
              <a:rPr lang="en-US" altLang="en-US"/>
              <a:t>clause outside of aggregate functions must appear in </a:t>
            </a:r>
            <a:r>
              <a:rPr lang="en-US" altLang="en-US" b="1"/>
              <a:t>group by</a:t>
            </a:r>
            <a:r>
              <a:rPr lang="en-US" altLang="en-US"/>
              <a:t> list</a:t>
            </a:r>
          </a:p>
          <a:p>
            <a:pPr lvl="1"/>
            <a:r>
              <a:rPr lang="en-US" altLang="en-US"/>
              <a:t>/* erroneous query */</a:t>
            </a:r>
            <a:br>
              <a:rPr lang="en-US" altLang="en-US"/>
            </a:br>
            <a:r>
              <a:rPr lang="en-US" altLang="en-US" b="1"/>
              <a:t>select </a:t>
            </a:r>
            <a:r>
              <a:rPr lang="en-US" altLang="en-US" i="1"/>
              <a:t>dept_name</a:t>
            </a:r>
            <a:r>
              <a:rPr lang="en-US" altLang="en-US"/>
              <a:t>, </a:t>
            </a:r>
            <a:r>
              <a:rPr lang="en-US" altLang="en-US" i="1"/>
              <a:t>ID</a:t>
            </a:r>
            <a:r>
              <a:rPr lang="en-US" altLang="en-US"/>
              <a:t>, </a:t>
            </a:r>
            <a:r>
              <a:rPr lang="en-US" altLang="en-US" b="1"/>
              <a:t>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b="1"/>
              <a:t>group by </a:t>
            </a:r>
            <a:r>
              <a:rPr lang="en-US" altLang="en-US" i="1"/>
              <a:t>dept_name</a:t>
            </a:r>
            <a:r>
              <a:rPr lang="en-US" altLang="en-US"/>
              <a:t>;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38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33338"/>
            <a:ext cx="8077200" cy="609600"/>
          </a:xfrm>
        </p:spPr>
        <p:txBody>
          <a:bodyPr/>
          <a:lstStyle/>
          <a:p>
            <a:r>
              <a:rPr lang="en-US" altLang="en-US"/>
              <a:t>Aggregate Functions – Having Clause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193800"/>
            <a:ext cx="7661275" cy="773113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/>
              <a:t>Find the names and average salaries of all departments whose average salary is greater than 42000</a:t>
            </a:r>
          </a:p>
        </p:txBody>
      </p:sp>
      <p:sp>
        <p:nvSpPr>
          <p:cNvPr id="433156" name="Text Box 4"/>
          <p:cNvSpPr txBox="1">
            <a:spLocks noChangeArrowheads="1"/>
          </p:cNvSpPr>
          <p:nvPr/>
        </p:nvSpPr>
        <p:spPr bwMode="auto">
          <a:xfrm>
            <a:off x="658813" y="3567113"/>
            <a:ext cx="78422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1800">
                <a:solidFill>
                  <a:schemeClr val="tx2"/>
                </a:solidFill>
              </a:rPr>
              <a:t>       </a:t>
            </a:r>
            <a:r>
              <a:rPr kumimoji="1" lang="en-US" altLang="en-US" sz="1800"/>
              <a:t>Note:  predicates in the </a:t>
            </a:r>
            <a:r>
              <a:rPr kumimoji="1" lang="en-US" altLang="en-US" sz="1800" b="1"/>
              <a:t>having</a:t>
            </a:r>
            <a:r>
              <a:rPr kumimoji="1" lang="en-US" altLang="en-US" sz="1800"/>
              <a:t> clause are applied after the </a:t>
            </a:r>
            <a:br>
              <a:rPr kumimoji="1" lang="en-US" altLang="en-US" sz="1800"/>
            </a:br>
            <a:r>
              <a:rPr kumimoji="1" lang="en-US" altLang="en-US" sz="1800"/>
              <a:t>                 formation of groups whereas predicates in the </a:t>
            </a:r>
            <a:r>
              <a:rPr kumimoji="1" lang="en-US" altLang="en-US" sz="1800" b="1"/>
              <a:t>where</a:t>
            </a:r>
            <a:r>
              <a:rPr kumimoji="1" lang="en-US" altLang="en-US" sz="1800"/>
              <a:t> </a:t>
            </a:r>
            <a:br>
              <a:rPr kumimoji="1" lang="en-US" altLang="en-US" sz="1800"/>
            </a:br>
            <a:r>
              <a:rPr kumimoji="1" lang="en-US" altLang="en-US" sz="1800"/>
              <a:t>                 clause are applied before forming groups</a:t>
            </a:r>
          </a:p>
          <a:p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433157" name="Text Box 5"/>
          <p:cNvSpPr txBox="1">
            <a:spLocks noChangeArrowheads="1"/>
          </p:cNvSpPr>
          <p:nvPr/>
        </p:nvSpPr>
        <p:spPr bwMode="auto">
          <a:xfrm>
            <a:off x="1677988" y="2114550"/>
            <a:ext cx="586105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select </a:t>
            </a:r>
            <a:r>
              <a:rPr lang="en-US" altLang="en-US" i="1"/>
              <a:t>dept_name</a:t>
            </a:r>
            <a:r>
              <a:rPr lang="en-US" altLang="en-US"/>
              <a:t>, </a:t>
            </a:r>
            <a:r>
              <a:rPr lang="en-US" altLang="en-US" b="1"/>
              <a:t>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r>
              <a:rPr lang="en-US" altLang="en-US" b="1"/>
              <a:t>group by </a:t>
            </a:r>
            <a:r>
              <a:rPr lang="en-US" altLang="en-US" i="1"/>
              <a:t>dept_name</a:t>
            </a:r>
          </a:p>
          <a:p>
            <a:r>
              <a:rPr lang="en-US" altLang="en-US" b="1"/>
              <a:t>having 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val="139084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6" grpId="0" autoUpdateAnimBg="0"/>
      <p:bldP spid="43315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Null Values and Aggregates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0663" cy="4667250"/>
          </a:xfrm>
        </p:spPr>
        <p:txBody>
          <a:bodyPr/>
          <a:lstStyle/>
          <a:p>
            <a:pPr>
              <a:tabLst>
                <a:tab pos="1830388" algn="l"/>
                <a:tab pos="2232025" algn="l"/>
              </a:tabLst>
            </a:pPr>
            <a:r>
              <a:rPr lang="en-US" altLang="en-US"/>
              <a:t>Total all salaries</a:t>
            </a:r>
          </a:p>
          <a:p>
            <a:pPr>
              <a:buFont typeface="Monotype Sorts" charset="2"/>
              <a:buNone/>
              <a:tabLst>
                <a:tab pos="1830388" algn="l"/>
                <a:tab pos="2232025" algn="l"/>
              </a:tabLst>
            </a:pPr>
            <a:r>
              <a:rPr lang="en-US" altLang="en-US"/>
              <a:t>		</a:t>
            </a:r>
            <a:r>
              <a:rPr lang="en-US" altLang="en-US" b="1"/>
              <a:t>select sum</a:t>
            </a:r>
            <a:r>
              <a:rPr lang="en-US" altLang="en-US"/>
              <a:t> (</a:t>
            </a:r>
            <a:r>
              <a:rPr lang="en-US" altLang="en-US" i="1"/>
              <a:t>salary </a:t>
            </a:r>
            <a:r>
              <a:rPr lang="en-US" altLang="en-US"/>
              <a:t>)</a:t>
            </a:r>
            <a:r>
              <a:rPr lang="en-US" altLang="en-US" i="1"/>
              <a:t/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</a:t>
            </a:r>
            <a:r>
              <a:rPr lang="en-US" altLang="en-US" i="1"/>
              <a:t> instructor</a:t>
            </a:r>
            <a:endParaRPr lang="en-US" altLang="en-US"/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en-US"/>
              <a:t>Above statement ignores null amounts</a:t>
            </a:r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en-US"/>
              <a:t>Result is </a:t>
            </a:r>
            <a:r>
              <a:rPr lang="en-US" altLang="en-US" i="1"/>
              <a:t>null</a:t>
            </a:r>
            <a:r>
              <a:rPr lang="en-US" altLang="en-US"/>
              <a:t> if there is no non-null amount</a:t>
            </a:r>
          </a:p>
          <a:p>
            <a:pPr>
              <a:tabLst>
                <a:tab pos="1830388" algn="l"/>
                <a:tab pos="2232025" algn="l"/>
              </a:tabLst>
            </a:pPr>
            <a:r>
              <a:rPr lang="en-US" altLang="en-US"/>
              <a:t>All aggregate operations except </a:t>
            </a:r>
            <a:r>
              <a:rPr lang="en-US" altLang="en-US" b="1"/>
              <a:t>count(*)</a:t>
            </a:r>
            <a:r>
              <a:rPr lang="en-US" altLang="en-US"/>
              <a:t> ignore tuples with null values on the aggregated attributes</a:t>
            </a:r>
          </a:p>
          <a:p>
            <a:pPr>
              <a:tabLst>
                <a:tab pos="1830388" algn="l"/>
                <a:tab pos="2232025" algn="l"/>
              </a:tabLst>
            </a:pPr>
            <a:r>
              <a:rPr lang="en-US" altLang="en-US"/>
              <a:t>What if collection has only null values?</a:t>
            </a:r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en-US"/>
              <a:t>count returns 0</a:t>
            </a:r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en-US"/>
              <a:t>all other aggregates return null</a:t>
            </a:r>
          </a:p>
        </p:txBody>
      </p:sp>
    </p:spTree>
    <p:extLst>
      <p:ext uri="{BB962C8B-B14F-4D97-AF65-F5344CB8AC3E}">
        <p14:creationId xmlns:p14="http://schemas.microsoft.com/office/powerpoint/2010/main" val="39408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9525"/>
            <a:ext cx="8077200" cy="609600"/>
          </a:xfrm>
        </p:spPr>
        <p:txBody>
          <a:bodyPr/>
          <a:lstStyle/>
          <a:p>
            <a:r>
              <a:rPr lang="en-US" altLang="en-US"/>
              <a:t>Set Comparison</a:t>
            </a: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61275" cy="76676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/>
              <a:t>Find names of instructors with salary greater than that of some (at least one) instructor in the Biology department.</a:t>
            </a:r>
          </a:p>
        </p:txBody>
      </p:sp>
      <p:sp>
        <p:nvSpPr>
          <p:cNvPr id="443396" name="Text Box 4"/>
          <p:cNvSpPr txBox="1">
            <a:spLocks noChangeArrowheads="1"/>
          </p:cNvSpPr>
          <p:nvPr/>
        </p:nvSpPr>
        <p:spPr bwMode="auto">
          <a:xfrm>
            <a:off x="739775" y="3411538"/>
            <a:ext cx="7235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 Same query using &gt; </a:t>
            </a:r>
            <a:r>
              <a:rPr kumimoji="1" lang="en-US" altLang="en-US" sz="1800" b="1"/>
              <a:t>some</a:t>
            </a:r>
            <a:r>
              <a:rPr kumimoji="1" lang="en-US" altLang="en-US" sz="1800"/>
              <a:t> clause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443397" name="Text Box 5"/>
          <p:cNvSpPr txBox="1">
            <a:spLocks noChangeArrowheads="1"/>
          </p:cNvSpPr>
          <p:nvPr/>
        </p:nvSpPr>
        <p:spPr bwMode="auto">
          <a:xfrm>
            <a:off x="1824038" y="3995738"/>
            <a:ext cx="3440112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select </a:t>
            </a:r>
            <a:r>
              <a:rPr lang="en-US" altLang="en-US" i="1"/>
              <a:t>name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salary </a:t>
            </a:r>
            <a:r>
              <a:rPr lang="en-US" altLang="en-US"/>
              <a:t>&gt; </a:t>
            </a:r>
            <a:r>
              <a:rPr lang="en-US" altLang="en-US" b="1"/>
              <a:t>some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salary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dept name </a:t>
            </a:r>
            <a:r>
              <a:rPr lang="en-US" altLang="en-US"/>
              <a:t>= ’Biology’);</a:t>
            </a:r>
          </a:p>
        </p:txBody>
      </p:sp>
      <p:sp>
        <p:nvSpPr>
          <p:cNvPr id="443398" name="Text Box 6"/>
          <p:cNvSpPr txBox="1">
            <a:spLocks noChangeArrowheads="1"/>
          </p:cNvSpPr>
          <p:nvPr/>
        </p:nvSpPr>
        <p:spPr bwMode="auto">
          <a:xfrm>
            <a:off x="1952625" y="1957388"/>
            <a:ext cx="527526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select distinct </a:t>
            </a:r>
            <a:r>
              <a:rPr lang="en-US" altLang="en-US" i="1"/>
              <a:t>T</a:t>
            </a:r>
            <a:r>
              <a:rPr lang="en-US" altLang="en-US"/>
              <a:t>.</a:t>
            </a:r>
            <a:r>
              <a:rPr lang="en-US" altLang="en-US" i="1"/>
              <a:t>name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as </a:t>
            </a:r>
            <a:r>
              <a:rPr lang="en-US" altLang="en-US" i="1"/>
              <a:t>T</a:t>
            </a:r>
            <a:r>
              <a:rPr lang="en-US" altLang="en-US"/>
              <a:t>, </a:t>
            </a:r>
            <a:r>
              <a:rPr lang="en-US" altLang="en-US" i="1"/>
              <a:t>instructor </a:t>
            </a:r>
            <a:r>
              <a:rPr lang="en-US" altLang="en-US" b="1"/>
              <a:t>as </a:t>
            </a:r>
            <a:r>
              <a:rPr lang="en-US" altLang="en-US" i="1"/>
              <a:t>S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T.salary </a:t>
            </a:r>
            <a:r>
              <a:rPr lang="en-US" altLang="en-US"/>
              <a:t>&gt; </a:t>
            </a:r>
            <a:r>
              <a:rPr lang="en-US" altLang="en-US" i="1"/>
              <a:t>S.salary </a:t>
            </a:r>
            <a:r>
              <a:rPr lang="en-US" altLang="en-US" b="1"/>
              <a:t>and </a:t>
            </a:r>
            <a:r>
              <a:rPr lang="en-US" altLang="en-US" i="1"/>
              <a:t>S.dept name </a:t>
            </a:r>
            <a:r>
              <a:rPr lang="en-US" altLang="en-US"/>
              <a:t>= ’Biology’;</a:t>
            </a:r>
          </a:p>
        </p:txBody>
      </p:sp>
    </p:spTree>
    <p:extLst>
      <p:ext uri="{BB962C8B-B14F-4D97-AF65-F5344CB8AC3E}">
        <p14:creationId xmlns:p14="http://schemas.microsoft.com/office/powerpoint/2010/main" val="231627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7" grpId="0" autoUpdateAnimBg="0"/>
      <p:bldP spid="44339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33338"/>
            <a:ext cx="8077200" cy="609600"/>
          </a:xfrm>
        </p:spPr>
        <p:txBody>
          <a:bodyPr/>
          <a:lstStyle/>
          <a:p>
            <a:r>
              <a:rPr lang="en-US" altLang="en-US"/>
              <a:t>Modification of the Database – Deletion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747000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/>
              <a:t>		</a:t>
            </a:r>
            <a:r>
              <a:rPr lang="en-US" altLang="en-US" b="1"/>
              <a:t>delete from </a:t>
            </a:r>
            <a:r>
              <a:rPr lang="en-US" altLang="en-US" i="1"/>
              <a:t>instructor</a:t>
            </a:r>
            <a:r>
              <a:rPr lang="en-US" altLang="en-US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/>
              <a:t>Delete all instructors from the Finance department</a:t>
            </a:r>
            <a:br>
              <a:rPr lang="en-US" altLang="en-US"/>
            </a:br>
            <a:r>
              <a:rPr lang="en-US" altLang="en-US"/>
              <a:t>                     </a:t>
            </a:r>
            <a:r>
              <a:rPr lang="en-US" altLang="en-US" b="1"/>
              <a:t>delete 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                     </a:t>
            </a:r>
            <a:r>
              <a:rPr lang="en-US" altLang="en-US" b="1"/>
              <a:t>where </a:t>
            </a:r>
            <a:r>
              <a:rPr lang="en-US" altLang="en-US" i="1"/>
              <a:t>dept_name</a:t>
            </a:r>
            <a:r>
              <a:rPr lang="en-US" altLang="en-US"/>
              <a:t>= ’Finance’;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/>
              <a:t>Delete all tuples in the </a:t>
            </a:r>
            <a:r>
              <a:rPr lang="en-US" altLang="en-US" i="1"/>
              <a:t>instructor </a:t>
            </a:r>
            <a:r>
              <a:rPr lang="en-US" altLang="en-US"/>
              <a:t>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b="1"/>
              <a:t>		delete 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                     </a:t>
            </a:r>
            <a:r>
              <a:rPr lang="en-US" altLang="en-US" b="1"/>
              <a:t>where </a:t>
            </a:r>
            <a:r>
              <a:rPr lang="en-US" altLang="en-US" i="1"/>
              <a:t>dept name </a:t>
            </a:r>
            <a:r>
              <a:rPr lang="en-US" altLang="en-US" b="1"/>
              <a:t>in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dept name</a:t>
            </a:r>
            <a:br>
              <a:rPr lang="en-US" altLang="en-US" i="1"/>
            </a:br>
            <a:r>
              <a:rPr lang="en-US" altLang="en-US" i="1"/>
              <a:t>                                                        </a:t>
            </a:r>
            <a:r>
              <a:rPr lang="en-US" altLang="en-US" b="1"/>
              <a:t>from </a:t>
            </a:r>
            <a:r>
              <a:rPr lang="en-US" altLang="en-US" i="1"/>
              <a:t>department</a:t>
            </a:r>
            <a:br>
              <a:rPr lang="en-US" altLang="en-US" i="1"/>
            </a:br>
            <a:r>
              <a:rPr lang="en-US" altLang="en-US" i="1"/>
              <a:t>                                                        </a:t>
            </a:r>
            <a:r>
              <a:rPr lang="en-US" altLang="en-US" b="1"/>
              <a:t>where </a:t>
            </a:r>
            <a:r>
              <a:rPr lang="en-US" altLang="en-US" i="1"/>
              <a:t>building </a:t>
            </a:r>
            <a:r>
              <a:rPr lang="en-US" altLang="en-US"/>
              <a:t>= ’Watson’);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33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Query</a:t>
            </a:r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109663"/>
            <a:ext cx="7661275" cy="1268412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/>
              <a:t>Delete all instructors whose salary is less than the average salary of instructors</a:t>
            </a:r>
          </a:p>
        </p:txBody>
      </p:sp>
      <p:sp>
        <p:nvSpPr>
          <p:cNvPr id="468996" name="Text Box 4"/>
          <p:cNvSpPr txBox="1">
            <a:spLocks noChangeArrowheads="1"/>
          </p:cNvSpPr>
          <p:nvPr/>
        </p:nvSpPr>
        <p:spPr bwMode="auto">
          <a:xfrm>
            <a:off x="920750" y="2160588"/>
            <a:ext cx="7415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en-US" sz="2000" b="1"/>
              <a:t>delete from </a:t>
            </a:r>
            <a:r>
              <a:rPr kumimoji="1" lang="en-US" altLang="en-US" sz="2000" i="1"/>
              <a:t>instructor</a:t>
            </a:r>
          </a:p>
          <a:p>
            <a:r>
              <a:rPr kumimoji="1" lang="en-US" altLang="en-US" sz="2000" b="1"/>
              <a:t>where </a:t>
            </a:r>
            <a:r>
              <a:rPr kumimoji="1" lang="en-US" altLang="en-US" sz="2000" i="1"/>
              <a:t>salary</a:t>
            </a:r>
            <a:r>
              <a:rPr kumimoji="1" lang="en-US" altLang="en-US" sz="2000"/>
              <a:t>&lt; (</a:t>
            </a:r>
            <a:r>
              <a:rPr kumimoji="1" lang="en-US" altLang="en-US" sz="2000" b="1"/>
              <a:t>select avg </a:t>
            </a:r>
            <a:r>
              <a:rPr kumimoji="1" lang="en-US" altLang="en-US" sz="2000"/>
              <a:t>(</a:t>
            </a:r>
            <a:r>
              <a:rPr kumimoji="1" lang="en-US" altLang="en-US" sz="2000" i="1"/>
              <a:t>salary</a:t>
            </a:r>
            <a:r>
              <a:rPr kumimoji="1" lang="en-US" altLang="en-US" sz="2000"/>
              <a:t>) </a:t>
            </a:r>
            <a:r>
              <a:rPr kumimoji="1" lang="en-US" altLang="en-US" sz="2000" b="1"/>
              <a:t>from </a:t>
            </a:r>
            <a:r>
              <a:rPr kumimoji="1" lang="en-US" altLang="en-US" sz="2000" i="1"/>
              <a:t>instructor</a:t>
            </a:r>
            <a:r>
              <a:rPr kumimoji="1" lang="en-US" altLang="en-US" sz="2000"/>
              <a:t>);</a:t>
            </a:r>
          </a:p>
        </p:txBody>
      </p:sp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676275" y="3521075"/>
            <a:ext cx="8140700" cy="203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93750" indent="-336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39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35000"/>
              </a:spcBef>
              <a:buClr>
                <a:schemeClr val="bg2"/>
              </a:buClr>
              <a:buSzPct val="80000"/>
              <a:buFont typeface="Monotype Sorts" charset="2"/>
              <a:buChar char="l"/>
            </a:pPr>
            <a:r>
              <a:rPr kumimoji="1" lang="en-US" altLang="en-US" sz="1800">
                <a:latin typeface="Helvetica" panose="020B0504020202030204" pitchFamily="34" charset="0"/>
              </a:rPr>
              <a:t>Problem:  as we delete tuples from deposit, the average salary changes</a:t>
            </a:r>
          </a:p>
          <a:p>
            <a:pPr lvl="1">
              <a:spcBef>
                <a:spcPct val="35000"/>
              </a:spcBef>
              <a:buClr>
                <a:schemeClr val="bg2"/>
              </a:buClr>
              <a:buSzPct val="80000"/>
              <a:buFont typeface="Monotype Sorts" charset="2"/>
              <a:buChar char="l"/>
            </a:pPr>
            <a:r>
              <a:rPr kumimoji="1" lang="en-US" altLang="en-US" sz="1800">
                <a:latin typeface="Helvetica" panose="020B0504020202030204" pitchFamily="34" charset="0"/>
              </a:rPr>
              <a:t>Solution used in SQL: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charset="2"/>
              <a:buNone/>
            </a:pPr>
            <a:r>
              <a:rPr kumimoji="1" lang="en-US" altLang="en-US" sz="1800">
                <a:latin typeface="Helvetica" panose="020B0504020202030204" pitchFamily="34" charset="0"/>
              </a:rPr>
              <a:t>       1.   First, compute </a:t>
            </a:r>
            <a:r>
              <a:rPr kumimoji="1" lang="en-US" altLang="en-US" sz="1800" b="1">
                <a:latin typeface="Helvetica" panose="020B0504020202030204" pitchFamily="34" charset="0"/>
              </a:rPr>
              <a:t>avg</a:t>
            </a:r>
            <a:r>
              <a:rPr kumimoji="1" lang="en-US" altLang="en-US" sz="1800">
                <a:latin typeface="Helvetica" panose="020B0504020202030204" pitchFamily="34" charset="0"/>
              </a:rPr>
              <a:t> salary and find all tuples to delete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charset="2"/>
              <a:buNone/>
            </a:pPr>
            <a:r>
              <a:rPr kumimoji="1" lang="en-US" altLang="en-US" sz="1800">
                <a:latin typeface="Helvetica" panose="020B0504020202030204" pitchFamily="34" charset="0"/>
              </a:rPr>
              <a:t>       2.   Next, delete all tuples found above (without recomputing </a:t>
            </a:r>
            <a:r>
              <a:rPr kumimoji="1" lang="en-US" altLang="en-US" sz="1800" b="1">
                <a:latin typeface="Helvetica" panose="020B0504020202030204" pitchFamily="34" charset="0"/>
              </a:rPr>
              <a:t>avg</a:t>
            </a:r>
            <a:r>
              <a:rPr kumimoji="1" lang="en-US" altLang="en-US" sz="1800">
                <a:latin typeface="Helvetica" panose="020B0504020202030204" pitchFamily="34" charset="0"/>
              </a:rPr>
              <a:t> or   </a:t>
            </a:r>
            <a:br>
              <a:rPr kumimoji="1" lang="en-US" altLang="en-US" sz="1800">
                <a:latin typeface="Helvetica" panose="020B0504020202030204" pitchFamily="34" charset="0"/>
              </a:rPr>
            </a:br>
            <a:r>
              <a:rPr kumimoji="1" lang="en-US" altLang="en-US" sz="1800">
                <a:latin typeface="Helvetica" panose="020B0504020202030204" pitchFamily="34" charset="0"/>
              </a:rPr>
              <a:t>       retesting the tuples)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91845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6" grpId="0" autoUpdateAnimBg="0"/>
      <p:bldP spid="46899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177800"/>
            <a:ext cx="8077200" cy="457200"/>
          </a:xfrm>
        </p:spPr>
        <p:txBody>
          <a:bodyPr/>
          <a:lstStyle/>
          <a:p>
            <a:r>
              <a:rPr lang="en-US" altLang="en-US"/>
              <a:t>Modification of the Database – Insertion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/>
              <a:t>Add a new tuple to </a:t>
            </a:r>
            <a:r>
              <a:rPr lang="en-US" altLang="en-US" i="1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b="1"/>
              <a:t>	      insert into </a:t>
            </a:r>
            <a:r>
              <a:rPr lang="en-US" altLang="en-US" i="1"/>
              <a:t>course</a:t>
            </a:r>
            <a:br>
              <a:rPr lang="en-US" altLang="en-US" i="1"/>
            </a:br>
            <a:r>
              <a:rPr lang="en-US" altLang="en-US" i="1"/>
              <a:t>             </a:t>
            </a:r>
            <a:r>
              <a:rPr lang="en-US" altLang="en-US" b="1"/>
              <a:t>values </a:t>
            </a:r>
            <a:r>
              <a:rPr lang="en-US" altLang="en-US"/>
              <a:t>(’CS-437’, ’Database Systems’, ’Comp. Sci.’,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/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/>
              <a:t>or equivalently</a:t>
            </a:r>
            <a:br>
              <a:rPr lang="en-US" altLang="en-US"/>
            </a:br>
            <a:r>
              <a:rPr lang="en-US" altLang="en-US"/>
              <a:t>      </a:t>
            </a:r>
            <a:r>
              <a:rPr lang="en-US" altLang="en-US" b="1"/>
              <a:t>insert into </a:t>
            </a:r>
            <a:r>
              <a:rPr lang="en-US" altLang="en-US" i="1"/>
              <a:t>course </a:t>
            </a:r>
            <a:r>
              <a:rPr lang="en-US" altLang="en-US"/>
              <a:t>(</a:t>
            </a:r>
            <a:r>
              <a:rPr lang="en-US" altLang="en-US" i="1"/>
              <a:t>course_id</a:t>
            </a:r>
            <a:r>
              <a:rPr lang="en-US" altLang="en-US"/>
              <a:t>, </a:t>
            </a:r>
            <a:r>
              <a:rPr lang="en-US" altLang="en-US" i="1"/>
              <a:t>title</a:t>
            </a:r>
            <a:r>
              <a:rPr lang="en-US" altLang="en-US"/>
              <a:t>, </a:t>
            </a:r>
            <a:r>
              <a:rPr lang="en-US" altLang="en-US" i="1"/>
              <a:t>dept_name</a:t>
            </a:r>
            <a:r>
              <a:rPr lang="en-US" altLang="en-US"/>
              <a:t>, </a:t>
            </a:r>
            <a:r>
              <a:rPr lang="en-US" altLang="en-US" i="1"/>
              <a:t>credits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/>
              <a:t>             </a:t>
            </a:r>
            <a:r>
              <a:rPr lang="en-US" altLang="en-US" b="1"/>
              <a:t>values </a:t>
            </a:r>
            <a:r>
              <a:rPr lang="en-US" altLang="en-US"/>
              <a:t>(’CS-437’, ’Database Systems’, ’Comp. Sci.’,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/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/>
              <a:t>Add a new tuple to </a:t>
            </a:r>
            <a:r>
              <a:rPr lang="en-US" altLang="en-US" i="1"/>
              <a:t>student </a:t>
            </a:r>
            <a:r>
              <a:rPr lang="en-US" altLang="en-US"/>
              <a:t>with </a:t>
            </a:r>
            <a:r>
              <a:rPr lang="en-US" altLang="en-US" i="1"/>
              <a:t>tot_creds </a:t>
            </a:r>
            <a:r>
              <a:rPr lang="en-US" altLang="en-US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b="1"/>
              <a:t>	      insert into </a:t>
            </a:r>
            <a:r>
              <a:rPr lang="en-US" altLang="en-US" i="1"/>
              <a:t>student</a:t>
            </a:r>
            <a:br>
              <a:rPr lang="en-US" altLang="en-US" i="1"/>
            </a:br>
            <a:r>
              <a:rPr lang="en-US" altLang="en-US" i="1"/>
              <a:t>             </a:t>
            </a:r>
            <a:r>
              <a:rPr lang="en-US" altLang="en-US" b="1"/>
              <a:t>values </a:t>
            </a:r>
            <a:r>
              <a:rPr lang="en-US" altLang="en-US"/>
              <a:t>(’3003’, ’Green’, ’Finance’, </a:t>
            </a:r>
            <a:r>
              <a:rPr lang="en-US" altLang="en-US" i="1"/>
              <a:t>null</a:t>
            </a:r>
            <a:r>
              <a:rPr lang="en-US" altLang="en-US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7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03200"/>
            <a:ext cx="8058150" cy="457200"/>
          </a:xfrm>
        </p:spPr>
        <p:txBody>
          <a:bodyPr/>
          <a:lstStyle/>
          <a:p>
            <a:r>
              <a:rPr lang="en-US" altLang="en-US"/>
              <a:t>Modification of the Database – Insertion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8115300" cy="5270500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/>
              <a:t>Add all instructors to the </a:t>
            </a:r>
            <a:r>
              <a:rPr lang="en-US" altLang="en-US" i="1"/>
              <a:t>student</a:t>
            </a:r>
            <a:r>
              <a:rPr lang="en-US" altLang="en-US"/>
              <a:t> relation with tot_creds set to 0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/>
              <a:t>	    </a:t>
            </a:r>
            <a:r>
              <a:rPr lang="en-US" altLang="en-US" b="1"/>
              <a:t>insert into </a:t>
            </a:r>
            <a:r>
              <a:rPr lang="en-US" altLang="en-US" i="1"/>
              <a:t>student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select </a:t>
            </a:r>
            <a:r>
              <a:rPr lang="en-US" altLang="en-US" i="1"/>
              <a:t>ID, name, dept_name, 0</a:t>
            </a:r>
            <a:br>
              <a:rPr lang="en-US" altLang="en-US" i="1"/>
            </a:br>
            <a:r>
              <a:rPr lang="en-US" altLang="en-US" i="1"/>
              <a:t>         </a:t>
            </a:r>
            <a:r>
              <a:rPr lang="en-US" altLang="en-US" b="1"/>
              <a:t>from </a:t>
            </a:r>
            <a:r>
              <a:rPr lang="en-US" altLang="en-US" i="1"/>
              <a:t>  instructor</a:t>
            </a:r>
          </a:p>
          <a:p>
            <a:pPr>
              <a:tabLst>
                <a:tab pos="908050" algn="l"/>
              </a:tabLst>
            </a:pPr>
            <a:r>
              <a:rPr lang="en-US" altLang="en-US"/>
              <a:t>The </a:t>
            </a:r>
            <a:r>
              <a:rPr lang="en-US" altLang="en-US" b="1"/>
              <a:t>select from where</a:t>
            </a:r>
            <a:r>
              <a:rPr lang="en-US" altLang="en-US"/>
              <a:t> statement is evaluated fully before any of its results are inserted into the relation (otherwise queries like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insert into</a:t>
            </a:r>
            <a:r>
              <a:rPr lang="en-US" altLang="en-US"/>
              <a:t> </a:t>
            </a:r>
            <a:r>
              <a:rPr lang="en-US" altLang="en-US" i="1"/>
              <a:t>table</a:t>
            </a:r>
            <a:r>
              <a:rPr lang="en-US" altLang="en-US"/>
              <a:t>1 </a:t>
            </a:r>
            <a:r>
              <a:rPr lang="en-US" altLang="en-US" b="1"/>
              <a:t>select</a:t>
            </a:r>
            <a:r>
              <a:rPr lang="en-US" altLang="en-US"/>
              <a:t> * </a:t>
            </a:r>
            <a:r>
              <a:rPr lang="en-US" altLang="en-US" b="1"/>
              <a:t>from</a:t>
            </a:r>
            <a:r>
              <a:rPr lang="en-US" altLang="en-US"/>
              <a:t> </a:t>
            </a:r>
            <a:r>
              <a:rPr lang="en-US" altLang="en-US" i="1"/>
              <a:t>table</a:t>
            </a:r>
            <a:r>
              <a:rPr lang="en-US" altLang="en-US"/>
              <a:t>1</a:t>
            </a:r>
            <a:br>
              <a:rPr lang="en-US" altLang="en-US"/>
            </a:br>
            <a:r>
              <a:rPr lang="en-US" altLang="en-US"/>
              <a:t>would cause problems)</a:t>
            </a:r>
          </a:p>
        </p:txBody>
      </p:sp>
    </p:spTree>
    <p:extLst>
      <p:ext uri="{BB962C8B-B14F-4D97-AF65-F5344CB8AC3E}">
        <p14:creationId xmlns:p14="http://schemas.microsoft.com/office/powerpoint/2010/main" val="128259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38100"/>
            <a:ext cx="8077200" cy="609600"/>
          </a:xfrm>
        </p:spPr>
        <p:txBody>
          <a:bodyPr/>
          <a:lstStyle/>
          <a:p>
            <a:r>
              <a:rPr lang="en-US" altLang="en-US"/>
              <a:t>Modification of the Database – Updates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/>
              <a:t>Increase salaries of instructors whose salary is over $100,000 by 3%, and all others receive a 5% raise</a:t>
            </a:r>
          </a:p>
          <a:p>
            <a:pPr lvl="1">
              <a:tabLst>
                <a:tab pos="2336800" algn="l"/>
              </a:tabLst>
            </a:pPr>
            <a:r>
              <a:rPr lang="en-US" altLang="en-US"/>
              <a:t>Write two </a:t>
            </a:r>
            <a:r>
              <a:rPr lang="en-US" altLang="en-US" b="1"/>
              <a:t>update </a:t>
            </a:r>
            <a:r>
              <a:rPr lang="en-US" altLang="en-US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/>
              <a:t>	           </a:t>
            </a:r>
            <a:r>
              <a:rPr lang="en-US" altLang="en-US" b="1">
                <a:sym typeface="Symbol" panose="05050102010706020507" pitchFamily="18" charset="2"/>
              </a:rPr>
              <a:t>update </a:t>
            </a:r>
            <a:r>
              <a:rPr lang="en-US" altLang="en-US" i="1">
                <a:sym typeface="Symbol" panose="05050102010706020507" pitchFamily="18" charset="2"/>
              </a:rPr>
              <a:t>instructor</a:t>
            </a:r>
            <a:br>
              <a:rPr lang="en-US" altLang="en-US" i="1">
                <a:sym typeface="Symbol" panose="05050102010706020507" pitchFamily="18" charset="2"/>
              </a:rPr>
            </a:br>
            <a:r>
              <a:rPr lang="en-US" altLang="en-US" i="1">
                <a:sym typeface="Symbol" panose="05050102010706020507" pitchFamily="18" charset="2"/>
              </a:rPr>
              <a:t>               </a:t>
            </a:r>
            <a:r>
              <a:rPr lang="en-US" altLang="en-US" b="1">
                <a:sym typeface="Symbol" panose="05050102010706020507" pitchFamily="18" charset="2"/>
              </a:rPr>
              <a:t>set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=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* 1.03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               </a:t>
            </a:r>
            <a:r>
              <a:rPr lang="en-US" altLang="en-US" b="1">
                <a:sym typeface="Symbol" panose="05050102010706020507" pitchFamily="18" charset="2"/>
              </a:rPr>
              <a:t>where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&gt; 100000;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           </a:t>
            </a:r>
            <a:r>
              <a:rPr lang="en-US" altLang="en-US" b="1">
                <a:sym typeface="Symbol" panose="05050102010706020507" pitchFamily="18" charset="2"/>
              </a:rPr>
              <a:t>update </a:t>
            </a:r>
            <a:r>
              <a:rPr lang="en-US" altLang="en-US" i="1">
                <a:sym typeface="Symbol" panose="05050102010706020507" pitchFamily="18" charset="2"/>
              </a:rPr>
              <a:t>instructor</a:t>
            </a:r>
            <a:br>
              <a:rPr lang="en-US" altLang="en-US" i="1">
                <a:sym typeface="Symbol" panose="05050102010706020507" pitchFamily="18" charset="2"/>
              </a:rPr>
            </a:br>
            <a:r>
              <a:rPr lang="en-US" altLang="en-US" i="1">
                <a:sym typeface="Symbol" panose="05050102010706020507" pitchFamily="18" charset="2"/>
              </a:rPr>
              <a:t>                </a:t>
            </a:r>
            <a:r>
              <a:rPr lang="en-US" altLang="en-US" b="1">
                <a:sym typeface="Symbol" panose="05050102010706020507" pitchFamily="18" charset="2"/>
              </a:rPr>
              <a:t>set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=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* 1.05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                </a:t>
            </a:r>
            <a:r>
              <a:rPr lang="en-US" altLang="en-US" b="1">
                <a:sym typeface="Symbol" panose="05050102010706020507" pitchFamily="18" charset="2"/>
              </a:rPr>
              <a:t>where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>
                <a:sym typeface="Symbol" panose="05050102010706020507" pitchFamily="18" charset="2"/>
              </a:rPr>
              <a:t>Can be done better using the </a:t>
            </a:r>
            <a:r>
              <a:rPr lang="en-US" altLang="en-US" b="1">
                <a:sym typeface="Symbol" panose="05050102010706020507" pitchFamily="18" charset="2"/>
              </a:rPr>
              <a:t>case </a:t>
            </a:r>
            <a:r>
              <a:rPr lang="en-US" altLang="en-US">
                <a:sym typeface="Symbol" panose="05050102010706020507" pitchFamily="18" charset="2"/>
              </a:rPr>
              <a:t>statement (next slide)</a:t>
            </a:r>
          </a:p>
        </p:txBody>
      </p:sp>
    </p:spTree>
    <p:extLst>
      <p:ext uri="{BB962C8B-B14F-4D97-AF65-F5344CB8AC3E}">
        <p14:creationId xmlns:p14="http://schemas.microsoft.com/office/powerpoint/2010/main" val="234012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C46F0D1ED4574597DD8C76D5077450" ma:contentTypeVersion="2" ma:contentTypeDescription="Create a new document." ma:contentTypeScope="" ma:versionID="fe0734169919fed24a381130d7b1432a">
  <xsd:schema xmlns:xsd="http://www.w3.org/2001/XMLSchema" xmlns:xs="http://www.w3.org/2001/XMLSchema" xmlns:p="http://schemas.microsoft.com/office/2006/metadata/properties" xmlns:ns2="8adf3721-8152-42b8-be6d-9fb567c9812f" targetNamespace="http://schemas.microsoft.com/office/2006/metadata/properties" ma:root="true" ma:fieldsID="0b1ade06542edd583ca074ee6b0af62e" ns2:_="">
    <xsd:import namespace="8adf3721-8152-42b8-be6d-9fb567c981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f3721-8152-42b8-be6d-9fb567c981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F84E4B-18FD-452A-AD69-98CAE7EFA4EE}"/>
</file>

<file path=customXml/itemProps2.xml><?xml version="1.0" encoding="utf-8"?>
<ds:datastoreItem xmlns:ds="http://schemas.openxmlformats.org/officeDocument/2006/customXml" ds:itemID="{C2BD7D28-808A-4F79-8C1A-07C244DFCD24}"/>
</file>

<file path=customXml/itemProps3.xml><?xml version="1.0" encoding="utf-8"?>
<ds:datastoreItem xmlns:ds="http://schemas.openxmlformats.org/officeDocument/2006/customXml" ds:itemID="{261C8840-5947-4A65-AD6D-19AE9280A236}"/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19622</TotalTime>
  <Words>1764</Words>
  <Application>Microsoft Office PowerPoint</Application>
  <PresentationFormat>On-screen Show (4:3)</PresentationFormat>
  <Paragraphs>349</Paragraphs>
  <Slides>44</Slides>
  <Notes>36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  <vt:variant>
        <vt:lpstr>Custom Shows</vt:lpstr>
      </vt:variant>
      <vt:variant>
        <vt:i4>1</vt:i4>
      </vt:variant>
    </vt:vector>
  </HeadingPairs>
  <TitlesOfParts>
    <vt:vector size="46" baseType="lpstr">
      <vt:lpstr>2_db-5-grey</vt:lpstr>
      <vt:lpstr>Introduction to SQL</vt:lpstr>
      <vt:lpstr>The Relational Model</vt:lpstr>
      <vt:lpstr>Attribute Types</vt:lpstr>
      <vt:lpstr>Relation Schema and Instance</vt:lpstr>
      <vt:lpstr>Relations are Unordered</vt:lpstr>
      <vt:lpstr>Database</vt:lpstr>
      <vt:lpstr>Keys</vt:lpstr>
      <vt:lpstr>Schema Diagram for University Database</vt:lpstr>
      <vt:lpstr>SQL</vt:lpstr>
      <vt:lpstr>SQL as a language</vt:lpstr>
      <vt:lpstr>Domain Types in SQL</vt:lpstr>
      <vt:lpstr>Basic Query Structure </vt:lpstr>
      <vt:lpstr>The select Clause</vt:lpstr>
      <vt:lpstr>The select Clause (Cont.)</vt:lpstr>
      <vt:lpstr>The select Clause (Cont.)</vt:lpstr>
      <vt:lpstr>The where Clause</vt:lpstr>
      <vt:lpstr>The from Clause</vt:lpstr>
      <vt:lpstr>String Operations</vt:lpstr>
      <vt:lpstr>Ordering the Display of Tuples</vt:lpstr>
      <vt:lpstr>Where Clause Predicates</vt:lpstr>
      <vt:lpstr>Cartesian Product</vt:lpstr>
      <vt:lpstr>Joins</vt:lpstr>
      <vt:lpstr>Natural Join</vt:lpstr>
      <vt:lpstr>Natural Join (Cont.)</vt:lpstr>
      <vt:lpstr>The Rename Operation</vt:lpstr>
      <vt:lpstr>Set Operations</vt:lpstr>
      <vt:lpstr>Set Operations</vt:lpstr>
      <vt:lpstr>Null Values</vt:lpstr>
      <vt:lpstr>Null Values and Three Valued Logic</vt:lpstr>
      <vt:lpstr>Nested Subqueries</vt:lpstr>
      <vt:lpstr>Example Query</vt:lpstr>
      <vt:lpstr>Example Query</vt:lpstr>
      <vt:lpstr>Aggregate Functions</vt:lpstr>
      <vt:lpstr>Aggregate Functions (Cont.)</vt:lpstr>
      <vt:lpstr>Aggregate Functions – Group By</vt:lpstr>
      <vt:lpstr>Aggregation (Cont.)</vt:lpstr>
      <vt:lpstr>Aggregate Functions – Having Clause</vt:lpstr>
      <vt:lpstr>Null Values and Aggregates</vt:lpstr>
      <vt:lpstr>Set Comparison</vt:lpstr>
      <vt:lpstr>Modification of the Database – Deletion</vt:lpstr>
      <vt:lpstr>Example Query</vt:lpstr>
      <vt:lpstr>Modification of the Database – Insertion</vt:lpstr>
      <vt:lpstr>Modification of the Database – Insertion</vt:lpstr>
      <vt:lpstr>Modification of the Database – Updates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Antoine Melki</dc:creator>
  <cp:lastModifiedBy>Windows User</cp:lastModifiedBy>
  <cp:revision>174</cp:revision>
  <cp:lastPrinted>2005-01-10T21:51:57Z</cp:lastPrinted>
  <dcterms:created xsi:type="dcterms:W3CDTF">1999-11-04T20:50:09Z</dcterms:created>
  <dcterms:modified xsi:type="dcterms:W3CDTF">2022-12-21T18:49:18Z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0x01010046C46F0D1ED4574597DD8C76D5077450</vt:lpwstr>
  </property>
</Properties>
</file>